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  <p:embeddedFont>
      <p:font typeface="Inclusive San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26.jpeg" Type="http://schemas.openxmlformats.org/officeDocument/2006/relationships/image"/><Relationship Id="rId7" Target="../media/image27.jpeg" Type="http://schemas.openxmlformats.org/officeDocument/2006/relationships/image"/><Relationship Id="rId8" Target="../media/image2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jpeg" Type="http://schemas.openxmlformats.org/officeDocument/2006/relationships/image"/><Relationship Id="rId4" Target="../media/image33.jpeg" Type="http://schemas.openxmlformats.org/officeDocument/2006/relationships/image"/><Relationship Id="rId5" Target="../media/image34.jpeg" Type="http://schemas.openxmlformats.org/officeDocument/2006/relationships/image"/><Relationship Id="rId6" Target="../media/image35.jpeg" Type="http://schemas.openxmlformats.org/officeDocument/2006/relationships/image"/><Relationship Id="rId7" Target="../media/image3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jpeg" Type="http://schemas.openxmlformats.org/officeDocument/2006/relationships/image"/><Relationship Id="rId4" Target="../media/image3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41.jpeg" Type="http://schemas.openxmlformats.org/officeDocument/2006/relationships/image"/><Relationship Id="rId4" Target="../media/image42.jpeg" Type="http://schemas.openxmlformats.org/officeDocument/2006/relationships/image"/><Relationship Id="rId5" Target="../media/image4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image4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47.jpeg" Type="http://schemas.openxmlformats.org/officeDocument/2006/relationships/image"/><Relationship Id="rId4" Target="../media/image4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5920" y="7442678"/>
            <a:ext cx="19639839" cy="1521594"/>
            <a:chOff x="0" y="0"/>
            <a:chExt cx="4533391" cy="3512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3391" cy="351224"/>
            </a:xfrm>
            <a:custGeom>
              <a:avLst/>
              <a:gdLst/>
              <a:ahLst/>
              <a:cxnLst/>
              <a:rect r="r" b="b" t="t" l="l"/>
              <a:pathLst>
                <a:path h="351224" w="4533391">
                  <a:moveTo>
                    <a:pt x="7884" y="0"/>
                  </a:moveTo>
                  <a:lnTo>
                    <a:pt x="4525507" y="0"/>
                  </a:lnTo>
                  <a:cubicBezTo>
                    <a:pt x="4527598" y="0"/>
                    <a:pt x="4529603" y="831"/>
                    <a:pt x="4531082" y="2309"/>
                  </a:cubicBezTo>
                  <a:cubicBezTo>
                    <a:pt x="4532560" y="3788"/>
                    <a:pt x="4533391" y="5793"/>
                    <a:pt x="4533391" y="7884"/>
                  </a:cubicBezTo>
                  <a:lnTo>
                    <a:pt x="4533391" y="343340"/>
                  </a:lnTo>
                  <a:cubicBezTo>
                    <a:pt x="4533391" y="345431"/>
                    <a:pt x="4532560" y="347436"/>
                    <a:pt x="4531082" y="348915"/>
                  </a:cubicBezTo>
                  <a:cubicBezTo>
                    <a:pt x="4529603" y="350393"/>
                    <a:pt x="4527598" y="351224"/>
                    <a:pt x="4525507" y="351224"/>
                  </a:cubicBezTo>
                  <a:lnTo>
                    <a:pt x="7884" y="351224"/>
                  </a:lnTo>
                  <a:cubicBezTo>
                    <a:pt x="5793" y="351224"/>
                    <a:pt x="3788" y="350393"/>
                    <a:pt x="2309" y="348915"/>
                  </a:cubicBezTo>
                  <a:cubicBezTo>
                    <a:pt x="831" y="347436"/>
                    <a:pt x="0" y="345431"/>
                    <a:pt x="0" y="343340"/>
                  </a:cubicBezTo>
                  <a:lnTo>
                    <a:pt x="0" y="7884"/>
                  </a:lnTo>
                  <a:cubicBezTo>
                    <a:pt x="0" y="5793"/>
                    <a:pt x="831" y="3788"/>
                    <a:pt x="2309" y="2309"/>
                  </a:cubicBezTo>
                  <a:cubicBezTo>
                    <a:pt x="3788" y="831"/>
                    <a:pt x="5793" y="0"/>
                    <a:pt x="78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33391" cy="398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75920" y="3037802"/>
            <a:ext cx="19639839" cy="4646333"/>
            <a:chOff x="0" y="0"/>
            <a:chExt cx="4533391" cy="1072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33391" cy="1072496"/>
            </a:xfrm>
            <a:custGeom>
              <a:avLst/>
              <a:gdLst/>
              <a:ahLst/>
              <a:cxnLst/>
              <a:rect r="r" b="b" t="t" l="l"/>
              <a:pathLst>
                <a:path h="1072496" w="4533391">
                  <a:moveTo>
                    <a:pt x="7884" y="0"/>
                  </a:moveTo>
                  <a:lnTo>
                    <a:pt x="4525507" y="0"/>
                  </a:lnTo>
                  <a:cubicBezTo>
                    <a:pt x="4527598" y="0"/>
                    <a:pt x="4529603" y="831"/>
                    <a:pt x="4531082" y="2309"/>
                  </a:cubicBezTo>
                  <a:cubicBezTo>
                    <a:pt x="4532560" y="3788"/>
                    <a:pt x="4533391" y="5793"/>
                    <a:pt x="4533391" y="7884"/>
                  </a:cubicBezTo>
                  <a:lnTo>
                    <a:pt x="4533391" y="1064612"/>
                  </a:lnTo>
                  <a:cubicBezTo>
                    <a:pt x="4533391" y="1066703"/>
                    <a:pt x="4532560" y="1068708"/>
                    <a:pt x="4531082" y="1070186"/>
                  </a:cubicBezTo>
                  <a:cubicBezTo>
                    <a:pt x="4529603" y="1071665"/>
                    <a:pt x="4527598" y="1072496"/>
                    <a:pt x="4525507" y="1072496"/>
                  </a:cubicBezTo>
                  <a:lnTo>
                    <a:pt x="7884" y="1072496"/>
                  </a:lnTo>
                  <a:cubicBezTo>
                    <a:pt x="5793" y="1072496"/>
                    <a:pt x="3788" y="1071665"/>
                    <a:pt x="2309" y="1070186"/>
                  </a:cubicBezTo>
                  <a:cubicBezTo>
                    <a:pt x="831" y="1068708"/>
                    <a:pt x="0" y="1066703"/>
                    <a:pt x="0" y="1064612"/>
                  </a:cubicBezTo>
                  <a:lnTo>
                    <a:pt x="0" y="7884"/>
                  </a:lnTo>
                  <a:cubicBezTo>
                    <a:pt x="0" y="5793"/>
                    <a:pt x="831" y="3788"/>
                    <a:pt x="2309" y="2309"/>
                  </a:cubicBezTo>
                  <a:cubicBezTo>
                    <a:pt x="3788" y="831"/>
                    <a:pt x="5793" y="0"/>
                    <a:pt x="7884" y="0"/>
                  </a:cubicBezTo>
                  <a:close/>
                </a:path>
              </a:pathLst>
            </a:custGeom>
            <a:solidFill>
              <a:srgbClr val="38537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533391" cy="1120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512141" y="-147754"/>
            <a:ext cx="4775859" cy="4524041"/>
          </a:xfrm>
          <a:custGeom>
            <a:avLst/>
            <a:gdLst/>
            <a:ahLst/>
            <a:cxnLst/>
            <a:rect r="r" b="b" t="t" l="l"/>
            <a:pathLst>
              <a:path h="4524041" w="4775859">
                <a:moveTo>
                  <a:pt x="0" y="0"/>
                </a:moveTo>
                <a:lnTo>
                  <a:pt x="4775859" y="0"/>
                </a:lnTo>
                <a:lnTo>
                  <a:pt x="4775859" y="4524041"/>
                </a:lnTo>
                <a:lnTo>
                  <a:pt x="0" y="4524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12109" y="1325843"/>
            <a:ext cx="7750752" cy="173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40"/>
              </a:lnSpc>
            </a:pPr>
            <a:r>
              <a:rPr lang="en-US" b="true" sz="10100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Exercise -3.2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3917793"/>
            <a:ext cx="18288000" cy="352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40"/>
              </a:lnSpc>
            </a:pPr>
            <a:r>
              <a:rPr lang="en-US" b="true" sz="10100">
                <a:solidFill>
                  <a:srgbClr val="E37F5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Nature of roots and Nature of coefficients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802" y="8677245"/>
            <a:ext cx="1320992" cy="1776395"/>
          </a:xfrm>
          <a:custGeom>
            <a:avLst/>
            <a:gdLst/>
            <a:ahLst/>
            <a:cxnLst/>
            <a:rect r="r" b="b" t="t" l="l"/>
            <a:pathLst>
              <a:path h="1776395" w="1320992">
                <a:moveTo>
                  <a:pt x="0" y="0"/>
                </a:moveTo>
                <a:lnTo>
                  <a:pt x="1320992" y="0"/>
                </a:lnTo>
                <a:lnTo>
                  <a:pt x="1320992" y="1776395"/>
                </a:lnTo>
                <a:lnTo>
                  <a:pt x="0" y="1776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31213" y="4569135"/>
            <a:ext cx="6113755" cy="1116980"/>
          </a:xfrm>
          <a:custGeom>
            <a:avLst/>
            <a:gdLst/>
            <a:ahLst/>
            <a:cxnLst/>
            <a:rect r="r" b="b" t="t" l="l"/>
            <a:pathLst>
              <a:path h="1116980" w="6113755">
                <a:moveTo>
                  <a:pt x="0" y="0"/>
                </a:moveTo>
                <a:lnTo>
                  <a:pt x="6113755" y="0"/>
                </a:lnTo>
                <a:lnTo>
                  <a:pt x="6113755" y="1116980"/>
                </a:lnTo>
                <a:lnTo>
                  <a:pt x="0" y="11169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21" t="-29438" r="-482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31213" y="7011020"/>
            <a:ext cx="6108903" cy="1024415"/>
          </a:xfrm>
          <a:custGeom>
            <a:avLst/>
            <a:gdLst/>
            <a:ahLst/>
            <a:cxnLst/>
            <a:rect r="r" b="b" t="t" l="l"/>
            <a:pathLst>
              <a:path h="1024415" w="6108903">
                <a:moveTo>
                  <a:pt x="0" y="0"/>
                </a:moveTo>
                <a:lnTo>
                  <a:pt x="6108903" y="0"/>
                </a:lnTo>
                <a:lnTo>
                  <a:pt x="6108903" y="1024415"/>
                </a:lnTo>
                <a:lnTo>
                  <a:pt x="0" y="1024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145" r="0" b="-2584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89672"/>
            <a:ext cx="15950996" cy="335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1. If k is real, discuss the nature of the roots of the polynomial equation 2x + kx + k = 0, in terms of k</a:t>
            </a:r>
          </a:p>
          <a:p>
            <a:pPr algn="ctr">
              <a:lnSpc>
                <a:spcPts val="67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747195" y="-82550"/>
            <a:ext cx="4988069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Exercise -3.2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31042" y="1747520"/>
            <a:ext cx="304223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b="true" sz="4299">
                <a:solidFill>
                  <a:srgbClr val="FF75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663" y="2927667"/>
            <a:ext cx="274226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Solution:-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02452" y="5941045"/>
            <a:ext cx="446801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 discriminant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1995" y="3642035"/>
            <a:ext cx="532440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coefficients.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9014" y="3794760"/>
            <a:ext cx="174920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1: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2231" y="5941045"/>
            <a:ext cx="175469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2: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34240" y="7997795"/>
            <a:ext cx="461991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Substitute values.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2231" y="8091790"/>
            <a:ext cx="177136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3: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631213" y="9067459"/>
            <a:ext cx="6113755" cy="995967"/>
          </a:xfrm>
          <a:custGeom>
            <a:avLst/>
            <a:gdLst/>
            <a:ahLst/>
            <a:cxnLst/>
            <a:rect r="r" b="b" t="t" l="l"/>
            <a:pathLst>
              <a:path h="995967" w="6113755">
                <a:moveTo>
                  <a:pt x="0" y="0"/>
                </a:moveTo>
                <a:lnTo>
                  <a:pt x="6113755" y="0"/>
                </a:lnTo>
                <a:lnTo>
                  <a:pt x="6113755" y="995967"/>
                </a:lnTo>
                <a:lnTo>
                  <a:pt x="0" y="9959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4351" r="0" b="-3665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92484" y="7200743"/>
            <a:ext cx="2733631" cy="3175811"/>
          </a:xfrm>
          <a:custGeom>
            <a:avLst/>
            <a:gdLst/>
            <a:ahLst/>
            <a:cxnLst/>
            <a:rect r="r" b="b" t="t" l="l"/>
            <a:pathLst>
              <a:path h="3175811" w="2733631">
                <a:moveTo>
                  <a:pt x="0" y="0"/>
                </a:moveTo>
                <a:lnTo>
                  <a:pt x="2733632" y="0"/>
                </a:lnTo>
                <a:lnTo>
                  <a:pt x="2733632" y="3175811"/>
                </a:lnTo>
                <a:lnTo>
                  <a:pt x="0" y="3175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253" t="-12932" r="-48137" b="-25939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82738" y="3350492"/>
            <a:ext cx="7176343" cy="1212542"/>
          </a:xfrm>
          <a:custGeom>
            <a:avLst/>
            <a:gdLst/>
            <a:ahLst/>
            <a:cxnLst/>
            <a:rect r="r" b="b" t="t" l="l"/>
            <a:pathLst>
              <a:path h="1212542" w="7176343">
                <a:moveTo>
                  <a:pt x="0" y="0"/>
                </a:moveTo>
                <a:lnTo>
                  <a:pt x="7176343" y="0"/>
                </a:lnTo>
                <a:lnTo>
                  <a:pt x="7176343" y="1212543"/>
                </a:lnTo>
                <a:lnTo>
                  <a:pt x="0" y="1212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0289" r="0" b="-3671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82738" y="5036340"/>
            <a:ext cx="7159767" cy="1001306"/>
          </a:xfrm>
          <a:custGeom>
            <a:avLst/>
            <a:gdLst/>
            <a:ahLst/>
            <a:cxnLst/>
            <a:rect r="r" b="b" t="t" l="l"/>
            <a:pathLst>
              <a:path h="1001306" w="7159767">
                <a:moveTo>
                  <a:pt x="0" y="0"/>
                </a:moveTo>
                <a:lnTo>
                  <a:pt x="7159766" y="0"/>
                </a:lnTo>
                <a:lnTo>
                  <a:pt x="7159766" y="1001306"/>
                </a:lnTo>
                <a:lnTo>
                  <a:pt x="0" y="1001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9327" r="0" b="-4613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82738" y="6510952"/>
            <a:ext cx="7176343" cy="1076252"/>
          </a:xfrm>
          <a:custGeom>
            <a:avLst/>
            <a:gdLst/>
            <a:ahLst/>
            <a:cxnLst/>
            <a:rect r="r" b="b" t="t" l="l"/>
            <a:pathLst>
              <a:path h="1076252" w="7176343">
                <a:moveTo>
                  <a:pt x="0" y="0"/>
                </a:moveTo>
                <a:lnTo>
                  <a:pt x="7176343" y="0"/>
                </a:lnTo>
                <a:lnTo>
                  <a:pt x="7176343" y="1076252"/>
                </a:lnTo>
                <a:lnTo>
                  <a:pt x="0" y="10762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4171" r="0" b="-3417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54197" y="8724247"/>
            <a:ext cx="7104884" cy="1153409"/>
          </a:xfrm>
          <a:custGeom>
            <a:avLst/>
            <a:gdLst/>
            <a:ahLst/>
            <a:cxnLst/>
            <a:rect r="r" b="b" t="t" l="l"/>
            <a:pathLst>
              <a:path h="1153409" w="7104884">
                <a:moveTo>
                  <a:pt x="0" y="0"/>
                </a:moveTo>
                <a:lnTo>
                  <a:pt x="7104884" y="0"/>
                </a:lnTo>
                <a:lnTo>
                  <a:pt x="7104884" y="1153409"/>
                </a:lnTo>
                <a:lnTo>
                  <a:pt x="0" y="11534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34" t="-9893" r="-2634" b="-6842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3818" y="3578938"/>
            <a:ext cx="18075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 1: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38778" y="6671253"/>
            <a:ext cx="127887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91563" y="7777900"/>
            <a:ext cx="689595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Roots are real and distinct.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5184" y="9134995"/>
            <a:ext cx="182367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 2: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082738" y="1566902"/>
            <a:ext cx="7176343" cy="1183516"/>
          </a:xfrm>
          <a:custGeom>
            <a:avLst/>
            <a:gdLst/>
            <a:ahLst/>
            <a:cxnLst/>
            <a:rect r="r" b="b" t="t" l="l"/>
            <a:pathLst>
              <a:path h="1183516" w="7176343">
                <a:moveTo>
                  <a:pt x="0" y="0"/>
                </a:moveTo>
                <a:lnTo>
                  <a:pt x="7176343" y="0"/>
                </a:lnTo>
                <a:lnTo>
                  <a:pt x="7176343" y="1183515"/>
                </a:lnTo>
                <a:lnTo>
                  <a:pt x="0" y="11835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6703" r="0" b="-3141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915635" y="411202"/>
            <a:ext cx="234040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Factorize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6926" y="536376"/>
            <a:ext cx="178463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4: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7545" y="2760577"/>
            <a:ext cx="180491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6: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6715" y="8621280"/>
            <a:ext cx="171955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7: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24978" y="6633491"/>
            <a:ext cx="4209833" cy="3987860"/>
          </a:xfrm>
          <a:custGeom>
            <a:avLst/>
            <a:gdLst/>
            <a:ahLst/>
            <a:cxnLst/>
            <a:rect r="r" b="b" t="t" l="l"/>
            <a:pathLst>
              <a:path h="3987860" w="4209833">
                <a:moveTo>
                  <a:pt x="0" y="0"/>
                </a:moveTo>
                <a:lnTo>
                  <a:pt x="4209832" y="0"/>
                </a:lnTo>
                <a:lnTo>
                  <a:pt x="4209832" y="3987860"/>
                </a:lnTo>
                <a:lnTo>
                  <a:pt x="0" y="3987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18348" y="1149886"/>
            <a:ext cx="7467301" cy="1149190"/>
          </a:xfrm>
          <a:custGeom>
            <a:avLst/>
            <a:gdLst/>
            <a:ahLst/>
            <a:cxnLst/>
            <a:rect r="r" b="b" t="t" l="l"/>
            <a:pathLst>
              <a:path h="1149190" w="7467301">
                <a:moveTo>
                  <a:pt x="0" y="0"/>
                </a:moveTo>
                <a:lnTo>
                  <a:pt x="7467301" y="0"/>
                </a:lnTo>
                <a:lnTo>
                  <a:pt x="7467301" y="1149190"/>
                </a:lnTo>
                <a:lnTo>
                  <a:pt x="0" y="1149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3631" r="0" b="-2484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18348" y="6633491"/>
            <a:ext cx="7400940" cy="1314370"/>
          </a:xfrm>
          <a:custGeom>
            <a:avLst/>
            <a:gdLst/>
            <a:ahLst/>
            <a:cxnLst/>
            <a:rect r="r" b="b" t="t" l="l"/>
            <a:pathLst>
              <a:path h="1314370" w="7400940">
                <a:moveTo>
                  <a:pt x="0" y="0"/>
                </a:moveTo>
                <a:lnTo>
                  <a:pt x="7400940" y="0"/>
                </a:lnTo>
                <a:lnTo>
                  <a:pt x="7400940" y="1314370"/>
                </a:lnTo>
                <a:lnTo>
                  <a:pt x="0" y="1314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4546" r="0" b="-748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13729" y="4381920"/>
            <a:ext cx="7471920" cy="1259807"/>
          </a:xfrm>
          <a:custGeom>
            <a:avLst/>
            <a:gdLst/>
            <a:ahLst/>
            <a:cxnLst/>
            <a:rect r="r" b="b" t="t" l="l"/>
            <a:pathLst>
              <a:path h="1259807" w="7471920">
                <a:moveTo>
                  <a:pt x="0" y="0"/>
                </a:moveTo>
                <a:lnTo>
                  <a:pt x="7471920" y="0"/>
                </a:lnTo>
                <a:lnTo>
                  <a:pt x="7471920" y="1259807"/>
                </a:lnTo>
                <a:lnTo>
                  <a:pt x="0" y="1259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7904" r="0" b="-6751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23719" y="580073"/>
            <a:ext cx="1309110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86876" y="2597448"/>
            <a:ext cx="6517698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Roots are real and equal.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6746" y="3692945"/>
            <a:ext cx="188530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 3: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23719" y="6034051"/>
            <a:ext cx="1309110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57725" y="8700336"/>
            <a:ext cx="5366760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Roots are imaginary.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199" y="2943841"/>
            <a:ext cx="1826347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8: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53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60305" y="1902674"/>
            <a:ext cx="9209551" cy="2067450"/>
          </a:xfrm>
          <a:custGeom>
            <a:avLst/>
            <a:gdLst/>
            <a:ahLst/>
            <a:cxnLst/>
            <a:rect r="r" b="b" t="t" l="l"/>
            <a:pathLst>
              <a:path h="2067450" w="9209551">
                <a:moveTo>
                  <a:pt x="0" y="0"/>
                </a:moveTo>
                <a:lnTo>
                  <a:pt x="9209551" y="0"/>
                </a:lnTo>
                <a:lnTo>
                  <a:pt x="9209551" y="2067450"/>
                </a:lnTo>
                <a:lnTo>
                  <a:pt x="0" y="2067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60305" y="4610866"/>
            <a:ext cx="9209551" cy="1999442"/>
          </a:xfrm>
          <a:custGeom>
            <a:avLst/>
            <a:gdLst/>
            <a:ahLst/>
            <a:cxnLst/>
            <a:rect r="r" b="b" t="t" l="l"/>
            <a:pathLst>
              <a:path h="1999442" w="9209551">
                <a:moveTo>
                  <a:pt x="0" y="0"/>
                </a:moveTo>
                <a:lnTo>
                  <a:pt x="9209551" y="0"/>
                </a:lnTo>
                <a:lnTo>
                  <a:pt x="9209551" y="1999442"/>
                </a:lnTo>
                <a:lnTo>
                  <a:pt x="0" y="1999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60305" y="7634364"/>
            <a:ext cx="9209551" cy="1911416"/>
          </a:xfrm>
          <a:custGeom>
            <a:avLst/>
            <a:gdLst/>
            <a:ahLst/>
            <a:cxnLst/>
            <a:rect r="r" b="b" t="t" l="l"/>
            <a:pathLst>
              <a:path h="1911416" w="9209551">
                <a:moveTo>
                  <a:pt x="0" y="0"/>
                </a:moveTo>
                <a:lnTo>
                  <a:pt x="9209551" y="0"/>
                </a:lnTo>
                <a:lnTo>
                  <a:pt x="9209551" y="1911416"/>
                </a:lnTo>
                <a:lnTo>
                  <a:pt x="0" y="1911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59349" y="7193900"/>
            <a:ext cx="3221014" cy="82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9"/>
              </a:lnSpc>
            </a:pPr>
            <a:r>
              <a:rPr lang="en-US" sz="5084">
                <a:solidFill>
                  <a:srgbClr val="38537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Division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454046"/>
            <a:ext cx="236790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268664"/>
            <a:ext cx="1454092" cy="2276321"/>
            <a:chOff x="0" y="0"/>
            <a:chExt cx="406115" cy="635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115" cy="635757"/>
            </a:xfrm>
            <a:custGeom>
              <a:avLst/>
              <a:gdLst/>
              <a:ahLst/>
              <a:cxnLst/>
              <a:rect r="r" b="b" t="t" l="l"/>
              <a:pathLst>
                <a:path h="635757" w="406115">
                  <a:moveTo>
                    <a:pt x="106485" y="0"/>
                  </a:moveTo>
                  <a:lnTo>
                    <a:pt x="299631" y="0"/>
                  </a:lnTo>
                  <a:cubicBezTo>
                    <a:pt x="358441" y="0"/>
                    <a:pt x="406115" y="47675"/>
                    <a:pt x="406115" y="106485"/>
                  </a:cubicBezTo>
                  <a:lnTo>
                    <a:pt x="406115" y="529272"/>
                  </a:lnTo>
                  <a:cubicBezTo>
                    <a:pt x="406115" y="588082"/>
                    <a:pt x="358441" y="635757"/>
                    <a:pt x="299631" y="635757"/>
                  </a:cubicBezTo>
                  <a:lnTo>
                    <a:pt x="106485" y="635757"/>
                  </a:lnTo>
                  <a:cubicBezTo>
                    <a:pt x="47675" y="635757"/>
                    <a:pt x="0" y="588082"/>
                    <a:pt x="0" y="529272"/>
                  </a:cubicBezTo>
                  <a:lnTo>
                    <a:pt x="0" y="106485"/>
                  </a:lnTo>
                  <a:cubicBezTo>
                    <a:pt x="0" y="47675"/>
                    <a:pt x="47675" y="0"/>
                    <a:pt x="106485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6115" cy="683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4766267" y="7452471"/>
            <a:ext cx="3138859" cy="3611657"/>
          </a:xfrm>
          <a:custGeom>
            <a:avLst/>
            <a:gdLst/>
            <a:ahLst/>
            <a:cxnLst/>
            <a:rect r="r" b="b" t="t" l="l"/>
            <a:pathLst>
              <a:path h="3611657" w="3138859">
                <a:moveTo>
                  <a:pt x="3138858" y="0"/>
                </a:moveTo>
                <a:lnTo>
                  <a:pt x="0" y="0"/>
                </a:lnTo>
                <a:lnTo>
                  <a:pt x="0" y="3611658"/>
                </a:lnTo>
                <a:lnTo>
                  <a:pt x="3138858" y="3611658"/>
                </a:lnTo>
                <a:lnTo>
                  <a:pt x="313885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49558" y="4752693"/>
            <a:ext cx="8246221" cy="1135112"/>
          </a:xfrm>
          <a:custGeom>
            <a:avLst/>
            <a:gdLst/>
            <a:ahLst/>
            <a:cxnLst/>
            <a:rect r="r" b="b" t="t" l="l"/>
            <a:pathLst>
              <a:path h="1135112" w="8246221">
                <a:moveTo>
                  <a:pt x="0" y="0"/>
                </a:moveTo>
                <a:lnTo>
                  <a:pt x="8246222" y="0"/>
                </a:lnTo>
                <a:lnTo>
                  <a:pt x="8246222" y="1135112"/>
                </a:lnTo>
                <a:lnTo>
                  <a:pt x="0" y="113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414" r="0" b="-1877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01251" y="7011134"/>
            <a:ext cx="8294528" cy="1193199"/>
          </a:xfrm>
          <a:custGeom>
            <a:avLst/>
            <a:gdLst/>
            <a:ahLst/>
            <a:cxnLst/>
            <a:rect r="r" b="b" t="t" l="l"/>
            <a:pathLst>
              <a:path h="1193199" w="8294528">
                <a:moveTo>
                  <a:pt x="0" y="0"/>
                </a:moveTo>
                <a:lnTo>
                  <a:pt x="8294529" y="0"/>
                </a:lnTo>
                <a:lnTo>
                  <a:pt x="8294529" y="1193199"/>
                </a:lnTo>
                <a:lnTo>
                  <a:pt x="0" y="1193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8156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425392" y="342900"/>
            <a:ext cx="17684692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2.Find a polynomial of minimum degree with rational coefficients having  2 + √3i as a root.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8989" y="2183685"/>
            <a:ext cx="274226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Solution:-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32238" y="2976438"/>
            <a:ext cx="13309528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Since coefficients are rational, </a:t>
            </a: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2 - √3i also a root.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65578" y="3922499"/>
            <a:ext cx="732220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 the Polynomial: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0759" y="2883852"/>
            <a:ext cx="1787164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1: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992" y="3881314"/>
            <a:ext cx="179625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2: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53701" y="6157635"/>
            <a:ext cx="317406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identity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540" y="6157635"/>
            <a:ext cx="181328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3: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967546" y="8471580"/>
            <a:ext cx="8328233" cy="1360119"/>
          </a:xfrm>
          <a:custGeom>
            <a:avLst/>
            <a:gdLst/>
            <a:ahLst/>
            <a:cxnLst/>
            <a:rect r="r" b="b" t="t" l="l"/>
            <a:pathLst>
              <a:path h="1360119" w="8328233">
                <a:moveTo>
                  <a:pt x="0" y="0"/>
                </a:moveTo>
                <a:lnTo>
                  <a:pt x="8328234" y="0"/>
                </a:lnTo>
                <a:lnTo>
                  <a:pt x="8328234" y="1360120"/>
                </a:lnTo>
                <a:lnTo>
                  <a:pt x="0" y="1360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2952" r="0" b="-2869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1174" y="3442526"/>
            <a:ext cx="856696" cy="3965641"/>
            <a:chOff x="0" y="0"/>
            <a:chExt cx="309324" cy="14318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324" cy="1431861"/>
            </a:xfrm>
            <a:custGeom>
              <a:avLst/>
              <a:gdLst/>
              <a:ahLst/>
              <a:cxnLst/>
              <a:rect r="r" b="b" t="t" l="l"/>
              <a:pathLst>
                <a:path h="1431861" w="309324">
                  <a:moveTo>
                    <a:pt x="154662" y="0"/>
                  </a:moveTo>
                  <a:lnTo>
                    <a:pt x="154662" y="0"/>
                  </a:lnTo>
                  <a:cubicBezTo>
                    <a:pt x="240080" y="0"/>
                    <a:pt x="309324" y="69245"/>
                    <a:pt x="309324" y="154662"/>
                  </a:cubicBezTo>
                  <a:lnTo>
                    <a:pt x="309324" y="1277199"/>
                  </a:lnTo>
                  <a:cubicBezTo>
                    <a:pt x="309324" y="1362617"/>
                    <a:pt x="240080" y="1431861"/>
                    <a:pt x="154662" y="1431861"/>
                  </a:cubicBezTo>
                  <a:lnTo>
                    <a:pt x="154662" y="1431861"/>
                  </a:lnTo>
                  <a:cubicBezTo>
                    <a:pt x="69245" y="1431861"/>
                    <a:pt x="0" y="1362617"/>
                    <a:pt x="0" y="1277199"/>
                  </a:cubicBezTo>
                  <a:lnTo>
                    <a:pt x="0" y="154662"/>
                  </a:lnTo>
                  <a:cubicBezTo>
                    <a:pt x="0" y="69245"/>
                    <a:pt x="69245" y="0"/>
                    <a:pt x="1546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9324" cy="1479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412092" y="2484214"/>
            <a:ext cx="1847208" cy="958311"/>
            <a:chOff x="0" y="0"/>
            <a:chExt cx="515909" cy="267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5909" cy="267648"/>
            </a:xfrm>
            <a:custGeom>
              <a:avLst/>
              <a:gdLst/>
              <a:ahLst/>
              <a:cxnLst/>
              <a:rect r="r" b="b" t="t" l="l"/>
              <a:pathLst>
                <a:path h="267648" w="515909">
                  <a:moveTo>
                    <a:pt x="83823" y="0"/>
                  </a:moveTo>
                  <a:lnTo>
                    <a:pt x="432086" y="0"/>
                  </a:lnTo>
                  <a:cubicBezTo>
                    <a:pt x="454318" y="0"/>
                    <a:pt x="475638" y="8831"/>
                    <a:pt x="491358" y="24551"/>
                  </a:cubicBezTo>
                  <a:cubicBezTo>
                    <a:pt x="507078" y="40271"/>
                    <a:pt x="515909" y="61592"/>
                    <a:pt x="515909" y="83823"/>
                  </a:cubicBezTo>
                  <a:lnTo>
                    <a:pt x="515909" y="183825"/>
                  </a:lnTo>
                  <a:cubicBezTo>
                    <a:pt x="515909" y="206056"/>
                    <a:pt x="507078" y="227377"/>
                    <a:pt x="491358" y="243097"/>
                  </a:cubicBezTo>
                  <a:cubicBezTo>
                    <a:pt x="475638" y="258817"/>
                    <a:pt x="454318" y="267648"/>
                    <a:pt x="432086" y="267648"/>
                  </a:cubicBezTo>
                  <a:lnTo>
                    <a:pt x="83823" y="267648"/>
                  </a:lnTo>
                  <a:cubicBezTo>
                    <a:pt x="61592" y="267648"/>
                    <a:pt x="40271" y="258817"/>
                    <a:pt x="24551" y="243097"/>
                  </a:cubicBezTo>
                  <a:cubicBezTo>
                    <a:pt x="8831" y="227377"/>
                    <a:pt x="0" y="206056"/>
                    <a:pt x="0" y="183825"/>
                  </a:cubicBezTo>
                  <a:lnTo>
                    <a:pt x="0" y="83823"/>
                  </a:lnTo>
                  <a:cubicBezTo>
                    <a:pt x="0" y="61592"/>
                    <a:pt x="8831" y="40271"/>
                    <a:pt x="24551" y="24551"/>
                  </a:cubicBezTo>
                  <a:cubicBezTo>
                    <a:pt x="40271" y="8831"/>
                    <a:pt x="61592" y="0"/>
                    <a:pt x="83823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15909" cy="3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7558664">
            <a:off x="255732" y="9349270"/>
            <a:ext cx="739580" cy="675483"/>
          </a:xfrm>
          <a:custGeom>
            <a:avLst/>
            <a:gdLst/>
            <a:ahLst/>
            <a:cxnLst/>
            <a:rect r="r" b="b" t="t" l="l"/>
            <a:pathLst>
              <a:path h="675483" w="739580">
                <a:moveTo>
                  <a:pt x="0" y="0"/>
                </a:moveTo>
                <a:lnTo>
                  <a:pt x="739580" y="0"/>
                </a:lnTo>
                <a:lnTo>
                  <a:pt x="739580" y="675484"/>
                </a:lnTo>
                <a:lnTo>
                  <a:pt x="0" y="675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11489" y="4671941"/>
            <a:ext cx="7873716" cy="1028390"/>
          </a:xfrm>
          <a:custGeom>
            <a:avLst/>
            <a:gdLst/>
            <a:ahLst/>
            <a:cxnLst/>
            <a:rect r="r" b="b" t="t" l="l"/>
            <a:pathLst>
              <a:path h="1028390" w="7873716">
                <a:moveTo>
                  <a:pt x="0" y="0"/>
                </a:moveTo>
                <a:lnTo>
                  <a:pt x="7873716" y="0"/>
                </a:lnTo>
                <a:lnTo>
                  <a:pt x="7873716" y="1028391"/>
                </a:lnTo>
                <a:lnTo>
                  <a:pt x="0" y="1028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9514" r="0" b="-3764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11489" y="6514021"/>
            <a:ext cx="7873716" cy="1132015"/>
          </a:xfrm>
          <a:custGeom>
            <a:avLst/>
            <a:gdLst/>
            <a:ahLst/>
            <a:cxnLst/>
            <a:rect r="r" b="b" t="t" l="l"/>
            <a:pathLst>
              <a:path h="1132015" w="7873716">
                <a:moveTo>
                  <a:pt x="0" y="0"/>
                </a:moveTo>
                <a:lnTo>
                  <a:pt x="7873716" y="0"/>
                </a:lnTo>
                <a:lnTo>
                  <a:pt x="7873716" y="1132014"/>
                </a:lnTo>
                <a:lnTo>
                  <a:pt x="0" y="1132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947" r="0" b="-2898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11489" y="8697095"/>
            <a:ext cx="7873716" cy="1406468"/>
          </a:xfrm>
          <a:custGeom>
            <a:avLst/>
            <a:gdLst/>
            <a:ahLst/>
            <a:cxnLst/>
            <a:rect r="r" b="b" t="t" l="l"/>
            <a:pathLst>
              <a:path h="1406468" w="7873716">
                <a:moveTo>
                  <a:pt x="0" y="0"/>
                </a:moveTo>
                <a:lnTo>
                  <a:pt x="7873716" y="0"/>
                </a:lnTo>
                <a:lnTo>
                  <a:pt x="7873716" y="1406468"/>
                </a:lnTo>
                <a:lnTo>
                  <a:pt x="0" y="1406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5690" r="0" b="-2779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11489" y="425450"/>
            <a:ext cx="7873716" cy="1161554"/>
          </a:xfrm>
          <a:custGeom>
            <a:avLst/>
            <a:gdLst/>
            <a:ahLst/>
            <a:cxnLst/>
            <a:rect r="r" b="b" t="t" l="l"/>
            <a:pathLst>
              <a:path h="1161554" w="7873716">
                <a:moveTo>
                  <a:pt x="0" y="0"/>
                </a:moveTo>
                <a:lnTo>
                  <a:pt x="7873716" y="0"/>
                </a:lnTo>
                <a:lnTo>
                  <a:pt x="7873716" y="1161554"/>
                </a:lnTo>
                <a:lnTo>
                  <a:pt x="0" y="11615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6099" r="0" b="-4899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11489" y="2086497"/>
            <a:ext cx="7873716" cy="1146505"/>
          </a:xfrm>
          <a:custGeom>
            <a:avLst/>
            <a:gdLst/>
            <a:ahLst/>
            <a:cxnLst/>
            <a:rect r="r" b="b" t="t" l="l"/>
            <a:pathLst>
              <a:path h="1146505" w="7873716">
                <a:moveTo>
                  <a:pt x="0" y="0"/>
                </a:moveTo>
                <a:lnTo>
                  <a:pt x="7873716" y="0"/>
                </a:lnTo>
                <a:lnTo>
                  <a:pt x="7873716" y="1146506"/>
                </a:lnTo>
                <a:lnTo>
                  <a:pt x="0" y="11465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9474" r="0" b="-4329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22391" y="7911600"/>
            <a:ext cx="228015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Answer-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1806" y="339725"/>
            <a:ext cx="182685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4: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9274" y="3560437"/>
            <a:ext cx="181913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5: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10062" y="3560437"/>
            <a:ext cx="1948223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79709"/>
            <a:ext cx="2803200" cy="908118"/>
            <a:chOff x="0" y="0"/>
            <a:chExt cx="1012143" cy="327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2142" cy="327891"/>
            </a:xfrm>
            <a:custGeom>
              <a:avLst/>
              <a:gdLst/>
              <a:ahLst/>
              <a:cxnLst/>
              <a:rect r="r" b="b" t="t" l="l"/>
              <a:pathLst>
                <a:path h="327891" w="1012142">
                  <a:moveTo>
                    <a:pt x="55236" y="0"/>
                  </a:moveTo>
                  <a:lnTo>
                    <a:pt x="956906" y="0"/>
                  </a:lnTo>
                  <a:cubicBezTo>
                    <a:pt x="987412" y="0"/>
                    <a:pt x="1012142" y="24730"/>
                    <a:pt x="1012142" y="55236"/>
                  </a:cubicBezTo>
                  <a:lnTo>
                    <a:pt x="1012142" y="272655"/>
                  </a:lnTo>
                  <a:cubicBezTo>
                    <a:pt x="1012142" y="303161"/>
                    <a:pt x="987412" y="327891"/>
                    <a:pt x="956906" y="327891"/>
                  </a:cubicBezTo>
                  <a:lnTo>
                    <a:pt x="55236" y="327891"/>
                  </a:lnTo>
                  <a:cubicBezTo>
                    <a:pt x="24730" y="327891"/>
                    <a:pt x="0" y="303161"/>
                    <a:pt x="0" y="272655"/>
                  </a:cubicBezTo>
                  <a:lnTo>
                    <a:pt x="0" y="55236"/>
                  </a:lnTo>
                  <a:cubicBezTo>
                    <a:pt x="0" y="24730"/>
                    <a:pt x="24730" y="0"/>
                    <a:pt x="552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012143" cy="37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963435" y="70389"/>
            <a:ext cx="324565" cy="1892957"/>
            <a:chOff x="0" y="0"/>
            <a:chExt cx="90648" cy="528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648" cy="528686"/>
            </a:xfrm>
            <a:custGeom>
              <a:avLst/>
              <a:gdLst/>
              <a:ahLst/>
              <a:cxnLst/>
              <a:rect r="r" b="b" t="t" l="l"/>
              <a:pathLst>
                <a:path h="528686" w="90648">
                  <a:moveTo>
                    <a:pt x="45324" y="0"/>
                  </a:moveTo>
                  <a:lnTo>
                    <a:pt x="45324" y="0"/>
                  </a:lnTo>
                  <a:cubicBezTo>
                    <a:pt x="57345" y="0"/>
                    <a:pt x="68873" y="4775"/>
                    <a:pt x="77373" y="13275"/>
                  </a:cubicBezTo>
                  <a:cubicBezTo>
                    <a:pt x="85873" y="21775"/>
                    <a:pt x="90648" y="33303"/>
                    <a:pt x="90648" y="45324"/>
                  </a:cubicBezTo>
                  <a:lnTo>
                    <a:pt x="90648" y="483362"/>
                  </a:lnTo>
                  <a:cubicBezTo>
                    <a:pt x="90648" y="508394"/>
                    <a:pt x="70356" y="528686"/>
                    <a:pt x="45324" y="528686"/>
                  </a:cubicBezTo>
                  <a:lnTo>
                    <a:pt x="45324" y="528686"/>
                  </a:lnTo>
                  <a:cubicBezTo>
                    <a:pt x="20292" y="528686"/>
                    <a:pt x="0" y="508394"/>
                    <a:pt x="0" y="483362"/>
                  </a:cubicBezTo>
                  <a:lnTo>
                    <a:pt x="0" y="45324"/>
                  </a:lnTo>
                  <a:cubicBezTo>
                    <a:pt x="0" y="20292"/>
                    <a:pt x="20292" y="0"/>
                    <a:pt x="45324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0648" cy="576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07030" y="7181660"/>
            <a:ext cx="318687" cy="2076640"/>
            <a:chOff x="0" y="0"/>
            <a:chExt cx="130579" cy="850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579" cy="850880"/>
            </a:xfrm>
            <a:custGeom>
              <a:avLst/>
              <a:gdLst/>
              <a:ahLst/>
              <a:cxnLst/>
              <a:rect r="r" b="b" t="t" l="l"/>
              <a:pathLst>
                <a:path h="850880" w="130579">
                  <a:moveTo>
                    <a:pt x="65289" y="0"/>
                  </a:moveTo>
                  <a:lnTo>
                    <a:pt x="65289" y="0"/>
                  </a:lnTo>
                  <a:cubicBezTo>
                    <a:pt x="101348" y="0"/>
                    <a:pt x="130579" y="29231"/>
                    <a:pt x="130579" y="65289"/>
                  </a:cubicBezTo>
                  <a:lnTo>
                    <a:pt x="130579" y="785591"/>
                  </a:lnTo>
                  <a:cubicBezTo>
                    <a:pt x="130579" y="821649"/>
                    <a:pt x="101348" y="850880"/>
                    <a:pt x="65289" y="850880"/>
                  </a:cubicBezTo>
                  <a:lnTo>
                    <a:pt x="65289" y="850880"/>
                  </a:lnTo>
                  <a:cubicBezTo>
                    <a:pt x="29231" y="850880"/>
                    <a:pt x="0" y="821649"/>
                    <a:pt x="0" y="785591"/>
                  </a:cubicBezTo>
                  <a:lnTo>
                    <a:pt x="0" y="65289"/>
                  </a:lnTo>
                  <a:cubicBezTo>
                    <a:pt x="0" y="29231"/>
                    <a:pt x="29231" y="0"/>
                    <a:pt x="65289" y="0"/>
                  </a:cubicBezTo>
                  <a:close/>
                </a:path>
              </a:pathLst>
            </a:custGeom>
            <a:solidFill>
              <a:srgbClr val="38537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0579" cy="898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435439" y="5569981"/>
            <a:ext cx="7557783" cy="1339025"/>
          </a:xfrm>
          <a:custGeom>
            <a:avLst/>
            <a:gdLst/>
            <a:ahLst/>
            <a:cxnLst/>
            <a:rect r="r" b="b" t="t" l="l"/>
            <a:pathLst>
              <a:path h="1339025" w="7557783">
                <a:moveTo>
                  <a:pt x="0" y="0"/>
                </a:moveTo>
                <a:lnTo>
                  <a:pt x="7557783" y="0"/>
                </a:lnTo>
                <a:lnTo>
                  <a:pt x="7557783" y="1339025"/>
                </a:lnTo>
                <a:lnTo>
                  <a:pt x="0" y="1339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20" t="-20128" r="-482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35439" y="8627905"/>
            <a:ext cx="7557783" cy="1260789"/>
          </a:xfrm>
          <a:custGeom>
            <a:avLst/>
            <a:gdLst/>
            <a:ahLst/>
            <a:cxnLst/>
            <a:rect r="r" b="b" t="t" l="l"/>
            <a:pathLst>
              <a:path h="1260789" w="7557783">
                <a:moveTo>
                  <a:pt x="0" y="0"/>
                </a:moveTo>
                <a:lnTo>
                  <a:pt x="7557783" y="0"/>
                </a:lnTo>
                <a:lnTo>
                  <a:pt x="7557783" y="1260790"/>
                </a:lnTo>
                <a:lnTo>
                  <a:pt x="0" y="1260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928" r="0" b="-3228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552354"/>
            <a:ext cx="18288000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Find a polynomial of minimum degree with rational coefficients having 3+2i as a root.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938" y="2408801"/>
            <a:ext cx="274226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Solution:-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35231" y="3330892"/>
            <a:ext cx="4085143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Conjugate root: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90354" y="3330892"/>
            <a:ext cx="1236879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3 - 2i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56225" y="4544060"/>
            <a:ext cx="544245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 the Polynomial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8487" y="3330892"/>
            <a:ext cx="1787164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1: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4356" y="4544060"/>
            <a:ext cx="179625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2: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42844" y="7381106"/>
            <a:ext cx="3868593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Apply identity.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3779" y="7397560"/>
            <a:ext cx="181328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3: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0829" y="403517"/>
            <a:ext cx="457171" cy="1826256"/>
            <a:chOff x="0" y="0"/>
            <a:chExt cx="127684" cy="5100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684" cy="510057"/>
            </a:xfrm>
            <a:custGeom>
              <a:avLst/>
              <a:gdLst/>
              <a:ahLst/>
              <a:cxnLst/>
              <a:rect r="r" b="b" t="t" l="l"/>
              <a:pathLst>
                <a:path h="510057" w="127684">
                  <a:moveTo>
                    <a:pt x="63842" y="0"/>
                  </a:moveTo>
                  <a:lnTo>
                    <a:pt x="63842" y="0"/>
                  </a:lnTo>
                  <a:cubicBezTo>
                    <a:pt x="80774" y="0"/>
                    <a:pt x="97012" y="6726"/>
                    <a:pt x="108985" y="18699"/>
                  </a:cubicBezTo>
                  <a:cubicBezTo>
                    <a:pt x="120958" y="30672"/>
                    <a:pt x="127684" y="46910"/>
                    <a:pt x="127684" y="63842"/>
                  </a:cubicBezTo>
                  <a:lnTo>
                    <a:pt x="127684" y="446216"/>
                  </a:lnTo>
                  <a:cubicBezTo>
                    <a:pt x="127684" y="463148"/>
                    <a:pt x="120958" y="479386"/>
                    <a:pt x="108985" y="491359"/>
                  </a:cubicBezTo>
                  <a:cubicBezTo>
                    <a:pt x="97012" y="503331"/>
                    <a:pt x="80774" y="510057"/>
                    <a:pt x="63842" y="510057"/>
                  </a:cubicBezTo>
                  <a:lnTo>
                    <a:pt x="63842" y="510057"/>
                  </a:lnTo>
                  <a:cubicBezTo>
                    <a:pt x="46910" y="510057"/>
                    <a:pt x="30672" y="503331"/>
                    <a:pt x="18699" y="491359"/>
                  </a:cubicBezTo>
                  <a:cubicBezTo>
                    <a:pt x="6726" y="479386"/>
                    <a:pt x="0" y="463148"/>
                    <a:pt x="0" y="446216"/>
                  </a:cubicBezTo>
                  <a:lnTo>
                    <a:pt x="0" y="63842"/>
                  </a:lnTo>
                  <a:cubicBezTo>
                    <a:pt x="0" y="46910"/>
                    <a:pt x="6726" y="30672"/>
                    <a:pt x="18699" y="18699"/>
                  </a:cubicBezTo>
                  <a:cubicBezTo>
                    <a:pt x="30672" y="6726"/>
                    <a:pt x="46910" y="0"/>
                    <a:pt x="63842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7684" cy="55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51797" y="9677443"/>
            <a:ext cx="2432878" cy="609557"/>
            <a:chOff x="0" y="0"/>
            <a:chExt cx="996845" cy="2497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6844" cy="249759"/>
            </a:xfrm>
            <a:custGeom>
              <a:avLst/>
              <a:gdLst/>
              <a:ahLst/>
              <a:cxnLst/>
              <a:rect r="r" b="b" t="t" l="l"/>
              <a:pathLst>
                <a:path h="249759" w="996844">
                  <a:moveTo>
                    <a:pt x="63644" y="0"/>
                  </a:moveTo>
                  <a:lnTo>
                    <a:pt x="933200" y="0"/>
                  </a:lnTo>
                  <a:cubicBezTo>
                    <a:pt x="950080" y="0"/>
                    <a:pt x="966268" y="6705"/>
                    <a:pt x="978204" y="18641"/>
                  </a:cubicBezTo>
                  <a:cubicBezTo>
                    <a:pt x="990139" y="30577"/>
                    <a:pt x="996844" y="46765"/>
                    <a:pt x="996844" y="63644"/>
                  </a:cubicBezTo>
                  <a:lnTo>
                    <a:pt x="996844" y="186115"/>
                  </a:lnTo>
                  <a:cubicBezTo>
                    <a:pt x="996844" y="202995"/>
                    <a:pt x="990139" y="219183"/>
                    <a:pt x="978204" y="231118"/>
                  </a:cubicBezTo>
                  <a:cubicBezTo>
                    <a:pt x="966268" y="243054"/>
                    <a:pt x="950080" y="249759"/>
                    <a:pt x="933200" y="249759"/>
                  </a:cubicBezTo>
                  <a:lnTo>
                    <a:pt x="63644" y="249759"/>
                  </a:lnTo>
                  <a:cubicBezTo>
                    <a:pt x="28494" y="249759"/>
                    <a:pt x="0" y="221265"/>
                    <a:pt x="0" y="186115"/>
                  </a:cubicBezTo>
                  <a:lnTo>
                    <a:pt x="0" y="63644"/>
                  </a:lnTo>
                  <a:cubicBezTo>
                    <a:pt x="0" y="46765"/>
                    <a:pt x="6705" y="30577"/>
                    <a:pt x="18641" y="18641"/>
                  </a:cubicBezTo>
                  <a:cubicBezTo>
                    <a:pt x="30577" y="6705"/>
                    <a:pt x="46765" y="0"/>
                    <a:pt x="63644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96845" cy="297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4859030" y="6535518"/>
            <a:ext cx="2738562" cy="3446703"/>
          </a:xfrm>
          <a:custGeom>
            <a:avLst/>
            <a:gdLst/>
            <a:ahLst/>
            <a:cxnLst/>
            <a:rect r="r" b="b" t="t" l="l"/>
            <a:pathLst>
              <a:path h="3446703" w="2738562">
                <a:moveTo>
                  <a:pt x="2738563" y="0"/>
                </a:moveTo>
                <a:lnTo>
                  <a:pt x="0" y="0"/>
                </a:lnTo>
                <a:lnTo>
                  <a:pt x="0" y="3446703"/>
                </a:lnTo>
                <a:lnTo>
                  <a:pt x="2738563" y="3446703"/>
                </a:lnTo>
                <a:lnTo>
                  <a:pt x="273856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39714" y="4515640"/>
            <a:ext cx="6842374" cy="1385341"/>
          </a:xfrm>
          <a:custGeom>
            <a:avLst/>
            <a:gdLst/>
            <a:ahLst/>
            <a:cxnLst/>
            <a:rect r="r" b="b" t="t" l="l"/>
            <a:pathLst>
              <a:path h="1385341" w="6842374">
                <a:moveTo>
                  <a:pt x="0" y="0"/>
                </a:moveTo>
                <a:lnTo>
                  <a:pt x="6842374" y="0"/>
                </a:lnTo>
                <a:lnTo>
                  <a:pt x="6842374" y="1385340"/>
                </a:lnTo>
                <a:lnTo>
                  <a:pt x="0" y="1385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549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39714" y="6535518"/>
            <a:ext cx="6860446" cy="1445518"/>
          </a:xfrm>
          <a:custGeom>
            <a:avLst/>
            <a:gdLst/>
            <a:ahLst/>
            <a:cxnLst/>
            <a:rect r="r" b="b" t="t" l="l"/>
            <a:pathLst>
              <a:path h="1445518" w="6860446">
                <a:moveTo>
                  <a:pt x="0" y="0"/>
                </a:moveTo>
                <a:lnTo>
                  <a:pt x="6860447" y="0"/>
                </a:lnTo>
                <a:lnTo>
                  <a:pt x="6860447" y="1445519"/>
                </a:lnTo>
                <a:lnTo>
                  <a:pt x="0" y="1445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861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57787" y="8567773"/>
            <a:ext cx="6824301" cy="1381053"/>
          </a:xfrm>
          <a:custGeom>
            <a:avLst/>
            <a:gdLst/>
            <a:ahLst/>
            <a:cxnLst/>
            <a:rect r="r" b="b" t="t" l="l"/>
            <a:pathLst>
              <a:path h="1381053" w="6824301">
                <a:moveTo>
                  <a:pt x="0" y="0"/>
                </a:moveTo>
                <a:lnTo>
                  <a:pt x="6824301" y="0"/>
                </a:lnTo>
                <a:lnTo>
                  <a:pt x="6824301" y="1381054"/>
                </a:lnTo>
                <a:lnTo>
                  <a:pt x="0" y="1381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297" r="0" b="-1646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975860" y="213519"/>
            <a:ext cx="6842374" cy="1103126"/>
          </a:xfrm>
          <a:custGeom>
            <a:avLst/>
            <a:gdLst/>
            <a:ahLst/>
            <a:cxnLst/>
            <a:rect r="r" b="b" t="t" l="l"/>
            <a:pathLst>
              <a:path h="1103126" w="6842374">
                <a:moveTo>
                  <a:pt x="0" y="0"/>
                </a:moveTo>
                <a:lnTo>
                  <a:pt x="6842374" y="0"/>
                </a:lnTo>
                <a:lnTo>
                  <a:pt x="6842374" y="1103126"/>
                </a:lnTo>
                <a:lnTo>
                  <a:pt x="0" y="1103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9500" r="0" b="-1544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75860" y="1898557"/>
            <a:ext cx="6860446" cy="1282833"/>
          </a:xfrm>
          <a:custGeom>
            <a:avLst/>
            <a:gdLst/>
            <a:ahLst/>
            <a:cxnLst/>
            <a:rect r="r" b="b" t="t" l="l"/>
            <a:pathLst>
              <a:path h="1282833" w="6860446">
                <a:moveTo>
                  <a:pt x="0" y="0"/>
                </a:moveTo>
                <a:lnTo>
                  <a:pt x="6860447" y="0"/>
                </a:lnTo>
                <a:lnTo>
                  <a:pt x="6860447" y="1282832"/>
                </a:lnTo>
                <a:lnTo>
                  <a:pt x="0" y="1282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851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98166" y="8579375"/>
            <a:ext cx="2381539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Answer-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4740" y="339725"/>
            <a:ext cx="182685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4: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8065" y="3539255"/>
            <a:ext cx="181913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5: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51104" y="3584023"/>
            <a:ext cx="2082078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27090" y="2059849"/>
            <a:ext cx="560910" cy="2357560"/>
            <a:chOff x="0" y="0"/>
            <a:chExt cx="156657" cy="658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657" cy="658446"/>
            </a:xfrm>
            <a:custGeom>
              <a:avLst/>
              <a:gdLst/>
              <a:ahLst/>
              <a:cxnLst/>
              <a:rect r="r" b="b" t="t" l="l"/>
              <a:pathLst>
                <a:path h="658446" w="156657">
                  <a:moveTo>
                    <a:pt x="78329" y="0"/>
                  </a:moveTo>
                  <a:lnTo>
                    <a:pt x="78329" y="0"/>
                  </a:lnTo>
                  <a:cubicBezTo>
                    <a:pt x="121588" y="0"/>
                    <a:pt x="156657" y="35069"/>
                    <a:pt x="156657" y="78329"/>
                  </a:cubicBezTo>
                  <a:lnTo>
                    <a:pt x="156657" y="580117"/>
                  </a:lnTo>
                  <a:cubicBezTo>
                    <a:pt x="156657" y="600891"/>
                    <a:pt x="148405" y="620815"/>
                    <a:pt x="133715" y="635504"/>
                  </a:cubicBezTo>
                  <a:cubicBezTo>
                    <a:pt x="119026" y="650194"/>
                    <a:pt x="99103" y="658446"/>
                    <a:pt x="78329" y="658446"/>
                  </a:cubicBezTo>
                  <a:lnTo>
                    <a:pt x="78329" y="658446"/>
                  </a:lnTo>
                  <a:cubicBezTo>
                    <a:pt x="57555" y="658446"/>
                    <a:pt x="37631" y="650194"/>
                    <a:pt x="22942" y="635504"/>
                  </a:cubicBezTo>
                  <a:cubicBezTo>
                    <a:pt x="8252" y="620815"/>
                    <a:pt x="0" y="600891"/>
                    <a:pt x="0" y="580117"/>
                  </a:cubicBezTo>
                  <a:lnTo>
                    <a:pt x="0" y="78329"/>
                  </a:lnTo>
                  <a:cubicBezTo>
                    <a:pt x="0" y="57555"/>
                    <a:pt x="8252" y="37631"/>
                    <a:pt x="22942" y="22942"/>
                  </a:cubicBezTo>
                  <a:cubicBezTo>
                    <a:pt x="37631" y="8252"/>
                    <a:pt x="57555" y="0"/>
                    <a:pt x="78329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6657" cy="70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14613" y="3865228"/>
            <a:ext cx="6310158" cy="1047012"/>
          </a:xfrm>
          <a:custGeom>
            <a:avLst/>
            <a:gdLst/>
            <a:ahLst/>
            <a:cxnLst/>
            <a:rect r="r" b="b" t="t" l="l"/>
            <a:pathLst>
              <a:path h="1047012" w="6310158">
                <a:moveTo>
                  <a:pt x="0" y="0"/>
                </a:moveTo>
                <a:lnTo>
                  <a:pt x="6310158" y="0"/>
                </a:lnTo>
                <a:lnTo>
                  <a:pt x="6310158" y="1047012"/>
                </a:lnTo>
                <a:lnTo>
                  <a:pt x="0" y="104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727" r="0" b="-2427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14613" y="6489753"/>
            <a:ext cx="6310158" cy="1031296"/>
          </a:xfrm>
          <a:custGeom>
            <a:avLst/>
            <a:gdLst/>
            <a:ahLst/>
            <a:cxnLst/>
            <a:rect r="r" b="b" t="t" l="l"/>
            <a:pathLst>
              <a:path h="1031296" w="6310158">
                <a:moveTo>
                  <a:pt x="0" y="0"/>
                </a:moveTo>
                <a:lnTo>
                  <a:pt x="6310158" y="0"/>
                </a:lnTo>
                <a:lnTo>
                  <a:pt x="6310158" y="1031295"/>
                </a:lnTo>
                <a:lnTo>
                  <a:pt x="0" y="1031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0219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14613" y="8883465"/>
            <a:ext cx="6310158" cy="994662"/>
          </a:xfrm>
          <a:custGeom>
            <a:avLst/>
            <a:gdLst/>
            <a:ahLst/>
            <a:cxnLst/>
            <a:rect r="r" b="b" t="t" l="l"/>
            <a:pathLst>
              <a:path h="994662" w="6310158">
                <a:moveTo>
                  <a:pt x="0" y="0"/>
                </a:moveTo>
                <a:lnTo>
                  <a:pt x="6310158" y="0"/>
                </a:lnTo>
                <a:lnTo>
                  <a:pt x="6310158" y="994662"/>
                </a:lnTo>
                <a:lnTo>
                  <a:pt x="0" y="994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381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280455" y="221104"/>
            <a:ext cx="18288000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	Find a polynomial equation of minimum degree with rational coefficients, having √5-√3  as </a:t>
            </a:r>
            <a:r>
              <a:rPr lang="en-US" sz="4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root.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122" y="3162429"/>
            <a:ext cx="287705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 :-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26948" y="4057779"/>
            <a:ext cx="846570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3359" y="4057779"/>
            <a:ext cx="1787164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1: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3034" y="5363589"/>
            <a:ext cx="179625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2: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8139" y="7901283"/>
            <a:ext cx="181328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3: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74120" y="5358414"/>
            <a:ext cx="488098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Square both sides.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37567" y="7946050"/>
            <a:ext cx="209189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21335" y="1484550"/>
            <a:ext cx="666665" cy="3180569"/>
            <a:chOff x="0" y="0"/>
            <a:chExt cx="186194" cy="888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194" cy="888305"/>
            </a:xfrm>
            <a:custGeom>
              <a:avLst/>
              <a:gdLst/>
              <a:ahLst/>
              <a:cxnLst/>
              <a:rect r="r" b="b" t="t" l="l"/>
              <a:pathLst>
                <a:path h="888305" w="186194">
                  <a:moveTo>
                    <a:pt x="93097" y="0"/>
                  </a:moveTo>
                  <a:lnTo>
                    <a:pt x="93097" y="0"/>
                  </a:lnTo>
                  <a:cubicBezTo>
                    <a:pt x="117788" y="0"/>
                    <a:pt x="141467" y="9808"/>
                    <a:pt x="158926" y="27267"/>
                  </a:cubicBezTo>
                  <a:cubicBezTo>
                    <a:pt x="176385" y="44727"/>
                    <a:pt x="186194" y="68406"/>
                    <a:pt x="186194" y="93097"/>
                  </a:cubicBezTo>
                  <a:lnTo>
                    <a:pt x="186194" y="795208"/>
                  </a:lnTo>
                  <a:cubicBezTo>
                    <a:pt x="186194" y="819899"/>
                    <a:pt x="176385" y="843579"/>
                    <a:pt x="158926" y="861038"/>
                  </a:cubicBezTo>
                  <a:cubicBezTo>
                    <a:pt x="141467" y="878497"/>
                    <a:pt x="117788" y="888305"/>
                    <a:pt x="93097" y="888305"/>
                  </a:cubicBezTo>
                  <a:lnTo>
                    <a:pt x="93097" y="888305"/>
                  </a:lnTo>
                  <a:cubicBezTo>
                    <a:pt x="68406" y="888305"/>
                    <a:pt x="44727" y="878497"/>
                    <a:pt x="27267" y="861038"/>
                  </a:cubicBezTo>
                  <a:cubicBezTo>
                    <a:pt x="9808" y="843579"/>
                    <a:pt x="0" y="819899"/>
                    <a:pt x="0" y="795208"/>
                  </a:cubicBezTo>
                  <a:lnTo>
                    <a:pt x="0" y="93097"/>
                  </a:lnTo>
                  <a:cubicBezTo>
                    <a:pt x="0" y="68406"/>
                    <a:pt x="9808" y="44727"/>
                    <a:pt x="27267" y="27267"/>
                  </a:cubicBezTo>
                  <a:cubicBezTo>
                    <a:pt x="44727" y="9808"/>
                    <a:pt x="68406" y="0"/>
                    <a:pt x="93097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6194" cy="93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14137" y="268595"/>
            <a:ext cx="6893316" cy="960267"/>
          </a:xfrm>
          <a:custGeom>
            <a:avLst/>
            <a:gdLst/>
            <a:ahLst/>
            <a:cxnLst/>
            <a:rect r="r" b="b" t="t" l="l"/>
            <a:pathLst>
              <a:path h="960267" w="6893316">
                <a:moveTo>
                  <a:pt x="0" y="0"/>
                </a:moveTo>
                <a:lnTo>
                  <a:pt x="6893316" y="0"/>
                </a:lnTo>
                <a:lnTo>
                  <a:pt x="6893316" y="960267"/>
                </a:lnTo>
                <a:lnTo>
                  <a:pt x="0" y="960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780" r="0" b="-2674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14137" y="2605124"/>
            <a:ext cx="6893316" cy="1160944"/>
          </a:xfrm>
          <a:custGeom>
            <a:avLst/>
            <a:gdLst/>
            <a:ahLst/>
            <a:cxnLst/>
            <a:rect r="r" b="b" t="t" l="l"/>
            <a:pathLst>
              <a:path h="1160944" w="6893316">
                <a:moveTo>
                  <a:pt x="0" y="0"/>
                </a:moveTo>
                <a:lnTo>
                  <a:pt x="6893316" y="0"/>
                </a:lnTo>
                <a:lnTo>
                  <a:pt x="6893316" y="1160944"/>
                </a:lnTo>
                <a:lnTo>
                  <a:pt x="0" y="1160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763" r="0" b="-2225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14137" y="5143817"/>
            <a:ext cx="6893316" cy="1075260"/>
          </a:xfrm>
          <a:custGeom>
            <a:avLst/>
            <a:gdLst/>
            <a:ahLst/>
            <a:cxnLst/>
            <a:rect r="r" b="b" t="t" l="l"/>
            <a:pathLst>
              <a:path h="1075260" w="6893316">
                <a:moveTo>
                  <a:pt x="0" y="0"/>
                </a:moveTo>
                <a:lnTo>
                  <a:pt x="6893316" y="0"/>
                </a:lnTo>
                <a:lnTo>
                  <a:pt x="6893316" y="1075260"/>
                </a:lnTo>
                <a:lnTo>
                  <a:pt x="0" y="1075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400" r="0" b="-3609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14137" y="7590677"/>
            <a:ext cx="6893316" cy="980866"/>
          </a:xfrm>
          <a:custGeom>
            <a:avLst/>
            <a:gdLst/>
            <a:ahLst/>
            <a:cxnLst/>
            <a:rect r="r" b="b" t="t" l="l"/>
            <a:pathLst>
              <a:path h="980866" w="6893316">
                <a:moveTo>
                  <a:pt x="0" y="0"/>
                </a:moveTo>
                <a:lnTo>
                  <a:pt x="6893316" y="0"/>
                </a:lnTo>
                <a:lnTo>
                  <a:pt x="6893316" y="980866"/>
                </a:lnTo>
                <a:lnTo>
                  <a:pt x="0" y="980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5648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1554" y="1657487"/>
            <a:ext cx="182685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4: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27543" y="1657487"/>
            <a:ext cx="2806700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Rearrange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1807" y="4197667"/>
            <a:ext cx="181913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5: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09810" y="4197667"/>
            <a:ext cx="3535868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Square again.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1884" y="6734492"/>
            <a:ext cx="184770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6: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68191" y="6734492"/>
            <a:ext cx="209189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31837" y="1353965"/>
            <a:ext cx="656163" cy="2665985"/>
            <a:chOff x="0" y="0"/>
            <a:chExt cx="183261" cy="7445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261" cy="744586"/>
            </a:xfrm>
            <a:custGeom>
              <a:avLst/>
              <a:gdLst/>
              <a:ahLst/>
              <a:cxnLst/>
              <a:rect r="r" b="b" t="t" l="l"/>
              <a:pathLst>
                <a:path h="744586" w="183261">
                  <a:moveTo>
                    <a:pt x="91630" y="0"/>
                  </a:moveTo>
                  <a:lnTo>
                    <a:pt x="91630" y="0"/>
                  </a:lnTo>
                  <a:cubicBezTo>
                    <a:pt x="142236" y="0"/>
                    <a:pt x="183261" y="41024"/>
                    <a:pt x="183261" y="91630"/>
                  </a:cubicBezTo>
                  <a:lnTo>
                    <a:pt x="183261" y="652956"/>
                  </a:lnTo>
                  <a:cubicBezTo>
                    <a:pt x="183261" y="703562"/>
                    <a:pt x="142236" y="744586"/>
                    <a:pt x="91630" y="744586"/>
                  </a:cubicBezTo>
                  <a:lnTo>
                    <a:pt x="91630" y="744586"/>
                  </a:lnTo>
                  <a:cubicBezTo>
                    <a:pt x="41024" y="744586"/>
                    <a:pt x="0" y="703562"/>
                    <a:pt x="0" y="652956"/>
                  </a:cubicBezTo>
                  <a:lnTo>
                    <a:pt x="0" y="91630"/>
                  </a:lnTo>
                  <a:cubicBezTo>
                    <a:pt x="0" y="41024"/>
                    <a:pt x="41024" y="0"/>
                    <a:pt x="91630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3261" cy="792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134314" y="2686957"/>
            <a:ext cx="9599016" cy="1744846"/>
          </a:xfrm>
          <a:custGeom>
            <a:avLst/>
            <a:gdLst/>
            <a:ahLst/>
            <a:cxnLst/>
            <a:rect r="r" b="b" t="t" l="l"/>
            <a:pathLst>
              <a:path h="1744846" w="9599016">
                <a:moveTo>
                  <a:pt x="0" y="0"/>
                </a:moveTo>
                <a:lnTo>
                  <a:pt x="9599016" y="0"/>
                </a:lnTo>
                <a:lnTo>
                  <a:pt x="9599016" y="1744847"/>
                </a:lnTo>
                <a:lnTo>
                  <a:pt x="0" y="17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28" t="-50622" r="-392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15370" y="6210097"/>
            <a:ext cx="9517960" cy="1653075"/>
          </a:xfrm>
          <a:custGeom>
            <a:avLst/>
            <a:gdLst/>
            <a:ahLst/>
            <a:cxnLst/>
            <a:rect r="r" b="b" t="t" l="l"/>
            <a:pathLst>
              <a:path h="1653075" w="9517960">
                <a:moveTo>
                  <a:pt x="0" y="0"/>
                </a:moveTo>
                <a:lnTo>
                  <a:pt x="9517960" y="0"/>
                </a:lnTo>
                <a:lnTo>
                  <a:pt x="9517960" y="1653074"/>
                </a:lnTo>
                <a:lnTo>
                  <a:pt x="0" y="1653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277" r="0" b="-1672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05923" y="6564511"/>
            <a:ext cx="228015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69547" y="942975"/>
            <a:ext cx="699654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Bring all terms to one side.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3035" y="942975"/>
            <a:ext cx="1760249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7: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81551" y="4672594"/>
            <a:ext cx="606449" cy="4114800"/>
            <a:chOff x="0" y="0"/>
            <a:chExt cx="169376" cy="1149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376" cy="1149228"/>
            </a:xfrm>
            <a:custGeom>
              <a:avLst/>
              <a:gdLst/>
              <a:ahLst/>
              <a:cxnLst/>
              <a:rect r="r" b="b" t="t" l="l"/>
              <a:pathLst>
                <a:path h="1149228" w="169376">
                  <a:moveTo>
                    <a:pt x="84688" y="0"/>
                  </a:moveTo>
                  <a:lnTo>
                    <a:pt x="84688" y="0"/>
                  </a:lnTo>
                  <a:cubicBezTo>
                    <a:pt x="107149" y="0"/>
                    <a:pt x="128689" y="8922"/>
                    <a:pt x="144571" y="24805"/>
                  </a:cubicBezTo>
                  <a:cubicBezTo>
                    <a:pt x="160453" y="40687"/>
                    <a:pt x="169376" y="62227"/>
                    <a:pt x="169376" y="84688"/>
                  </a:cubicBezTo>
                  <a:lnTo>
                    <a:pt x="169376" y="1064540"/>
                  </a:lnTo>
                  <a:cubicBezTo>
                    <a:pt x="169376" y="1111312"/>
                    <a:pt x="131460" y="1149228"/>
                    <a:pt x="84688" y="1149228"/>
                  </a:cubicBezTo>
                  <a:lnTo>
                    <a:pt x="84688" y="1149228"/>
                  </a:lnTo>
                  <a:cubicBezTo>
                    <a:pt x="62227" y="1149228"/>
                    <a:pt x="40687" y="1140305"/>
                    <a:pt x="24805" y="1124423"/>
                  </a:cubicBezTo>
                  <a:cubicBezTo>
                    <a:pt x="8922" y="1108541"/>
                    <a:pt x="0" y="1087001"/>
                    <a:pt x="0" y="1064540"/>
                  </a:cubicBezTo>
                  <a:lnTo>
                    <a:pt x="0" y="84688"/>
                  </a:lnTo>
                  <a:cubicBezTo>
                    <a:pt x="0" y="37916"/>
                    <a:pt x="37916" y="0"/>
                    <a:pt x="84688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9376" cy="1196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05709" y="3527853"/>
            <a:ext cx="8971134" cy="1222884"/>
          </a:xfrm>
          <a:custGeom>
            <a:avLst/>
            <a:gdLst/>
            <a:ahLst/>
            <a:cxnLst/>
            <a:rect r="r" b="b" t="t" l="l"/>
            <a:pathLst>
              <a:path h="1222884" w="8971134">
                <a:moveTo>
                  <a:pt x="0" y="0"/>
                </a:moveTo>
                <a:lnTo>
                  <a:pt x="8971134" y="0"/>
                </a:lnTo>
                <a:lnTo>
                  <a:pt x="8971134" y="1222884"/>
                </a:lnTo>
                <a:lnTo>
                  <a:pt x="0" y="1222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585" r="0" b="-2663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05709" y="6186805"/>
            <a:ext cx="8971134" cy="1357934"/>
          </a:xfrm>
          <a:custGeom>
            <a:avLst/>
            <a:gdLst/>
            <a:ahLst/>
            <a:cxnLst/>
            <a:rect r="r" b="b" t="t" l="l"/>
            <a:pathLst>
              <a:path h="1357934" w="8971134">
                <a:moveTo>
                  <a:pt x="0" y="0"/>
                </a:moveTo>
                <a:lnTo>
                  <a:pt x="8971134" y="0"/>
                </a:lnTo>
                <a:lnTo>
                  <a:pt x="8971134" y="1357934"/>
                </a:lnTo>
                <a:lnTo>
                  <a:pt x="0" y="1357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272" r="0" b="-3797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40982"/>
            <a:ext cx="18288000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5.Prove that a straight line and a parabola cannot intersect at more than two points.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8521" y="2024037"/>
            <a:ext cx="274226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Solution:-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79942" y="2789348"/>
            <a:ext cx="483617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Take the parabola.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6070" y="2789348"/>
            <a:ext cx="1787164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1: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79942" y="5057775"/>
            <a:ext cx="5625884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Take the straight line.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6978" y="5057775"/>
            <a:ext cx="179625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2: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9948" y="7785404"/>
            <a:ext cx="181328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3: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40015" y="7785404"/>
            <a:ext cx="2752869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Substitute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964798" y="8523909"/>
            <a:ext cx="9252956" cy="1387835"/>
          </a:xfrm>
          <a:custGeom>
            <a:avLst/>
            <a:gdLst/>
            <a:ahLst/>
            <a:cxnLst/>
            <a:rect r="r" b="b" t="t" l="l"/>
            <a:pathLst>
              <a:path h="1387835" w="9252956">
                <a:moveTo>
                  <a:pt x="0" y="0"/>
                </a:moveTo>
                <a:lnTo>
                  <a:pt x="9252956" y="0"/>
                </a:lnTo>
                <a:lnTo>
                  <a:pt x="9252956" y="1387835"/>
                </a:lnTo>
                <a:lnTo>
                  <a:pt x="0" y="13878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055" r="0" b="-26607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68607" y="2106979"/>
            <a:ext cx="619393" cy="1095151"/>
            <a:chOff x="0" y="0"/>
            <a:chExt cx="172991" cy="3058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991" cy="305866"/>
            </a:xfrm>
            <a:custGeom>
              <a:avLst/>
              <a:gdLst/>
              <a:ahLst/>
              <a:cxnLst/>
              <a:rect r="r" b="b" t="t" l="l"/>
              <a:pathLst>
                <a:path h="305866" w="172991">
                  <a:moveTo>
                    <a:pt x="86496" y="0"/>
                  </a:moveTo>
                  <a:lnTo>
                    <a:pt x="86496" y="0"/>
                  </a:lnTo>
                  <a:cubicBezTo>
                    <a:pt x="134266" y="0"/>
                    <a:pt x="172991" y="38725"/>
                    <a:pt x="172991" y="86496"/>
                  </a:cubicBezTo>
                  <a:lnTo>
                    <a:pt x="172991" y="219371"/>
                  </a:lnTo>
                  <a:cubicBezTo>
                    <a:pt x="172991" y="242311"/>
                    <a:pt x="163878" y="264311"/>
                    <a:pt x="147657" y="280532"/>
                  </a:cubicBezTo>
                  <a:cubicBezTo>
                    <a:pt x="131436" y="296753"/>
                    <a:pt x="109436" y="305866"/>
                    <a:pt x="86496" y="305866"/>
                  </a:cubicBezTo>
                  <a:lnTo>
                    <a:pt x="86496" y="305866"/>
                  </a:lnTo>
                  <a:cubicBezTo>
                    <a:pt x="63555" y="305866"/>
                    <a:pt x="41555" y="296753"/>
                    <a:pt x="25334" y="280532"/>
                  </a:cubicBezTo>
                  <a:cubicBezTo>
                    <a:pt x="9113" y="264311"/>
                    <a:pt x="0" y="242311"/>
                    <a:pt x="0" y="219371"/>
                  </a:cubicBezTo>
                  <a:lnTo>
                    <a:pt x="0" y="86496"/>
                  </a:lnTo>
                  <a:cubicBezTo>
                    <a:pt x="0" y="63555"/>
                    <a:pt x="9113" y="41555"/>
                    <a:pt x="25334" y="25334"/>
                  </a:cubicBezTo>
                  <a:cubicBezTo>
                    <a:pt x="41555" y="9113"/>
                    <a:pt x="63555" y="0"/>
                    <a:pt x="86496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2991" cy="353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74194" y="9679156"/>
            <a:ext cx="1092848" cy="607844"/>
            <a:chOff x="0" y="0"/>
            <a:chExt cx="477962" cy="2658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7962" cy="265843"/>
            </a:xfrm>
            <a:custGeom>
              <a:avLst/>
              <a:gdLst/>
              <a:ahLst/>
              <a:cxnLst/>
              <a:rect r="r" b="b" t="t" l="l"/>
              <a:pathLst>
                <a:path h="265843" w="477962">
                  <a:moveTo>
                    <a:pt x="132922" y="0"/>
                  </a:moveTo>
                  <a:lnTo>
                    <a:pt x="345040" y="0"/>
                  </a:lnTo>
                  <a:cubicBezTo>
                    <a:pt x="418451" y="0"/>
                    <a:pt x="477962" y="59511"/>
                    <a:pt x="477962" y="132922"/>
                  </a:cubicBezTo>
                  <a:lnTo>
                    <a:pt x="477962" y="132922"/>
                  </a:lnTo>
                  <a:cubicBezTo>
                    <a:pt x="477962" y="168175"/>
                    <a:pt x="463958" y="201984"/>
                    <a:pt x="439030" y="226911"/>
                  </a:cubicBezTo>
                  <a:cubicBezTo>
                    <a:pt x="414102" y="251839"/>
                    <a:pt x="380293" y="265843"/>
                    <a:pt x="345040" y="265843"/>
                  </a:cubicBezTo>
                  <a:lnTo>
                    <a:pt x="132922" y="265843"/>
                  </a:lnTo>
                  <a:cubicBezTo>
                    <a:pt x="97669" y="265843"/>
                    <a:pt x="63859" y="251839"/>
                    <a:pt x="38932" y="226911"/>
                  </a:cubicBezTo>
                  <a:cubicBezTo>
                    <a:pt x="14004" y="201984"/>
                    <a:pt x="0" y="168175"/>
                    <a:pt x="0" y="132922"/>
                  </a:cubicBezTo>
                  <a:lnTo>
                    <a:pt x="0" y="132922"/>
                  </a:lnTo>
                  <a:cubicBezTo>
                    <a:pt x="0" y="97669"/>
                    <a:pt x="14004" y="63859"/>
                    <a:pt x="38932" y="38932"/>
                  </a:cubicBezTo>
                  <a:cubicBezTo>
                    <a:pt x="63859" y="14004"/>
                    <a:pt x="97669" y="0"/>
                    <a:pt x="1329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77962" cy="31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5850245" y="7826880"/>
            <a:ext cx="2437755" cy="2460120"/>
          </a:xfrm>
          <a:custGeom>
            <a:avLst/>
            <a:gdLst/>
            <a:ahLst/>
            <a:cxnLst/>
            <a:rect r="r" b="b" t="t" l="l"/>
            <a:pathLst>
              <a:path h="2460120" w="2437755">
                <a:moveTo>
                  <a:pt x="2437755" y="0"/>
                </a:moveTo>
                <a:lnTo>
                  <a:pt x="0" y="0"/>
                </a:lnTo>
                <a:lnTo>
                  <a:pt x="0" y="2460120"/>
                </a:lnTo>
                <a:lnTo>
                  <a:pt x="2437755" y="2460120"/>
                </a:lnTo>
                <a:lnTo>
                  <a:pt x="243775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35676" y="1457700"/>
            <a:ext cx="9252956" cy="1302010"/>
          </a:xfrm>
          <a:custGeom>
            <a:avLst/>
            <a:gdLst/>
            <a:ahLst/>
            <a:cxnLst/>
            <a:rect r="r" b="b" t="t" l="l"/>
            <a:pathLst>
              <a:path h="1302010" w="9252956">
                <a:moveTo>
                  <a:pt x="0" y="0"/>
                </a:moveTo>
                <a:lnTo>
                  <a:pt x="9252956" y="0"/>
                </a:lnTo>
                <a:lnTo>
                  <a:pt x="9252956" y="1302010"/>
                </a:lnTo>
                <a:lnTo>
                  <a:pt x="0" y="1302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327" r="0" b="-1296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7193" y="616585"/>
            <a:ext cx="182685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4: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8832" y="3000375"/>
            <a:ext cx="181913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5: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85870" y="3000375"/>
            <a:ext cx="8395783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is a quadratic equation in x.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85489" y="616585"/>
            <a:ext cx="699654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Bring all terms to one side.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8273" y="4206395"/>
            <a:ext cx="184770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6: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8273" y="5735475"/>
            <a:ext cx="1760249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7: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35676" y="4206395"/>
            <a:ext cx="12939640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quadratic equation can have at most two roots.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85870" y="5680865"/>
            <a:ext cx="11880128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Therefore, there can be at most two common</a:t>
            </a:r>
          </a:p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points.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8832" y="7757795"/>
            <a:ext cx="14737196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b="true" sz="42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Answer- A straight line and a parabola cannot intersect </a:t>
            </a:r>
          </a:p>
          <a:p>
            <a:pPr algn="ctr">
              <a:lnSpc>
                <a:spcPts val="6019"/>
              </a:lnSpc>
            </a:pPr>
            <a:r>
              <a:rPr lang="en-US" b="true" sz="42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at more than two 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DAHMW-woEhw</dc:identifier>
  <dcterms:modified xsi:type="dcterms:W3CDTF">2011-08-01T06:04:30Z</dcterms:modified>
  <cp:revision>1</cp:revision>
  <dc:title>03_Theory of Equations_English ppt_Ex_02</dc:title>
</cp:coreProperties>
</file>