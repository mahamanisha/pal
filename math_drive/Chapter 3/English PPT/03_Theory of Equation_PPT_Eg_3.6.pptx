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swald" panose="00000500000000000000" pitchFamily="2" charset="0"/>
      <p:regular r:id="rId9"/>
    </p:embeddedFont>
    <p:embeddedFont>
      <p:font typeface="Poppins" panose="00000500000000000000" pitchFamily="2" charset="0"/>
      <p:regular r:id="rId10"/>
    </p:embeddedFont>
    <p:embeddedFont>
      <p:font typeface="Poppins Bold" panose="020B0604020202020204" charset="0"/>
      <p:regular r:id="rId11"/>
    </p:embeddedFont>
    <p:embeddedFont>
      <p:font typeface="Poppins Bold Italics" panose="020B0604020202020204" charset="0"/>
      <p:regular r:id="rId12"/>
    </p:embeddedFont>
    <p:embeddedFont>
      <p:font typeface="Poppins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17183" y="6726269"/>
            <a:ext cx="4922196" cy="4922196"/>
          </a:xfrm>
          <a:custGeom>
            <a:avLst/>
            <a:gdLst/>
            <a:ahLst/>
            <a:cxnLst/>
            <a:rect l="l" t="t" r="r" b="b"/>
            <a:pathLst>
              <a:path w="4922196" h="4922196">
                <a:moveTo>
                  <a:pt x="0" y="0"/>
                </a:moveTo>
                <a:lnTo>
                  <a:pt x="4922196" y="0"/>
                </a:lnTo>
                <a:lnTo>
                  <a:pt x="4922196" y="4922196"/>
                </a:lnTo>
                <a:lnTo>
                  <a:pt x="0" y="4922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62107" y="3104321"/>
            <a:ext cx="15363777" cy="2387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9"/>
              </a:lnSpc>
            </a:pPr>
            <a:r>
              <a:rPr lang="en-US" sz="13999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3.9 Descartes Rule</a:t>
            </a:r>
          </a:p>
        </p:txBody>
      </p:sp>
      <p:sp>
        <p:nvSpPr>
          <p:cNvPr id="4" name="Freeform 4"/>
          <p:cNvSpPr/>
          <p:nvPr/>
        </p:nvSpPr>
        <p:spPr>
          <a:xfrm>
            <a:off x="14515542" y="-614829"/>
            <a:ext cx="4922196" cy="4922196"/>
          </a:xfrm>
          <a:custGeom>
            <a:avLst/>
            <a:gdLst/>
            <a:ahLst/>
            <a:cxnLst/>
            <a:rect l="l" t="t" r="r" b="b"/>
            <a:pathLst>
              <a:path w="4922196" h="4922196">
                <a:moveTo>
                  <a:pt x="0" y="0"/>
                </a:moveTo>
                <a:lnTo>
                  <a:pt x="4922196" y="0"/>
                </a:lnTo>
                <a:lnTo>
                  <a:pt x="4922196" y="4922196"/>
                </a:lnTo>
                <a:lnTo>
                  <a:pt x="0" y="4922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66074" y="5478958"/>
            <a:ext cx="15363777" cy="11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6699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48096" y="6344488"/>
            <a:ext cx="1172760" cy="466972"/>
          </a:xfrm>
          <a:custGeom>
            <a:avLst/>
            <a:gdLst/>
            <a:ahLst/>
            <a:cxnLst/>
            <a:rect l="l" t="t" r="r" b="b"/>
            <a:pathLst>
              <a:path w="1172760" h="466972">
                <a:moveTo>
                  <a:pt x="0" y="0"/>
                </a:moveTo>
                <a:lnTo>
                  <a:pt x="1172760" y="0"/>
                </a:lnTo>
                <a:lnTo>
                  <a:pt x="1172760" y="466971"/>
                </a:lnTo>
                <a:lnTo>
                  <a:pt x="0" y="466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0513" y="180434"/>
            <a:ext cx="5500687" cy="974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88"/>
              </a:lnSpc>
            </a:pPr>
            <a:r>
              <a:rPr lang="en-US" sz="5705" b="1" dirty="0">
                <a:solidFill>
                  <a:srgbClr val="FDF4F4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3.30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1342010"/>
            <a:ext cx="1471053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 Show that the polynomial   9x   + 2x   - x  - 7x  +2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11155" y="333344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12231" y="1078167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89527" y="1078167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95781" y="111330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23190" y="2152663"/>
            <a:ext cx="88334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has at least six imaginary roots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755913"/>
            <a:ext cx="3000028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Solution:-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0014" y="3597289"/>
            <a:ext cx="10895767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Given    : P(x) = 9x  + 2x   - x  - 7x + 2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71944" y="111330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7831" y="333344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76744" y="3361704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12231" y="3298838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0513" y="4705364"/>
            <a:ext cx="9927644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Step 1 :- Find the sign changes in P(x)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95797" y="6661164"/>
            <a:ext cx="9008181" cy="91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6"/>
              </a:lnSpc>
            </a:pPr>
            <a:r>
              <a:rPr lang="en-US" sz="5147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+  , +  , -  , -  , 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4000" y="8216914"/>
            <a:ext cx="648921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No.of Sign Changes =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83183" y="9067814"/>
            <a:ext cx="88334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=&gt;   Positive Roots &lt; 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12231" y="9369439"/>
            <a:ext cx="69617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975204" y="6344488"/>
            <a:ext cx="1172760" cy="466972"/>
          </a:xfrm>
          <a:custGeom>
            <a:avLst/>
            <a:gdLst/>
            <a:ahLst/>
            <a:cxnLst/>
            <a:rect l="l" t="t" r="r" b="b"/>
            <a:pathLst>
              <a:path w="1172760" h="466972">
                <a:moveTo>
                  <a:pt x="0" y="0"/>
                </a:moveTo>
                <a:lnTo>
                  <a:pt x="1172760" y="0"/>
                </a:lnTo>
                <a:lnTo>
                  <a:pt x="1172760" y="466971"/>
                </a:lnTo>
                <a:lnTo>
                  <a:pt x="0" y="4669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140613" y="2602012"/>
            <a:ext cx="1172760" cy="466972"/>
          </a:xfrm>
          <a:custGeom>
            <a:avLst/>
            <a:gdLst/>
            <a:ahLst/>
            <a:cxnLst/>
            <a:rect l="l" t="t" r="r" b="b"/>
            <a:pathLst>
              <a:path w="1172760" h="466972">
                <a:moveTo>
                  <a:pt x="0" y="0"/>
                </a:moveTo>
                <a:lnTo>
                  <a:pt x="1172760" y="0"/>
                </a:lnTo>
                <a:lnTo>
                  <a:pt x="1172760" y="466972"/>
                </a:lnTo>
                <a:lnTo>
                  <a:pt x="0" y="466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80996" y="135416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69261" y="1354166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90364" y="1382424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77426" y="1382424"/>
            <a:ext cx="744113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3157" y="284509"/>
            <a:ext cx="1061789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Step 2 :- Find the sign changes in P(- x)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295" y="2926109"/>
            <a:ext cx="9008181" cy="91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6"/>
              </a:lnSpc>
            </a:pPr>
            <a:r>
              <a:rPr lang="en-US" sz="5147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-  , -  , -  , -  , 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36159" y="4039364"/>
            <a:ext cx="648921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No.of Sign Changes =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0386" y="4039364"/>
            <a:ext cx="883340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=&gt;   Negative Roots &lt; 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1427" y="4340989"/>
            <a:ext cx="69617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19421" y="1618009"/>
            <a:ext cx="900818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P(- x) = -9x  - 2x   - x   - 7x  + 2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383416" y="5099814"/>
            <a:ext cx="1061789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Step 3 :- Maximum real roots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7512" y="5969764"/>
            <a:ext cx="3558964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2 + 1 =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5176" y="6839714"/>
            <a:ext cx="9582250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Maximum possible real roots =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4664" y="7747764"/>
            <a:ext cx="10005508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Degree = 9 Therefore,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DF4F4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9-3 =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234734" y="9322564"/>
            <a:ext cx="18757469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Polynomial has at least 6 imaginary (non-real complex) Roots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024" y="488663"/>
            <a:ext cx="5879175" cy="876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80"/>
              </a:lnSpc>
            </a:pPr>
            <a:r>
              <a:rPr lang="en-US" sz="5128" b="1" dirty="0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3.31  (</a:t>
            </a:r>
            <a:r>
              <a:rPr lang="en-US" sz="5128" b="1" dirty="0" err="1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5128" b="1" dirty="0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99242"/>
            <a:ext cx="771084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Discuss  the nature of roots of</a:t>
            </a:r>
            <a:r>
              <a:rPr lang="en-US" sz="3999" b="1">
                <a:solidFill>
                  <a:srgbClr val="6E7658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93089" y="1735588"/>
            <a:ext cx="904172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x    + 1947x    + 15x   +  26x +2019  =0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96268" y="1556913"/>
            <a:ext cx="919544" cy="488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2018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97629" y="1487938"/>
            <a:ext cx="92547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1990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13951" y="1474209"/>
            <a:ext cx="26455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26333" y="1506036"/>
            <a:ext cx="26622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931" y="2702442"/>
            <a:ext cx="3421923" cy="682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i="1" dirty="0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 :-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6932" y="3667642"/>
            <a:ext cx="1319241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Let P(x) = x     +1947x    +15x  +26x  + 2019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7720" y="3473087"/>
            <a:ext cx="1200253" cy="488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2018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7616" y="3324742"/>
            <a:ext cx="92547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1990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51255" y="3324742"/>
            <a:ext cx="26455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46154" y="3286351"/>
            <a:ext cx="26622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4235" y="4632842"/>
            <a:ext cx="647890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All coefficient are Positive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14944" y="5365332"/>
            <a:ext cx="7410256" cy="853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28"/>
              </a:lnSpc>
            </a:pPr>
            <a:r>
              <a:rPr lang="en-US" sz="5020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 :      + ,+ ,+ ,+ ,+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6913021"/>
            <a:ext cx="13982267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 . Therefore , </a:t>
            </a:r>
          </a:p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Positive Roots =0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778464" y="851909"/>
            <a:ext cx="1319241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Let P(- x) = x     +1947x    +15x  +26x  + 2019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714944" y="673233"/>
            <a:ext cx="925472" cy="488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877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2018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65660" y="590530"/>
            <a:ext cx="92547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1990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60810" y="590530"/>
            <a:ext cx="26455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39350" y="590530"/>
            <a:ext cx="266224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26644" y="2093294"/>
            <a:ext cx="10939021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Again All coefficient are Positive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4494" y="2954869"/>
            <a:ext cx="7899457" cy="853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28"/>
              </a:lnSpc>
            </a:pPr>
            <a:r>
              <a:rPr lang="en-US" sz="5020" i="1" dirty="0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 :      + ,+ ,+ ,+ ,+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426644" y="4046506"/>
            <a:ext cx="13982267" cy="1422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No.of sign changes = 0 . Therefore , </a:t>
            </a:r>
          </a:p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  Negative Roots =0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8471" y="5649881"/>
            <a:ext cx="5859926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Constant Term =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69028" y="5774976"/>
            <a:ext cx="21336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\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548406"/>
            <a:ext cx="10515763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i="1">
                <a:solidFill>
                  <a:srgbClr val="6E765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Hence , x = 0  is not a root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0" y="7789831"/>
            <a:ext cx="17259300" cy="138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46"/>
              </a:lnSpc>
            </a:pPr>
            <a:r>
              <a:rPr lang="en-US" sz="3890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equation has no Positive roots and no Negative roots</a:t>
            </a:r>
          </a:p>
          <a:p>
            <a:pPr algn="ctr">
              <a:lnSpc>
                <a:spcPts val="5446"/>
              </a:lnSpc>
            </a:pPr>
            <a:r>
              <a:rPr lang="en-US" sz="3890" b="1" i="1">
                <a:solidFill>
                  <a:srgbClr val="6E765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Hence , All roots are Imaginary (non-realcomplex roots).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22718" y="5006673"/>
            <a:ext cx="1010926" cy="402532"/>
          </a:xfrm>
          <a:custGeom>
            <a:avLst/>
            <a:gdLst/>
            <a:ahLst/>
            <a:cxnLst/>
            <a:rect l="l" t="t" r="r" b="b"/>
            <a:pathLst>
              <a:path w="1010926" h="402532">
                <a:moveTo>
                  <a:pt x="0" y="0"/>
                </a:moveTo>
                <a:lnTo>
                  <a:pt x="1010925" y="0"/>
                </a:lnTo>
                <a:lnTo>
                  <a:pt x="1010925" y="402533"/>
                </a:lnTo>
                <a:lnTo>
                  <a:pt x="0" y="402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4672" y="55312"/>
            <a:ext cx="6537127" cy="914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15"/>
              </a:lnSpc>
            </a:pPr>
            <a:r>
              <a:rPr lang="en-US" sz="5368" b="1" dirty="0">
                <a:solidFill>
                  <a:srgbClr val="FDF4F4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3.31  (ii)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4673" y="1548145"/>
            <a:ext cx="7451646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Discuss the nature of roots of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84588" y="1548145"/>
            <a:ext cx="6518553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x  - 19x  + 2x  +5x  + 11  = 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85403" y="1328117"/>
            <a:ext cx="26324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39897" y="1328117"/>
            <a:ext cx="26372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397" y="1328117"/>
            <a:ext cx="246936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57932" y="1328117"/>
            <a:ext cx="24098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4672" y="2547060"/>
            <a:ext cx="3596169" cy="682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i="1" dirty="0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Solution :-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42000" y="3550360"/>
            <a:ext cx="9078396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Let , P(x)   =   x  - 19x  + 2x  +5x  + 11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10610" y="3330333"/>
            <a:ext cx="26324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96319" y="3330333"/>
            <a:ext cx="26372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48650" y="3383355"/>
            <a:ext cx="246936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86186" y="3330333"/>
            <a:ext cx="24098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40842" y="5256806"/>
            <a:ext cx="8076567" cy="97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1"/>
              </a:lnSpc>
            </a:pPr>
            <a:r>
              <a:rPr lang="en-US" sz="5472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+ , - , + , + , + ,</a:t>
            </a:r>
          </a:p>
        </p:txBody>
      </p:sp>
      <p:sp>
        <p:nvSpPr>
          <p:cNvPr id="17" name="Freeform 17"/>
          <p:cNvSpPr/>
          <p:nvPr/>
        </p:nvSpPr>
        <p:spPr>
          <a:xfrm>
            <a:off x="8443187" y="5143500"/>
            <a:ext cx="1010926" cy="402532"/>
          </a:xfrm>
          <a:custGeom>
            <a:avLst/>
            <a:gdLst/>
            <a:ahLst/>
            <a:cxnLst/>
            <a:rect l="l" t="t" r="r" b="b"/>
            <a:pathLst>
              <a:path w="1010926" h="402532">
                <a:moveTo>
                  <a:pt x="0" y="0"/>
                </a:moveTo>
                <a:lnTo>
                  <a:pt x="1010926" y="0"/>
                </a:lnTo>
                <a:lnTo>
                  <a:pt x="1010926" y="402532"/>
                </a:lnTo>
                <a:lnTo>
                  <a:pt x="0" y="402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36309" y="6501214"/>
            <a:ext cx="15994669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 of sign changes =2  =&gt; Positive Roots &lt;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37312" y="6635834"/>
            <a:ext cx="30730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232490" y="1841576"/>
            <a:ext cx="1010926" cy="402532"/>
          </a:xfrm>
          <a:custGeom>
            <a:avLst/>
            <a:gdLst/>
            <a:ahLst/>
            <a:cxnLst/>
            <a:rect l="l" t="t" r="r" b="b"/>
            <a:pathLst>
              <a:path w="1010926" h="402532">
                <a:moveTo>
                  <a:pt x="0" y="0"/>
                </a:moveTo>
                <a:lnTo>
                  <a:pt x="1010926" y="0"/>
                </a:lnTo>
                <a:lnTo>
                  <a:pt x="1010926" y="402533"/>
                </a:lnTo>
                <a:lnTo>
                  <a:pt x="0" y="402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311" y="643270"/>
            <a:ext cx="3604498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NOW ,P(- x) =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25809" y="696292"/>
            <a:ext cx="6518553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x  - 19x  + 2x  +5x  + 11  = 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8173" y="529287"/>
            <a:ext cx="263247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4992" y="529287"/>
            <a:ext cx="26372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20375" y="449043"/>
            <a:ext cx="246936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15061" y="476265"/>
            <a:ext cx="240983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21152" y="2057966"/>
            <a:ext cx="9323248" cy="950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01"/>
              </a:lnSpc>
            </a:pPr>
            <a:r>
              <a:rPr lang="en-US" sz="5572" i="1" dirty="0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Signs :     - , - , - , + , +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430023" y="3631776"/>
            <a:ext cx="15994669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No. of sign changes =1  =&gt; Negative Roots &lt;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83821" y="3713373"/>
            <a:ext cx="30730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_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276" y="5035126"/>
            <a:ext cx="9255443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Sum of Coefficients : 1-19+2+5+11 = 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88909" y="5028249"/>
            <a:ext cx="4750951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Hence x=1 is a root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6996" y="6265465"/>
            <a:ext cx="2825830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Degree =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72010" y="7259240"/>
            <a:ext cx="10135631" cy="72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i="1">
                <a:solidFill>
                  <a:srgbClr val="FDF4F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Remaining roots :        5 - (2+1) = 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0" y="8253015"/>
            <a:ext cx="15591361" cy="143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Positive roots = 2 , Negative roots = 1,</a:t>
            </a:r>
          </a:p>
          <a:p>
            <a:pPr algn="ctr">
              <a:lnSpc>
                <a:spcPts val="5600"/>
              </a:lnSpc>
            </a:pPr>
            <a:r>
              <a:rPr lang="en-US" sz="4000" b="1" i="1">
                <a:solidFill>
                  <a:srgbClr val="FDF4F4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Imaginary roots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494</Words>
  <Application>Microsoft Office PowerPoint</Application>
  <PresentationFormat>Custom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Oswald</vt:lpstr>
      <vt:lpstr>Poppins Bold</vt:lpstr>
      <vt:lpstr>Calibri</vt:lpstr>
      <vt:lpstr>Poppins Bold Italics</vt:lpstr>
      <vt:lpstr>Poppins Italics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Examples of Exercise 3.6.pptx</dc:title>
  <dc:creator>Kaleeswari</dc:creator>
  <cp:lastModifiedBy>Kaleeswari K</cp:lastModifiedBy>
  <cp:revision>3</cp:revision>
  <dcterms:created xsi:type="dcterms:W3CDTF">2006-08-16T00:00:00Z</dcterms:created>
  <dcterms:modified xsi:type="dcterms:W3CDTF">2026-06-11T19:35:07Z</dcterms:modified>
  <dc:identifier>DAHMSG7PyTA</dc:identifier>
</cp:coreProperties>
</file>