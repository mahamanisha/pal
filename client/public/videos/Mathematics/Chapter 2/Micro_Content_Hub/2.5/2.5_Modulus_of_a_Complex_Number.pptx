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" y="886968"/>
            <a:ext cx="54864" cy="54864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01952" y="53035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86100" y="125730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235915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990088"/>
            <a:ext cx="54864" cy="54864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22192" y="43891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97780" y="171450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455371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54580" y="546354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482803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24728" y="5824728"/>
            <a:ext cx="54864" cy="54864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73552" y="400507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54980" y="326898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61872" y="373075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UNLOCKED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50292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1965960"/>
            <a:ext cx="6949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MODULUS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713232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COMPLEX NUMBER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 to measure distance in the complex plane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892040"/>
            <a:ext cx="3063240" cy="5669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9204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D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YOUR QUEST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5806440"/>
            <a:ext cx="283464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8366760" y="1417320"/>
            <a:ext cx="0" cy="438912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0" y="5669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109960" y="2057400"/>
            <a:ext cx="0" cy="3749040"/>
          </a:xfrm>
          <a:prstGeom prst="line">
            <a:avLst/>
          </a:prstGeom>
          <a:noFill/>
          <a:ln w="15875">
            <a:solidFill>
              <a:srgbClr val="5C6BB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8366760" y="2057400"/>
            <a:ext cx="2743200" cy="374904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5612" y="576529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41380" y="1988820"/>
            <a:ext cx="137160" cy="13716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0" y="16733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 y)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3886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74152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Modulus?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5778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the complex plane as a treasure map with two directions: real and imaginary.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complex number z = x + iy marks one exact spot — the point P(x, y).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modulus |z| is the straight-line distance from the origin O to that point.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600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like the absolute value of a real number — now measured across two dimensions!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0D1B4C"/>
          </a:solidFill>
          <a:ln/>
          <a:effectLst>
            <a:outerShdw sx="100000" sy="100000" kx="0" ky="0" algn="bl" rotWithShape="0" blurRad="76200" dist="25400" dir="5400000">
              <a:srgbClr val="1E2761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19379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  </a:t>
            </a:r>
            <a:pPr indent="0" marL="0">
              <a:buNone/>
            </a:pPr>
            <a:r>
              <a:rPr lang="en-US" sz="24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√(x² + y²)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234440"/>
            <a:ext cx="4709160" cy="489204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38160" y="5806440"/>
            <a:ext cx="3246120" cy="0"/>
          </a:xfrm>
          <a:prstGeom prst="line">
            <a:avLst/>
          </a:prstGeom>
          <a:noFill/>
          <a:ln w="19050">
            <a:solidFill>
              <a:srgbClr val="B9C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8138160" y="1600200"/>
            <a:ext cx="0" cy="4206240"/>
          </a:xfrm>
          <a:prstGeom prst="line">
            <a:avLst/>
          </a:prstGeom>
          <a:noFill/>
          <a:ln w="19050">
            <a:solidFill>
              <a:srgbClr val="B9C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463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92840" y="5696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75720" y="2331720"/>
            <a:ext cx="0" cy="3474720"/>
          </a:xfrm>
          <a:prstGeom prst="line">
            <a:avLst/>
          </a:prstGeom>
          <a:noFill/>
          <a:ln w="25400">
            <a:solidFill>
              <a:srgbClr val="FF4D7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138160" y="5806440"/>
            <a:ext cx="33375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138160" y="2331720"/>
            <a:ext cx="3337560" cy="347472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29416" y="5660136"/>
            <a:ext cx="146304" cy="146304"/>
          </a:xfrm>
          <a:prstGeom prst="rect">
            <a:avLst/>
          </a:prstGeom>
          <a:ln w="12700">
            <a:solidFill>
              <a:srgbClr val="5B65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012" y="5765292"/>
            <a:ext cx="82296" cy="82296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20856" y="2276856"/>
            <a:ext cx="109728" cy="10972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5788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19688" y="58795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8428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 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66860" y="3931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33788" y="5879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39319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2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VAULT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 the Key Formulas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57984"/>
            <a:ext cx="621792" cy="621792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579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176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2450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√(x² + y²)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of z = x + iy from the origin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157984"/>
            <a:ext cx="621792" cy="621792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1579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2176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IDENTITY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450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|z|² = z · z̄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19672" y="329184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squared equals z times its conjugate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4443984"/>
            <a:ext cx="621792" cy="621792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4439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4462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736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|z₁z₂| = |z₁||z₂|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" y="557784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first or measure first — same result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2062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4443984"/>
            <a:ext cx="621792" cy="621792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44439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4462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QUOTIENT POWER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736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|z₁/z₂| = |z₁|/|z₂|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19672" y="557784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whenever z₂ is not zero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= Power-Ups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every modulus master should know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93392" y="2359152"/>
            <a:ext cx="585216" cy="5852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993392" y="2359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POWER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192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|z̄| = |z|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88152" y="2359152"/>
            <a:ext cx="585216" cy="585216"/>
          </a:xfrm>
          <a:prstGeom prst="ellipse">
            <a:avLst/>
          </a:prstGeom>
          <a:solidFill>
            <a:srgbClr val="FF4D7D"/>
          </a:solidFill>
          <a:ln/>
        </p:spPr>
      </p:sp>
      <p:sp>
        <p:nvSpPr>
          <p:cNvPr id="13" name="Text 11"/>
          <p:cNvSpPr/>
          <p:nvPr/>
        </p:nvSpPr>
        <p:spPr>
          <a:xfrm>
            <a:off x="5788152" y="2359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SHIELD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3192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|z₁+z₂| ≤ |z₁|+|z₂|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82912" y="2359152"/>
            <a:ext cx="585216" cy="585216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9582912" y="2359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MIGHT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33192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|z₁z₂| = |z₁||z₂|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93392" y="4553712"/>
            <a:ext cx="585216" cy="5852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1993392" y="4553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GUARD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5138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|z₁-z₂| ≥ ||z₁|-|z₂||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4343400" y="434340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88152" y="4553712"/>
            <a:ext cx="585216" cy="585216"/>
          </a:xfrm>
          <a:prstGeom prst="ellipse">
            <a:avLst/>
          </a:prstGeom>
          <a:solidFill>
            <a:srgbClr val="FF4D7D"/>
          </a:solidFill>
          <a:ln/>
        </p:spPr>
      </p:sp>
      <p:sp>
        <p:nvSpPr>
          <p:cNvPr id="28" name="Text 26"/>
          <p:cNvSpPr/>
          <p:nvPr/>
        </p:nvSpPr>
        <p:spPr>
          <a:xfrm>
            <a:off x="5788152" y="4553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2628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BOOST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55138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|zⁿ| = |z|ⁿ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138160" y="4343400"/>
            <a:ext cx="34747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88900" dist="25400" dir="5400000">
              <a:srgbClr val="9FB1E8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82912" y="4553712"/>
            <a:ext cx="585216" cy="585216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3" name="Text 31"/>
          <p:cNvSpPr/>
          <p:nvPr/>
        </p:nvSpPr>
        <p:spPr>
          <a:xfrm>
            <a:off x="9582912" y="4553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2104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BEAM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55138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Re(z), Im(z) ≤ |z|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4D7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It: Find |z|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77840" cy="594360"/>
          </a:xfrm>
          <a:prstGeom prst="roundRect">
            <a:avLst>
              <a:gd name="adj" fmla="val 18462"/>
            </a:avLst>
          </a:prstGeom>
          <a:solidFill>
            <a:srgbClr val="0D1B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Given: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3 + 4i   — find |z|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5778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706624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706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X AND 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3,   y = 4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55778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694176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6941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59359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38679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√(x² + y²)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55778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68172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681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58114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&amp; SIMPLIFY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4855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√(3² + 4²) = √25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477256"/>
            <a:ext cx="55778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669280"/>
            <a:ext cx="512064" cy="512064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5669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56869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63040" y="58430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5    →  +50 XP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37960" y="1737360"/>
            <a:ext cx="507492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3F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1E8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52360" y="5074920"/>
            <a:ext cx="3291840" cy="0"/>
          </a:xfrm>
          <a:prstGeom prst="line">
            <a:avLst/>
          </a:prstGeom>
          <a:noFill/>
          <a:ln w="19050">
            <a:solidFill>
              <a:srgbClr val="B9C3E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7452360" y="1965960"/>
            <a:ext cx="0" cy="3108960"/>
          </a:xfrm>
          <a:prstGeom prst="line">
            <a:avLst/>
          </a:prstGeom>
          <a:noFill/>
          <a:ln w="19050">
            <a:solidFill>
              <a:srgbClr val="B9C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52760" y="4965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5074920"/>
            <a:ext cx="1591056" cy="0"/>
          </a:xfrm>
          <a:prstGeom prst="line">
            <a:avLst/>
          </a:prstGeom>
          <a:noFill/>
          <a:ln w="31750">
            <a:solidFill>
              <a:srgbClr val="00D9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43416" y="2953512"/>
            <a:ext cx="0" cy="2121408"/>
          </a:xfrm>
          <a:prstGeom prst="line">
            <a:avLst/>
          </a:prstGeom>
          <a:noFill/>
          <a:ln w="31750">
            <a:solidFill>
              <a:srgbClr val="FF4D7D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7452360" y="2953512"/>
            <a:ext cx="1591056" cy="2121408"/>
          </a:xfrm>
          <a:prstGeom prst="line">
            <a:avLst/>
          </a:prstGeom>
          <a:noFill/>
          <a:ln w="44450">
            <a:solidFill>
              <a:srgbClr val="FFD2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5029200"/>
            <a:ext cx="91440" cy="91440"/>
          </a:xfrm>
          <a:prstGeom prst="ellipse">
            <a:avLst/>
          </a:prstGeom>
          <a:solidFill>
            <a:srgbClr val="0D1B4C"/>
          </a:solidFill>
          <a:ln/>
        </p:spPr>
      </p:sp>
      <p:sp>
        <p:nvSpPr>
          <p:cNvPr id="36" name="Shape 34"/>
          <p:cNvSpPr/>
          <p:nvPr/>
        </p:nvSpPr>
        <p:spPr>
          <a:xfrm>
            <a:off x="8979408" y="2889504"/>
            <a:ext cx="128016" cy="128016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77656" y="2569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 + 4i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73568" y="5148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16568" y="3877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2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62088" y="39684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12280" y="5349240"/>
            <a:ext cx="4526280" cy="548640"/>
          </a:xfrm>
          <a:prstGeom prst="roundRect">
            <a:avLst>
              <a:gd name="adj" fmla="val 50000"/>
            </a:avLst>
          </a:prstGeom>
          <a:solidFill>
            <a:srgbClr val="0D1B4C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53492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3–4–5 right triangle!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" y="70866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19688" y="795528"/>
            <a:ext cx="54864" cy="54864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94592" y="2176272"/>
            <a:ext cx="36576" cy="36576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99339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6012180"/>
            <a:ext cx="45720" cy="45720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5916168"/>
            <a:ext cx="54864" cy="54864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10512" y="6291072"/>
            <a:ext cx="36576" cy="36576"/>
          </a:xfrm>
          <a:prstGeom prst="ellipse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74352" y="530352"/>
            <a:ext cx="36576" cy="36576"/>
          </a:xfrm>
          <a:prstGeom prst="ellipse">
            <a:avLst/>
          </a:prstGeom>
          <a:solidFill>
            <a:srgbClr val="FFD23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7548" y="667512"/>
            <a:ext cx="1133856" cy="1133856"/>
          </a:xfrm>
          <a:prstGeom prst="ellipse">
            <a:avLst/>
          </a:prstGeom>
          <a:solidFill>
            <a:srgbClr val="13215E"/>
          </a:solidFill>
          <a:ln/>
        </p:spPr>
      </p:sp>
      <p:sp>
        <p:nvSpPr>
          <p:cNvPr id="11" name="Shape 9"/>
          <p:cNvSpPr/>
          <p:nvPr/>
        </p:nvSpPr>
        <p:spPr>
          <a:xfrm>
            <a:off x="5710428" y="850392"/>
            <a:ext cx="768096" cy="768096"/>
          </a:xfrm>
          <a:prstGeom prst="star5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96596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COMPLETE!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mastered the Modulus of a Complex Number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33856" y="3246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16286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 = √(x²+y²)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39896" y="324612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6286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3246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|z|² = z·z̄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0176" y="3246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16286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176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 Inequality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86216" y="32461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16286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6216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|z₁z₂| = |z₁||z₂|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36876" y="4160520"/>
            <a:ext cx="7315200" cy="1600200"/>
          </a:xfrm>
          <a:prstGeom prst="roundRect">
            <a:avLst>
              <a:gd name="adj" fmla="val 9143"/>
            </a:avLst>
          </a:prstGeom>
          <a:solidFill>
            <a:srgbClr val="0F1C52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3434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6634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|z| for z = 6 + 8i.  Can you level up to Level 2?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·  CHAPTER 2  ·  COMPLEX NUMBERS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2026-08-22T07:58:20Z</dcterms:created>
  <dcterms:modified xsi:type="dcterms:W3CDTF">2026-08-22T07:58:20Z</dcterms:modified>
</cp:coreProperties>
</file>