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6C3CE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291840" cy="3291840"/>
          </a:xfrm>
          <a:prstGeom prst="ellipse">
            <a:avLst/>
          </a:prstGeom>
          <a:solidFill>
            <a:srgbClr val="FF5D7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· 4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3716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BRIEFING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783080"/>
            <a:ext cx="86868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Conjugate of a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Complex Number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CD5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complex number has a mirror twin across the real axis. In this quest you'll learn to find it, prove its properties, and use it to conquer division problems.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5120640"/>
            <a:ext cx="1056132" cy="45720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120640"/>
            <a:ext cx="10561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80260" y="5120640"/>
            <a:ext cx="1161288" cy="457200"/>
          </a:xfrm>
          <a:prstGeom prst="roundRect">
            <a:avLst>
              <a:gd name="adj" fmla="val 50000"/>
            </a:avLst>
          </a:prstGeom>
          <a:solidFill>
            <a:srgbClr val="3E2D8F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80260" y="5120640"/>
            <a:ext cx="1161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2716" y="512064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E2D8F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2716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Sum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15484" y="5120640"/>
            <a:ext cx="1581912" cy="457200"/>
          </a:xfrm>
          <a:prstGeom prst="roundRect">
            <a:avLst>
              <a:gd name="adj" fmla="val 50000"/>
            </a:avLst>
          </a:prstGeom>
          <a:solidFill>
            <a:srgbClr val="3E2D8F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5484" y="5120640"/>
            <a:ext cx="1581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Quest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98564" y="5120640"/>
            <a:ext cx="1792224" cy="457200"/>
          </a:xfrm>
          <a:prstGeom prst="roundRect">
            <a:avLst>
              <a:gd name="adj" fmla="val 50000"/>
            </a:avLst>
          </a:prstGeom>
          <a:solidFill>
            <a:srgbClr val="3E2D8F"/>
          </a:solidFill>
          <a:ln w="12700">
            <a:solidFill>
              <a:srgbClr val="6C3C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8564" y="5120640"/>
            <a:ext cx="17922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F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Challenge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•  CHAPTER 2  •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6C3CE1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6C3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CONJUGATE?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914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Concept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64008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27000" dist="38100" dir="5400000">
              <a:srgbClr val="2D1B69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1920240"/>
            <a:ext cx="5760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6C3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  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conjugate of x + iy is x − iy.  Simply flip the sign of i.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246120"/>
            <a:ext cx="310896" cy="310896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2461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317296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conjugate of z is written z̄ (read "z bar").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310896" cy="310896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11480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404164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meaning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z̄ is the mirror image of z, reflected across the real axis.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83480"/>
            <a:ext cx="310896" cy="310896"/>
          </a:xfrm>
          <a:prstGeom prst="ellipse">
            <a:avLst/>
          </a:prstGeom>
          <a:solidFill>
            <a:srgbClr val="6C3CE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9834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4910328"/>
            <a:ext cx="58521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Superpower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multiplied by z̄ always gives a real number — useful for division!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897880"/>
            <a:ext cx="6400800" cy="640080"/>
          </a:xfrm>
          <a:prstGeom prst="roundRect">
            <a:avLst>
              <a:gd name="adj" fmla="val 17143"/>
            </a:avLst>
          </a:prstGeom>
          <a:solidFill>
            <a:srgbClr val="EFE9FB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5897880"/>
            <a:ext cx="5852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3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4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2 − 5i  →  z̄ = 2 + 5i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360920" y="1783080"/>
            <a:ext cx="4251960" cy="4434840"/>
          </a:xfrm>
          <a:prstGeom prst="roundRect">
            <a:avLst>
              <a:gd name="adj" fmla="val 3441"/>
            </a:avLst>
          </a:prstGeom>
          <a:solidFill>
            <a:srgbClr val="2D1B69"/>
          </a:solidFill>
          <a:ln/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35240" y="20116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LIKE...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635240" y="237744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pond reflection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772400" y="4160520"/>
            <a:ext cx="3657600" cy="0"/>
          </a:xfrm>
          <a:prstGeom prst="line">
            <a:avLst/>
          </a:prstGeom>
          <a:noFill/>
          <a:ln w="31750">
            <a:solidFill>
              <a:srgbClr val="FFC9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3291840"/>
            <a:ext cx="292608" cy="292608"/>
          </a:xfrm>
          <a:prstGeom prst="ellipse">
            <a:avLst/>
          </a:prstGeom>
          <a:solidFill>
            <a:srgbClr val="FFC93C"/>
          </a:solidFill>
          <a:ln/>
        </p:spPr>
      </p:sp>
      <p:sp>
        <p:nvSpPr>
          <p:cNvPr id="24" name="Shape 22"/>
          <p:cNvSpPr/>
          <p:nvPr/>
        </p:nvSpPr>
        <p:spPr>
          <a:xfrm>
            <a:off x="9052560" y="4480560"/>
            <a:ext cx="292608" cy="292608"/>
          </a:xfrm>
          <a:prstGeom prst="ellipse">
            <a:avLst/>
          </a:prstGeom>
          <a:solidFill>
            <a:srgbClr val="FF5D73"/>
          </a:solidFill>
          <a:ln/>
        </p:spPr>
      </p:sp>
      <p:sp>
        <p:nvSpPr>
          <p:cNvPr id="25" name="Shape 23"/>
          <p:cNvSpPr/>
          <p:nvPr/>
        </p:nvSpPr>
        <p:spPr>
          <a:xfrm>
            <a:off x="9198864" y="3584448"/>
            <a:ext cx="0" cy="896112"/>
          </a:xfrm>
          <a:prstGeom prst="line">
            <a:avLst/>
          </a:prstGeom>
          <a:noFill/>
          <a:ln w="19050">
            <a:solidFill>
              <a:srgbClr val="9E90CF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946404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46404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D7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72400" y="4251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FC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axis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635240" y="525780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distance from the real axis — one above, one below.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•  CHAPTER 2  •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5D73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5D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YOUR POWER-UPS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868680"/>
            <a:ext cx="9144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Properties of Conjugates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819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C3CE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27685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conj( z1 + z2 ) =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z̄1 + z̄2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852928" y="1691640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0088" y="1819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5D73"/>
          </a:solidFill>
          <a:ln/>
        </p:spPr>
      </p:sp>
      <p:sp>
        <p:nvSpPr>
          <p:cNvPr id="13" name="Text 11"/>
          <p:cNvSpPr/>
          <p:nvPr/>
        </p:nvSpPr>
        <p:spPr>
          <a:xfrm>
            <a:off x="2990088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90088" y="227685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conj( z1 − z2 ) =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990088" y="2606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z̄1 − z̄2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157216" y="1691640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94376" y="1819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C93C"/>
          </a:solidFill>
          <a:ln/>
        </p:spPr>
      </p:sp>
      <p:sp>
        <p:nvSpPr>
          <p:cNvPr id="18" name="Text 16"/>
          <p:cNvSpPr/>
          <p:nvPr/>
        </p:nvSpPr>
        <p:spPr>
          <a:xfrm>
            <a:off x="5294376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294376" y="227685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conj( z1 · z2 ) =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94376" y="2606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z̄1 · z̄2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7461504" y="1691640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598664" y="1819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D1B69"/>
          </a:solidFill>
          <a:ln/>
        </p:spPr>
      </p:sp>
      <p:sp>
        <p:nvSpPr>
          <p:cNvPr id="23" name="Text 21"/>
          <p:cNvSpPr/>
          <p:nvPr/>
        </p:nvSpPr>
        <p:spPr>
          <a:xfrm>
            <a:off x="7598664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98664" y="227685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conj( z1 / z2 ) =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7598664" y="2606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z̄1 / z̄2   (z2 ≠ 0)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9765792" y="1691640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902952" y="181965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C3CE1"/>
          </a:solidFill>
          <a:ln/>
        </p:spPr>
      </p:sp>
      <p:sp>
        <p:nvSpPr>
          <p:cNvPr id="28" name="Text 26"/>
          <p:cNvSpPr/>
          <p:nvPr/>
        </p:nvSpPr>
        <p:spPr>
          <a:xfrm>
            <a:off x="9902952" y="18196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902952" y="2276856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Re(z) =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902952" y="2606040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(z + z̄) / 2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548640" y="3355848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85800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5D73"/>
          </a:solidFill>
          <a:ln/>
        </p:spPr>
      </p:sp>
      <p:sp>
        <p:nvSpPr>
          <p:cNvPr id="33" name="Text 31"/>
          <p:cNvSpPr/>
          <p:nvPr/>
        </p:nvSpPr>
        <p:spPr>
          <a:xfrm>
            <a:off x="685800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85800" y="394106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Im(z) =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5800" y="427024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(z − z̄) / 2i</a:t>
            </a:r>
            <a:endParaRPr lang="en-US" sz="1550" dirty="0"/>
          </a:p>
        </p:txBody>
      </p:sp>
      <p:sp>
        <p:nvSpPr>
          <p:cNvPr id="36" name="Shape 34"/>
          <p:cNvSpPr/>
          <p:nvPr/>
        </p:nvSpPr>
        <p:spPr>
          <a:xfrm>
            <a:off x="2852928" y="3355848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990088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C93C"/>
          </a:solidFill>
          <a:ln/>
        </p:spPr>
      </p:sp>
      <p:sp>
        <p:nvSpPr>
          <p:cNvPr id="38" name="Text 36"/>
          <p:cNvSpPr/>
          <p:nvPr/>
        </p:nvSpPr>
        <p:spPr>
          <a:xfrm>
            <a:off x="2990088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990088" y="394106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conj( zⁿ ) =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2990088" y="427024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(z̄)ⁿ</a:t>
            </a:r>
            <a:endParaRPr lang="en-US" sz="1550" dirty="0"/>
          </a:p>
        </p:txBody>
      </p:sp>
      <p:sp>
        <p:nvSpPr>
          <p:cNvPr id="41" name="Shape 39"/>
          <p:cNvSpPr/>
          <p:nvPr/>
        </p:nvSpPr>
        <p:spPr>
          <a:xfrm>
            <a:off x="5157216" y="3355848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294376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2D1B69"/>
          </a:solidFill>
          <a:ln/>
        </p:spPr>
      </p:sp>
      <p:sp>
        <p:nvSpPr>
          <p:cNvPr id="43" name="Text 41"/>
          <p:cNvSpPr/>
          <p:nvPr/>
        </p:nvSpPr>
        <p:spPr>
          <a:xfrm>
            <a:off x="5294376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294376" y="394106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real ⇔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94376" y="427024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 = z̄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7461504" y="3355848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7598664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C3CE1"/>
          </a:solidFill>
          <a:ln/>
        </p:spPr>
      </p:sp>
      <p:sp>
        <p:nvSpPr>
          <p:cNvPr id="48" name="Text 46"/>
          <p:cNvSpPr/>
          <p:nvPr/>
        </p:nvSpPr>
        <p:spPr>
          <a:xfrm>
            <a:off x="7598664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7598664" y="394106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is imaginary ⇔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7598664" y="427024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 = −z̄</a:t>
            </a:r>
            <a:endParaRPr lang="en-US" sz="1550" dirty="0"/>
          </a:p>
        </p:txBody>
      </p:sp>
      <p:sp>
        <p:nvSpPr>
          <p:cNvPr id="51" name="Shape 49"/>
          <p:cNvSpPr/>
          <p:nvPr/>
        </p:nvSpPr>
        <p:spPr>
          <a:xfrm>
            <a:off x="9765792" y="3355848"/>
            <a:ext cx="2157984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101600" dist="38100" dir="5400000">
              <a:srgbClr val="2D1B69">
                <a:alpha val="14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9902952" y="34838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5D73"/>
          </a:solidFill>
          <a:ln/>
        </p:spPr>
      </p:sp>
      <p:sp>
        <p:nvSpPr>
          <p:cNvPr id="53" name="Text 51"/>
          <p:cNvSpPr/>
          <p:nvPr/>
        </p:nvSpPr>
        <p:spPr>
          <a:xfrm>
            <a:off x="9902952" y="34838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9902952" y="3941064"/>
            <a:ext cx="1883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conj( z̄ ) =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9902952" y="4270248"/>
            <a:ext cx="188366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548640" y="5129784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properties 1–4 and 7 hold for sums, products, quotients and powers — conjugation "distributes" through every basic operation.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•  CHAPTER 2  •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502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486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19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THE QUEST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9144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Worked Example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822960"/>
          </a:xfrm>
          <a:prstGeom prst="roundRect">
            <a:avLst>
              <a:gd name="adj" fmla="val 15556"/>
            </a:avLst>
          </a:prstGeom>
          <a:solidFill>
            <a:srgbClr val="2D1B6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91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z = 4 + 7i, find z̄ and verify that  Re(z) = (z + z̄) / 2.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6720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76200" dist="25400" dir="5400000">
              <a:srgbClr val="2D1B69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13232" y="2944368"/>
            <a:ext cx="457200" cy="457200"/>
          </a:xfrm>
          <a:prstGeom prst="ellipse">
            <a:avLst/>
          </a:prstGeom>
          <a:solidFill>
            <a:srgbClr val="6C3CE1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3232" y="29443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834640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Find the conjugate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3182112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sign of i:   z = 4 + 7i   →   z̄ = 4 − 7i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950208"/>
            <a:ext cx="6720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76200" dist="25400" dir="5400000">
              <a:srgbClr val="2D1B69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4151376"/>
            <a:ext cx="457200" cy="457200"/>
          </a:xfrm>
          <a:prstGeom prst="ellipse">
            <a:avLst/>
          </a:prstGeom>
          <a:solidFill>
            <a:srgbClr val="FF5D73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41513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0416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Add z and z̄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43891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+ z̄ = (4 + 7i) + (4 − 7i) = 8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5157216"/>
            <a:ext cx="672084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E4DEF4"/>
            </a:solidFill>
            <a:prstDash val="solid"/>
          </a:ln>
          <a:effectLst>
            <a:outerShdw sx="100000" sy="100000" kx="0" ky="0" algn="bl" rotWithShape="0" blurRad="76200" dist="25400" dir="5400000">
              <a:srgbClr val="2D1B69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" y="5358384"/>
            <a:ext cx="457200" cy="457200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13232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5248656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Divide by 2 and compare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5596128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 + z̄)/2 = 8/2 = 4 = Re(z)  ✓  Verified!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543800" y="2743200"/>
            <a:ext cx="4069080" cy="3630168"/>
          </a:xfrm>
          <a:prstGeom prst="roundRect">
            <a:avLst>
              <a:gd name="adj" fmla="val 4030"/>
            </a:avLst>
          </a:prstGeom>
          <a:solidFill>
            <a:srgbClr val="1FA97A"/>
          </a:solidFill>
          <a:ln/>
          <a:effectLst>
            <a:outerShdw sx="100000" sy="100000" kx="0" ky="0" algn="bl" rotWithShape="0" blurRad="127000" dist="38100" dir="5400000">
              <a:srgbClr val="1A103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06840" y="3063240"/>
            <a:ext cx="1143000" cy="11430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9006840" y="3063240"/>
            <a:ext cx="11430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A97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✓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7726680" y="4343400"/>
            <a:ext cx="3703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 COMPLETE!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26680" y="4754880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FFF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+10 XP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726680" y="53492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z̄ = 4 − 7i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7726680" y="5806440"/>
            <a:ext cx="3703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FF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Re(z) confirmed equal on both sides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•  CHAPTER 2  •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FC93C"/>
          </a:solidFill>
          <a:ln/>
          <a:effectLst>
            <a:outerShdw sx="100000" sy="100000" kx="0" ky="0" algn="bl" rotWithShape="0" blurRad="101600" dist="38100" dir="5400000">
              <a:srgbClr val="1A1030">
                <a:alpha val="3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1B6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C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MIRROR REALM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8686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Geometric Picture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172200" y="1280160"/>
            <a:ext cx="5532120" cy="5257800"/>
          </a:xfrm>
          <a:prstGeom prst="roundRect">
            <a:avLst>
              <a:gd name="adj" fmla="val 2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pic>
        <p:nvPicPr>
          <p:cNvPr id="7" name="Image 0" descr="/home/claude/microcontent/argand_refl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417320"/>
            <a:ext cx="5166360" cy="49834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173736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6C3CE1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169164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z = 4 + 7i as an arrow from the origin.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5D73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97280" y="265176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conjugate z̄ = 4 − 7i sits the same distance below the real axis.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548640" y="365760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FFC93C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97280" y="361188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axis acts like a mirror — reflecting z straight down to z̄.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3E2D8F"/>
          </a:solidFill>
          <a:ln/>
        </p:spPr>
      </p:sp>
      <p:sp>
        <p:nvSpPr>
          <p:cNvPr id="18" name="Text 15"/>
          <p:cNvSpPr/>
          <p:nvPr/>
        </p:nvSpPr>
        <p:spPr>
          <a:xfrm>
            <a:off x="54864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97280" y="457200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points always share the same real part.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•  CHAPTER 2  •  COMPLEX NUMBERS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D1B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6C3CE1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-1463040"/>
            <a:ext cx="3474720" cy="3474720"/>
          </a:xfrm>
          <a:prstGeom prst="ellipse">
            <a:avLst/>
          </a:prstGeom>
          <a:solidFill>
            <a:srgbClr val="FF5D73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68580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FFC9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D1B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COMPLETE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12344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Recap &amp; Boss Challenge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822960" y="2148840"/>
            <a:ext cx="3429000" cy="1508760"/>
          </a:xfrm>
          <a:prstGeom prst="roundRect">
            <a:avLst>
              <a:gd name="adj" fmla="val 8485"/>
            </a:avLst>
          </a:prstGeom>
          <a:solidFill>
            <a:srgbClr val="3E2D8F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Definition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sign of i: x+iy → x−iy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429000" cy="1508760"/>
          </a:xfrm>
          <a:prstGeom prst="roundRect">
            <a:avLst>
              <a:gd name="adj" fmla="val 8485"/>
            </a:avLst>
          </a:prstGeom>
          <a:solidFill>
            <a:srgbClr val="3E2D8F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Geometry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26974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z̄ is the reflection of z across the real axis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046720" y="2148840"/>
            <a:ext cx="3429000" cy="1508760"/>
          </a:xfrm>
          <a:prstGeom prst="roundRect">
            <a:avLst>
              <a:gd name="adj" fmla="val 8485"/>
            </a:avLst>
          </a:prstGeom>
          <a:solidFill>
            <a:srgbClr val="3E2D8F"/>
          </a:solidFill>
          <a:ln/>
        </p:spPr>
      </p:sp>
      <p:sp>
        <p:nvSpPr>
          <p:cNvPr id="14" name="Text 12"/>
          <p:cNvSpPr/>
          <p:nvPr/>
        </p:nvSpPr>
        <p:spPr>
          <a:xfrm>
            <a:off x="8275320" y="231343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9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 Properties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269748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3DB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Conjugation distributes over +, −, ×, ÷, powers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10561320" cy="21945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103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51560" y="4206240"/>
            <a:ext cx="1737360" cy="457200"/>
          </a:xfrm>
          <a:prstGeom prst="roundRect">
            <a:avLst>
              <a:gd name="adj" fmla="val 50000"/>
            </a:avLst>
          </a:prstGeom>
          <a:solidFill>
            <a:srgbClr val="FF5D73"/>
          </a:solidFill>
          <a:ln/>
        </p:spPr>
      </p:sp>
      <p:sp>
        <p:nvSpPr>
          <p:cNvPr id="18" name="Text 16"/>
          <p:cNvSpPr/>
          <p:nvPr/>
        </p:nvSpPr>
        <p:spPr>
          <a:xfrm>
            <a:off x="1051560" y="420624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BOSS CHALLENGE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1560" y="4754880"/>
            <a:ext cx="9966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B21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z̄ for  z = −6 + 2i,  then check whether z is purely imaginary.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51560" y="530352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C3C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 </a:t>
            </a:r>
            <a:pPr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7B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sign of i for the conjugate, then use property 9 — z is purely imaginary if and only if z = −z̄.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9A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XII MATHEMATICS  •  CHAPTER 2  •  COMPLEX NUMBERS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2026-08-22T07:02:47Z</dcterms:created>
  <dcterms:modified xsi:type="dcterms:W3CDTF">2026-08-22T07:02:47Z</dcterms:modified>
</cp:coreProperties>
</file>