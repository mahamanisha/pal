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today's micro-lesson on the geometry of complex numbers. Introduce the topic: we will discover how a simple distance condition, |z minus z-naught| equals r, describes a circle on the Argand plane. Point to the moving point z and the fixed centre z-naught on the diagram, and tell students that by the end of this short lesson they will be able to read, derive, and apply this equation confidently.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three goals for today, then define a locus simply: it is the path a point traces while obeying one condition. Introduce the key visual idea for the lesson — if a point always stays the same distance from a fixed point, the path it traces is a circle. Point to the fixed centre z-naught, the moving point z, and the faint trail showing z's earlier positions as it sweeps around at a constant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notation: z equals x plus iy is the moving point, z-naught equals a plus ib is the fixed centre. Reveal the central formula, modulus of z minus z-naught equals r, and walk through what each symbol means. Then extend the idea: if the distance is less than r the point lies inside the circle, and if it is greater than r it lies outside — point to the interior point marked on the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that the complex-number equation and the familiar Cartesian equation of a circle are the same idea in two notations. Substitute z equals x plus iy and z-naught equals a plus ib into the modulus equation, then recall that the modulus gives a square-root-of-sum-of-squares expression. Squaring both sides gives the standard Cartesian circle equation, which many students already know from coordinate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both examples together. On the left, students match the given equation against the standard form to read off the centre 2, 3 and radius 5. On the right, they go the other way — building the equation from a given centre 3 plus 2i and radius 4 by substituting directly into modulus of z minus z-naught equals r. Highlight both boxed answers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students test whether a specific point satisfies the circle's equation: calculate the distance step by step, arrive at the square root of 13, and conclude the point does not lie on the circle since that is not equal to 4. On the right, remind students to rewrite the equation into standard form first, changing the plus sign to a minus sign inside the modulus, before reading off the centre negative 2, 3 and radius 6. This rewriting step is the most common place marks are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revision card as a rapid recap, reading each line aloud with the class. Then pose the quick-check question: the equation already matches the standard form directly, so z-naught equals 2 plus i gives centre 2, 1, and r equals 3 — option B. Briefly explain why A is wrong, since this equation describes a fixed distance rather than a straight line, and why C incorrectly swaps the centre's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lesson with the single big idea to remember: a fixed distance from a fixed point always traces a circle, written compactly as the modulus of z minus z-naught equals r. Remind students that z-naught is the centre and r is the radius, and that everything else today — the Cartesian form, the worked examples, the quick check — was simply this one idea applied in different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417320"/>
            <a:ext cx="7315200" cy="365760"/>
          </a:xfrm>
          <a:prstGeom prst="rect">
            <a:avLst/>
          </a:prstGeom>
          <a:noFill/>
          <a:ln/>
        </p:spPr>
        <p:txBody>
          <a:bodyPr wrap="square" rtlCol="0" anchor="ctr"/>
          <a:lstStyle/>
          <a:p>
            <a:pPr indent="0" marL="0">
              <a:buNone/>
            </a:pPr>
            <a:r>
              <a:rPr lang="en-US" sz="1400" b="1" spc="200" kern="0" dirty="0">
                <a:solidFill>
                  <a:srgbClr val="D99A3D"/>
                </a:solidFill>
                <a:latin typeface="Calibri" pitchFamily="34" charset="0"/>
                <a:ea typeface="Calibri" pitchFamily="34" charset="-122"/>
                <a:cs typeface="Calibri" pitchFamily="34" charset="-120"/>
              </a:rPr>
              <a:t>CLASS 12  •  MATHEMATICS  •  COMPLEX NUMBERS</a:t>
            </a:r>
            <a:endParaRPr lang="en-US" sz="1400" dirty="0"/>
          </a:p>
        </p:txBody>
      </p:sp>
      <p:sp>
        <p:nvSpPr>
          <p:cNvPr id="3" name="Text 1"/>
          <p:cNvSpPr/>
          <p:nvPr/>
        </p:nvSpPr>
        <p:spPr>
          <a:xfrm>
            <a:off x="777240" y="1828800"/>
            <a:ext cx="749808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Geometry and Locus</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of Complex Numbers</a:t>
            </a:r>
            <a:endParaRPr lang="en-US" sz="4400" dirty="0"/>
          </a:p>
        </p:txBody>
      </p:sp>
      <p:sp>
        <p:nvSpPr>
          <p:cNvPr id="4" name="Text 2"/>
          <p:cNvSpPr/>
          <p:nvPr/>
        </p:nvSpPr>
        <p:spPr>
          <a:xfrm>
            <a:off x="822960" y="3611880"/>
            <a:ext cx="6949440" cy="502920"/>
          </a:xfrm>
          <a:prstGeom prst="rect">
            <a:avLst/>
          </a:prstGeom>
          <a:noFill/>
          <a:ln/>
        </p:spPr>
        <p:txBody>
          <a:bodyPr wrap="square" rtlCol="0" anchor="ctr"/>
          <a:lstStyle/>
          <a:p>
            <a:pPr indent="0" marL="0">
              <a:buNone/>
            </a:pPr>
            <a:r>
              <a:rPr lang="en-US" sz="1900" i="1" dirty="0">
                <a:solidFill>
                  <a:srgbClr val="C9D6EA"/>
                </a:solidFill>
                <a:latin typeface="Calibri" pitchFamily="34" charset="0"/>
                <a:ea typeface="Calibri" pitchFamily="34" charset="-122"/>
                <a:cs typeface="Calibri" pitchFamily="34" charset="-120"/>
              </a:rPr>
              <a:t>Equation of a Circle in Complex Form</a:t>
            </a:r>
            <a:endParaRPr lang="en-US" sz="1900" dirty="0"/>
          </a:p>
        </p:txBody>
      </p:sp>
      <p:sp>
        <p:nvSpPr>
          <p:cNvPr id="5" name="Shape 3"/>
          <p:cNvSpPr/>
          <p:nvPr/>
        </p:nvSpPr>
        <p:spPr>
          <a:xfrm>
            <a:off x="8683142" y="4820717"/>
            <a:ext cx="2830982" cy="0"/>
          </a:xfrm>
          <a:prstGeom prst="line">
            <a:avLst/>
          </a:prstGeom>
          <a:noFill/>
          <a:ln w="19050">
            <a:solidFill>
              <a:srgbClr val="9AA9C2"/>
            </a:solidFill>
            <a:prstDash val="solid"/>
            <a:tailEnd type="triangle"/>
          </a:ln>
        </p:spPr>
      </p:sp>
      <p:sp>
        <p:nvSpPr>
          <p:cNvPr id="6" name="Shape 4"/>
          <p:cNvSpPr/>
          <p:nvPr/>
        </p:nvSpPr>
        <p:spPr>
          <a:xfrm flipV="1">
            <a:off x="8683142" y="1960474"/>
            <a:ext cx="0" cy="2860243"/>
          </a:xfrm>
          <a:prstGeom prst="line">
            <a:avLst/>
          </a:prstGeom>
          <a:noFill/>
          <a:ln w="19050">
            <a:solidFill>
              <a:srgbClr val="9AA9C2"/>
            </a:solidFill>
            <a:prstDash val="solid"/>
            <a:headEnd type="none"/>
            <a:tailEnd type="triangle"/>
          </a:ln>
        </p:spPr>
      </p:sp>
      <p:sp>
        <p:nvSpPr>
          <p:cNvPr id="7" name="Text 5"/>
          <p:cNvSpPr/>
          <p:nvPr/>
        </p:nvSpPr>
        <p:spPr>
          <a:xfrm>
            <a:off x="11468405" y="4957877"/>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8" name="Text 6"/>
          <p:cNvSpPr/>
          <p:nvPr/>
        </p:nvSpPr>
        <p:spPr>
          <a:xfrm>
            <a:off x="8390534" y="1869034"/>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9" name="Shape 7"/>
          <p:cNvSpPr/>
          <p:nvPr/>
        </p:nvSpPr>
        <p:spPr>
          <a:xfrm>
            <a:off x="9037015" y="2110435"/>
            <a:ext cx="1887322" cy="1887322"/>
          </a:xfrm>
          <a:prstGeom prst="ellipse">
            <a:avLst/>
          </a:prstGeom>
          <a:ln w="28575">
            <a:solidFill>
              <a:srgbClr val="1E3A5F"/>
            </a:solidFill>
            <a:prstDash val="dash"/>
          </a:ln>
        </p:spPr>
      </p:sp>
      <p:sp>
        <p:nvSpPr>
          <p:cNvPr id="10" name="Shape 8"/>
          <p:cNvSpPr/>
          <p:nvPr/>
        </p:nvSpPr>
        <p:spPr>
          <a:xfrm>
            <a:off x="9048205" y="3331127"/>
            <a:ext cx="91440" cy="91440"/>
          </a:xfrm>
          <a:prstGeom prst="ellipse">
            <a:avLst/>
          </a:prstGeom>
          <a:solidFill>
            <a:srgbClr val="1E3A5F">
              <a:alpha val="30000"/>
            </a:srgbClr>
          </a:solidFill>
          <a:ln/>
        </p:spPr>
      </p:sp>
      <p:sp>
        <p:nvSpPr>
          <p:cNvPr id="11" name="Shape 9"/>
          <p:cNvSpPr/>
          <p:nvPr/>
        </p:nvSpPr>
        <p:spPr>
          <a:xfrm>
            <a:off x="9771091" y="3937700"/>
            <a:ext cx="91440" cy="91440"/>
          </a:xfrm>
          <a:prstGeom prst="ellipse">
            <a:avLst/>
          </a:prstGeom>
          <a:solidFill>
            <a:srgbClr val="1E3A5F">
              <a:alpha val="30000"/>
            </a:srgbClr>
          </a:solidFill>
          <a:ln/>
        </p:spPr>
      </p:sp>
      <p:sp>
        <p:nvSpPr>
          <p:cNvPr id="12" name="Shape 10"/>
          <p:cNvSpPr/>
          <p:nvPr/>
        </p:nvSpPr>
        <p:spPr>
          <a:xfrm>
            <a:off x="10657842" y="3614949"/>
            <a:ext cx="91440" cy="91440"/>
          </a:xfrm>
          <a:prstGeom prst="ellipse">
            <a:avLst/>
          </a:prstGeom>
          <a:solidFill>
            <a:srgbClr val="1E3A5F">
              <a:alpha val="30000"/>
            </a:srgbClr>
          </a:solidFill>
          <a:ln/>
        </p:spPr>
      </p:sp>
      <p:sp>
        <p:nvSpPr>
          <p:cNvPr id="13" name="Shape 11"/>
          <p:cNvSpPr/>
          <p:nvPr/>
        </p:nvSpPr>
        <p:spPr>
          <a:xfrm>
            <a:off x="9912096" y="2985516"/>
            <a:ext cx="137160" cy="137160"/>
          </a:xfrm>
          <a:prstGeom prst="ellipse">
            <a:avLst/>
          </a:prstGeom>
          <a:solidFill>
            <a:srgbClr val="D99A3D"/>
          </a:solidFill>
          <a:ln w="19050">
            <a:solidFill>
              <a:srgbClr val="FFFFFF"/>
            </a:solidFill>
            <a:prstDash val="solid"/>
          </a:ln>
        </p:spPr>
      </p:sp>
      <p:sp>
        <p:nvSpPr>
          <p:cNvPr id="14" name="Text 12"/>
          <p:cNvSpPr/>
          <p:nvPr/>
        </p:nvSpPr>
        <p:spPr>
          <a:xfrm>
            <a:off x="9660636" y="3145536"/>
            <a:ext cx="128016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Math" pitchFamily="34" charset="0"/>
                <a:ea typeface="Cambria Math" pitchFamily="34" charset="-122"/>
                <a:cs typeface="Cambria Math" pitchFamily="34" charset="-120"/>
              </a:rPr>
              <a:t>z₀</a:t>
            </a:r>
            <a:endParaRPr lang="en-US" sz="1400" dirty="0"/>
          </a:p>
        </p:txBody>
      </p:sp>
      <p:sp>
        <p:nvSpPr>
          <p:cNvPr id="15" name="Shape 13"/>
          <p:cNvSpPr/>
          <p:nvPr/>
        </p:nvSpPr>
        <p:spPr>
          <a:xfrm flipV="1">
            <a:off x="9980676" y="2512834"/>
            <a:ext cx="773002" cy="541262"/>
          </a:xfrm>
          <a:prstGeom prst="line">
            <a:avLst/>
          </a:prstGeom>
          <a:noFill/>
          <a:ln w="25400">
            <a:solidFill>
              <a:srgbClr val="D99A3D"/>
            </a:solidFill>
            <a:prstDash val="dash"/>
          </a:ln>
        </p:spPr>
      </p:sp>
      <p:sp>
        <p:nvSpPr>
          <p:cNvPr id="16" name="Text 14"/>
          <p:cNvSpPr/>
          <p:nvPr/>
        </p:nvSpPr>
        <p:spPr>
          <a:xfrm>
            <a:off x="10422041" y="2490857"/>
            <a:ext cx="365760" cy="274320"/>
          </a:xfrm>
          <a:prstGeom prst="rect">
            <a:avLst/>
          </a:prstGeom>
          <a:noFill/>
          <a:ln/>
        </p:spPr>
        <p:txBody>
          <a:bodyPr wrap="square" lIns="0" tIns="0" rIns="0" bIns="0" rtlCol="0" anchor="ctr"/>
          <a:lstStyle/>
          <a:p>
            <a:pPr algn="l" indent="0" marL="0">
              <a:buNone/>
            </a:pPr>
            <a:r>
              <a:rPr lang="en-US" sz="1400" b="1" i="1" dirty="0">
                <a:solidFill>
                  <a:srgbClr val="D99A3D"/>
                </a:solidFill>
                <a:latin typeface="Cambria Math" pitchFamily="34" charset="0"/>
                <a:ea typeface="Cambria Math" pitchFamily="34" charset="-122"/>
                <a:cs typeface="Cambria Math" pitchFamily="34" charset="-120"/>
              </a:rPr>
              <a:t>r</a:t>
            </a:r>
            <a:endParaRPr lang="en-US" sz="1400" dirty="0"/>
          </a:p>
        </p:txBody>
      </p:sp>
      <p:sp>
        <p:nvSpPr>
          <p:cNvPr id="17" name="Shape 15"/>
          <p:cNvSpPr/>
          <p:nvPr/>
        </p:nvSpPr>
        <p:spPr>
          <a:xfrm>
            <a:off x="10685098" y="2444254"/>
            <a:ext cx="137160" cy="137160"/>
          </a:xfrm>
          <a:prstGeom prst="ellipse">
            <a:avLst/>
          </a:prstGeom>
          <a:solidFill>
            <a:srgbClr val="1E3A5F"/>
          </a:solidFill>
          <a:ln w="19050">
            <a:solidFill>
              <a:srgbClr val="FFFFFF"/>
            </a:solidFill>
            <a:prstDash val="solid"/>
          </a:ln>
        </p:spPr>
      </p:sp>
      <p:sp>
        <p:nvSpPr>
          <p:cNvPr id="18" name="Text 16"/>
          <p:cNvSpPr/>
          <p:nvPr/>
        </p:nvSpPr>
        <p:spPr>
          <a:xfrm>
            <a:off x="10845118" y="2220226"/>
            <a:ext cx="457200"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Math" pitchFamily="34" charset="0"/>
                <a:ea typeface="Cambria Math" pitchFamily="34" charset="-122"/>
                <a:cs typeface="Cambria Math" pitchFamily="34" charset="-120"/>
              </a:rPr>
              <a:t>z</a:t>
            </a:r>
            <a:endParaRPr lang="en-US" sz="1500" dirty="0"/>
          </a:p>
        </p:txBody>
      </p:sp>
      <p:sp>
        <p:nvSpPr>
          <p:cNvPr id="19" name="Text 17"/>
          <p:cNvSpPr/>
          <p:nvPr/>
        </p:nvSpPr>
        <p:spPr>
          <a:xfrm>
            <a:off x="7635240" y="5623560"/>
            <a:ext cx="4206240" cy="365760"/>
          </a:xfrm>
          <a:prstGeom prst="rect">
            <a:avLst/>
          </a:prstGeom>
          <a:noFill/>
          <a:ln/>
        </p:spPr>
        <p:txBody>
          <a:bodyPr wrap="square" rtlCol="0" anchor="ctr"/>
          <a:lstStyle/>
          <a:p>
            <a:pPr algn="ctr" indent="0" marL="0">
              <a:buNone/>
            </a:pPr>
            <a:r>
              <a:rPr lang="en-US" sz="1150" i="1" dirty="0">
                <a:solidFill>
                  <a:srgbClr val="9FB3D6"/>
                </a:solidFill>
                <a:latin typeface="Calibri" pitchFamily="34" charset="0"/>
                <a:ea typeface="Calibri" pitchFamily="34" charset="-122"/>
                <a:cs typeface="Calibri" pitchFamily="34" charset="-120"/>
              </a:rPr>
              <a:t>z traces a path of constant distance from z₀</a:t>
            </a:r>
            <a:endParaRPr lang="en-US" sz="1150" dirty="0"/>
          </a:p>
        </p:txBody>
      </p:sp>
      <p:sp>
        <p:nvSpPr>
          <p:cNvPr id="20" name="Text 18"/>
          <p:cNvSpPr/>
          <p:nvPr/>
        </p:nvSpPr>
        <p:spPr>
          <a:xfrm>
            <a:off x="822960" y="6080760"/>
            <a:ext cx="4572000" cy="365760"/>
          </a:xfrm>
          <a:prstGeom prst="rect">
            <a:avLst/>
          </a:prstGeom>
          <a:noFill/>
          <a:ln/>
        </p:spPr>
        <p:txBody>
          <a:bodyPr wrap="square" rtlCol="0" anchor="ctr"/>
          <a:lstStyle/>
          <a:p>
            <a:pPr indent="0" marL="0">
              <a:buNone/>
            </a:pPr>
            <a:r>
              <a:rPr lang="en-US" sz="1250" dirty="0">
                <a:solidFill>
                  <a:srgbClr val="8CA0C4"/>
                </a:solidFill>
                <a:latin typeface="Calibri" pitchFamily="34" charset="0"/>
                <a:ea typeface="Calibri" pitchFamily="34" charset="-122"/>
                <a:cs typeface="Calibri" pitchFamily="34" charset="-120"/>
              </a:rPr>
              <a:t>A Micro-Learning Lesson</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rtlCol="0" anchor="ctr"/>
          <a:lstStyle/>
          <a:p>
            <a:pPr algn="l" indent="0" marL="0">
              <a:buNone/>
            </a:pPr>
            <a:r>
              <a:rPr lang="en-US" sz="1250" b="1" spc="200" kern="0" dirty="0">
                <a:solidFill>
                  <a:srgbClr val="1E3A5F"/>
                </a:solidFill>
                <a:latin typeface="Calibri" pitchFamily="34" charset="0"/>
                <a:ea typeface="Calibri" pitchFamily="34" charset="-122"/>
                <a:cs typeface="Calibri" pitchFamily="34" charset="-120"/>
              </a:rPr>
              <a:t>WHERE WE'RE HEADED</a:t>
            </a:r>
            <a:endParaRPr lang="en-US" sz="125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algn="l" indent="0" marL="0">
              <a:buNone/>
            </a:pPr>
            <a:r>
              <a:rPr lang="en-US" sz="2600" b="1" dirty="0">
                <a:solidFill>
                  <a:srgbClr val="1B2A4A"/>
                </a:solidFill>
                <a:latin typeface="Cambria" pitchFamily="34" charset="0"/>
                <a:ea typeface="Cambria" pitchFamily="34" charset="-122"/>
                <a:cs typeface="Cambria" pitchFamily="34" charset="-120"/>
              </a:rPr>
              <a:t>Learning Objectives  —  What Is a Locus?</a:t>
            </a:r>
            <a:endParaRPr lang="en-US" sz="2600" dirty="0"/>
          </a:p>
        </p:txBody>
      </p:sp>
      <p:sp>
        <p:nvSpPr>
          <p:cNvPr id="4" name="Shape 2"/>
          <p:cNvSpPr/>
          <p:nvPr/>
        </p:nvSpPr>
        <p:spPr>
          <a:xfrm>
            <a:off x="548640" y="1600200"/>
            <a:ext cx="5760720" cy="658368"/>
          </a:xfrm>
          <a:prstGeom prst="roundRect">
            <a:avLst>
              <a:gd name="adj" fmla="val 11111"/>
            </a:avLst>
          </a:prstGeom>
          <a:solidFill>
            <a:srgbClr val="EEF3FA"/>
          </a:solidFill>
          <a:ln/>
        </p:spPr>
      </p:sp>
      <p:sp>
        <p:nvSpPr>
          <p:cNvPr id="5" name="Text 3"/>
          <p:cNvSpPr/>
          <p:nvPr/>
        </p:nvSpPr>
        <p:spPr>
          <a:xfrm>
            <a:off x="731520" y="1600200"/>
            <a:ext cx="457200" cy="658368"/>
          </a:xfrm>
          <a:prstGeom prst="rect">
            <a:avLst/>
          </a:prstGeom>
          <a:noFill/>
          <a:ln/>
        </p:spPr>
        <p:txBody>
          <a:bodyPr wrap="square" lIns="0" tIns="0" rIns="0" bIns="0" rtlCol="0" anchor="ctr"/>
          <a:lstStyle/>
          <a:p>
            <a:pPr indent="0" marL="0">
              <a:buNone/>
            </a:pPr>
            <a:r>
              <a:rPr lang="en-US" sz="1800" b="1" dirty="0">
                <a:solidFill>
                  <a:srgbClr val="D99A3D"/>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34440" y="1600200"/>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Understand the locus of a point moving in the complex plane.</a:t>
            </a:r>
            <a:endParaRPr lang="en-US" sz="1300" dirty="0"/>
          </a:p>
        </p:txBody>
      </p:sp>
      <p:sp>
        <p:nvSpPr>
          <p:cNvPr id="7" name="Shape 5"/>
          <p:cNvSpPr/>
          <p:nvPr/>
        </p:nvSpPr>
        <p:spPr>
          <a:xfrm>
            <a:off x="548640" y="2377440"/>
            <a:ext cx="5760720" cy="658368"/>
          </a:xfrm>
          <a:prstGeom prst="roundRect">
            <a:avLst>
              <a:gd name="adj" fmla="val 11111"/>
            </a:avLst>
          </a:prstGeom>
          <a:solidFill>
            <a:srgbClr val="EEF3FA"/>
          </a:solidFill>
          <a:ln/>
        </p:spPr>
      </p:sp>
      <p:sp>
        <p:nvSpPr>
          <p:cNvPr id="8" name="Text 6"/>
          <p:cNvSpPr/>
          <p:nvPr/>
        </p:nvSpPr>
        <p:spPr>
          <a:xfrm>
            <a:off x="731520" y="2377440"/>
            <a:ext cx="457200" cy="658368"/>
          </a:xfrm>
          <a:prstGeom prst="rect">
            <a:avLst/>
          </a:prstGeom>
          <a:noFill/>
          <a:ln/>
        </p:spPr>
        <p:txBody>
          <a:bodyPr wrap="square" lIns="0" tIns="0" rIns="0" bIns="0" rtlCol="0" anchor="ctr"/>
          <a:lstStyle/>
          <a:p>
            <a:pPr indent="0" marL="0">
              <a:buNone/>
            </a:pPr>
            <a:r>
              <a:rPr lang="en-US" sz="1800" b="1" dirty="0">
                <a:solidFill>
                  <a:srgbClr val="D99A3D"/>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234440" y="2377440"/>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Understand the equation of a circle in complex form, |z − z₀| = r.</a:t>
            </a:r>
            <a:endParaRPr lang="en-US" sz="1300" dirty="0"/>
          </a:p>
        </p:txBody>
      </p:sp>
      <p:sp>
        <p:nvSpPr>
          <p:cNvPr id="10" name="Shape 8"/>
          <p:cNvSpPr/>
          <p:nvPr/>
        </p:nvSpPr>
        <p:spPr>
          <a:xfrm>
            <a:off x="548640" y="3154680"/>
            <a:ext cx="5760720" cy="658368"/>
          </a:xfrm>
          <a:prstGeom prst="roundRect">
            <a:avLst>
              <a:gd name="adj" fmla="val 11111"/>
            </a:avLst>
          </a:prstGeom>
          <a:solidFill>
            <a:srgbClr val="EEF3FA"/>
          </a:solidFill>
          <a:ln/>
        </p:spPr>
      </p:sp>
      <p:sp>
        <p:nvSpPr>
          <p:cNvPr id="11" name="Text 9"/>
          <p:cNvSpPr/>
          <p:nvPr/>
        </p:nvSpPr>
        <p:spPr>
          <a:xfrm>
            <a:off x="731520" y="3154680"/>
            <a:ext cx="457200" cy="658368"/>
          </a:xfrm>
          <a:prstGeom prst="rect">
            <a:avLst/>
          </a:prstGeom>
          <a:noFill/>
          <a:ln/>
        </p:spPr>
        <p:txBody>
          <a:bodyPr wrap="square" lIns="0" tIns="0" rIns="0" bIns="0" rtlCol="0" anchor="ctr"/>
          <a:lstStyle/>
          <a:p>
            <a:pPr indent="0" marL="0">
              <a:buNone/>
            </a:pPr>
            <a:r>
              <a:rPr lang="en-US" sz="1800" b="1" dirty="0">
                <a:solidFill>
                  <a:srgbClr val="D99A3D"/>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234440" y="3154680"/>
            <a:ext cx="4937760" cy="658368"/>
          </a:xfrm>
          <a:prstGeom prst="rect">
            <a:avLst/>
          </a:prstGeom>
          <a:noFill/>
          <a:ln/>
        </p:spPr>
        <p:txBody>
          <a:bodyPr wrap="square" lIns="0" tIns="0" rIns="0" bIns="0" rtlCol="0" anchor="ctr"/>
          <a:lstStyle/>
          <a:p>
            <a:pPr indent="0" marL="0">
              <a:buNone/>
            </a:pPr>
            <a:r>
              <a:rPr lang="en-US" sz="1300" dirty="0">
                <a:solidFill>
                  <a:srgbClr val="1B2A4A"/>
                </a:solidFill>
                <a:latin typeface="Calibri" pitchFamily="34" charset="0"/>
                <a:ea typeface="Calibri" pitchFamily="34" charset="-122"/>
                <a:cs typeface="Calibri" pitchFamily="34" charset="-120"/>
              </a:rPr>
              <a:t>Solve simple problems involving |z − z₀| = r.</a:t>
            </a:r>
            <a:endParaRPr lang="en-US" sz="1300" dirty="0"/>
          </a:p>
        </p:txBody>
      </p:sp>
      <p:sp>
        <p:nvSpPr>
          <p:cNvPr id="13" name="Shape 11"/>
          <p:cNvSpPr/>
          <p:nvPr/>
        </p:nvSpPr>
        <p:spPr>
          <a:xfrm>
            <a:off x="548640" y="4160520"/>
            <a:ext cx="5760720" cy="914400"/>
          </a:xfrm>
          <a:prstGeom prst="roundRect">
            <a:avLst>
              <a:gd name="adj" fmla="val 10000"/>
            </a:avLst>
          </a:prstGeom>
          <a:solidFill>
            <a:srgbClr val="EEF3FA"/>
          </a:solidFill>
          <a:ln/>
        </p:spPr>
      </p:sp>
      <p:sp>
        <p:nvSpPr>
          <p:cNvPr id="14" name="Text 12"/>
          <p:cNvSpPr/>
          <p:nvPr/>
        </p:nvSpPr>
        <p:spPr>
          <a:xfrm>
            <a:off x="777240" y="4160520"/>
            <a:ext cx="5303520" cy="914400"/>
          </a:xfrm>
          <a:prstGeom prst="rect">
            <a:avLst/>
          </a:prstGeom>
          <a:noFill/>
          <a:ln/>
        </p:spPr>
        <p:txBody>
          <a:bodyPr wrap="square" lIns="0" tIns="0" rIns="0" bIns="0" rtlCol="0" anchor="ctr"/>
          <a:lstStyle/>
          <a:p>
            <a:pPr indent="0" marL="0">
              <a:buNone/>
            </a:pPr>
            <a:r>
              <a:rPr lang="en-US" sz="1450" i="1" dirty="0">
                <a:solidFill>
                  <a:srgbClr val="1B2A4A"/>
                </a:solidFill>
                <a:latin typeface="Calibri" pitchFamily="34" charset="0"/>
                <a:ea typeface="Calibri" pitchFamily="34" charset="-122"/>
                <a:cs typeface="Calibri" pitchFamily="34" charset="-120"/>
              </a:rPr>
              <a:t>A locus is the path traced by a point moving according to a given condition.</a:t>
            </a:r>
            <a:endParaRPr lang="en-US" sz="1450" dirty="0"/>
          </a:p>
        </p:txBody>
      </p:sp>
      <p:sp>
        <p:nvSpPr>
          <p:cNvPr id="15" name="Shape 13"/>
          <p:cNvSpPr/>
          <p:nvPr/>
        </p:nvSpPr>
        <p:spPr>
          <a:xfrm>
            <a:off x="548640" y="5212080"/>
            <a:ext cx="5760720" cy="777240"/>
          </a:xfrm>
          <a:prstGeom prst="roundRect">
            <a:avLst>
              <a:gd name="adj" fmla="val 11765"/>
            </a:avLst>
          </a:prstGeom>
          <a:solidFill>
            <a:srgbClr val="1E3A5F"/>
          </a:solidFill>
          <a:ln/>
        </p:spPr>
      </p:sp>
      <p:sp>
        <p:nvSpPr>
          <p:cNvPr id="16" name="Text 14"/>
          <p:cNvSpPr/>
          <p:nvPr/>
        </p:nvSpPr>
        <p:spPr>
          <a:xfrm>
            <a:off x="777240" y="5212080"/>
            <a:ext cx="5303520" cy="77724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Constant distance from a fixed point  </a:t>
            </a:r>
            <a:pPr indent="0" marL="0">
              <a:buNone/>
            </a:pPr>
            <a:r>
              <a:rPr lang="en-US" sz="1550" b="1" dirty="0">
                <a:solidFill>
                  <a:srgbClr val="D99A3D"/>
                </a:solidFill>
                <a:latin typeface="Calibri" pitchFamily="34" charset="0"/>
                <a:ea typeface="Calibri" pitchFamily="34" charset="-122"/>
                <a:cs typeface="Calibri" pitchFamily="34" charset="-120"/>
              </a:rPr>
              <a:t>→  Circle</a:t>
            </a:r>
            <a:endParaRPr lang="en-US" sz="1550" dirty="0"/>
          </a:p>
        </p:txBody>
      </p:sp>
      <p:sp>
        <p:nvSpPr>
          <p:cNvPr id="17" name="Shape 15"/>
          <p:cNvSpPr/>
          <p:nvPr/>
        </p:nvSpPr>
        <p:spPr>
          <a:xfrm>
            <a:off x="7807147" y="5466283"/>
            <a:ext cx="3555187" cy="0"/>
          </a:xfrm>
          <a:prstGeom prst="line">
            <a:avLst/>
          </a:prstGeom>
          <a:noFill/>
          <a:ln w="19050">
            <a:solidFill>
              <a:srgbClr val="9AA9C2"/>
            </a:solidFill>
            <a:prstDash val="solid"/>
            <a:tailEnd type="triangle"/>
          </a:ln>
        </p:spPr>
      </p:sp>
      <p:sp>
        <p:nvSpPr>
          <p:cNvPr id="18" name="Shape 16"/>
          <p:cNvSpPr/>
          <p:nvPr/>
        </p:nvSpPr>
        <p:spPr>
          <a:xfrm flipV="1">
            <a:off x="7807147" y="2108606"/>
            <a:ext cx="0" cy="3357677"/>
          </a:xfrm>
          <a:prstGeom prst="line">
            <a:avLst/>
          </a:prstGeom>
          <a:noFill/>
          <a:ln w="19050">
            <a:solidFill>
              <a:srgbClr val="9AA9C2"/>
            </a:solidFill>
            <a:prstDash val="solid"/>
            <a:headEnd type="none"/>
            <a:tailEnd type="triangle"/>
          </a:ln>
        </p:spPr>
      </p:sp>
      <p:sp>
        <p:nvSpPr>
          <p:cNvPr id="19" name="Text 17"/>
          <p:cNvSpPr/>
          <p:nvPr/>
        </p:nvSpPr>
        <p:spPr>
          <a:xfrm>
            <a:off x="11316614" y="5603443"/>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20" name="Text 18"/>
          <p:cNvSpPr/>
          <p:nvPr/>
        </p:nvSpPr>
        <p:spPr>
          <a:xfrm>
            <a:off x="7514539" y="2017166"/>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21" name="Shape 19"/>
          <p:cNvSpPr/>
          <p:nvPr/>
        </p:nvSpPr>
        <p:spPr>
          <a:xfrm>
            <a:off x="8251546" y="2207362"/>
            <a:ext cx="2370125" cy="2370125"/>
          </a:xfrm>
          <a:prstGeom prst="ellipse">
            <a:avLst/>
          </a:prstGeom>
          <a:ln w="28575">
            <a:solidFill>
              <a:srgbClr val="1E3A5F"/>
            </a:solidFill>
            <a:prstDash val="dash"/>
          </a:ln>
        </p:spPr>
      </p:sp>
      <p:sp>
        <p:nvSpPr>
          <p:cNvPr id="22" name="Shape 20"/>
          <p:cNvSpPr/>
          <p:nvPr/>
        </p:nvSpPr>
        <p:spPr>
          <a:xfrm>
            <a:off x="8277294" y="3752019"/>
            <a:ext cx="91440" cy="91440"/>
          </a:xfrm>
          <a:prstGeom prst="ellipse">
            <a:avLst/>
          </a:prstGeom>
          <a:solidFill>
            <a:srgbClr val="1E3A5F">
              <a:alpha val="30000"/>
            </a:srgbClr>
          </a:solidFill>
          <a:ln/>
        </p:spPr>
      </p:sp>
      <p:sp>
        <p:nvSpPr>
          <p:cNvPr id="23" name="Shape 21"/>
          <p:cNvSpPr/>
          <p:nvPr/>
        </p:nvSpPr>
        <p:spPr>
          <a:xfrm>
            <a:off x="9185104" y="4513763"/>
            <a:ext cx="91440" cy="91440"/>
          </a:xfrm>
          <a:prstGeom prst="ellipse">
            <a:avLst/>
          </a:prstGeom>
          <a:solidFill>
            <a:srgbClr val="1E3A5F">
              <a:alpha val="30000"/>
            </a:srgbClr>
          </a:solidFill>
          <a:ln/>
        </p:spPr>
      </p:sp>
      <p:sp>
        <p:nvSpPr>
          <p:cNvPr id="24" name="Shape 22"/>
          <p:cNvSpPr/>
          <p:nvPr/>
        </p:nvSpPr>
        <p:spPr>
          <a:xfrm>
            <a:off x="10298698" y="4108447"/>
            <a:ext cx="91440" cy="91440"/>
          </a:xfrm>
          <a:prstGeom prst="ellipse">
            <a:avLst/>
          </a:prstGeom>
          <a:solidFill>
            <a:srgbClr val="1E3A5F">
              <a:alpha val="30000"/>
            </a:srgbClr>
          </a:solidFill>
          <a:ln/>
        </p:spPr>
      </p:sp>
      <p:sp>
        <p:nvSpPr>
          <p:cNvPr id="25" name="Shape 23"/>
          <p:cNvSpPr/>
          <p:nvPr/>
        </p:nvSpPr>
        <p:spPr>
          <a:xfrm>
            <a:off x="9368028" y="3323844"/>
            <a:ext cx="137160" cy="137160"/>
          </a:xfrm>
          <a:prstGeom prst="ellipse">
            <a:avLst/>
          </a:prstGeom>
          <a:solidFill>
            <a:srgbClr val="D99A3D"/>
          </a:solidFill>
          <a:ln w="19050">
            <a:solidFill>
              <a:srgbClr val="FFFFFF"/>
            </a:solidFill>
            <a:prstDash val="solid"/>
          </a:ln>
        </p:spPr>
      </p:sp>
      <p:sp>
        <p:nvSpPr>
          <p:cNvPr id="26" name="Text 24"/>
          <p:cNvSpPr/>
          <p:nvPr/>
        </p:nvSpPr>
        <p:spPr>
          <a:xfrm>
            <a:off x="9116568" y="3483864"/>
            <a:ext cx="1280160"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Math" pitchFamily="34" charset="0"/>
                <a:ea typeface="Cambria Math" pitchFamily="34" charset="-122"/>
                <a:cs typeface="Cambria Math" pitchFamily="34" charset="-120"/>
              </a:rPr>
              <a:t>z₀</a:t>
            </a:r>
            <a:endParaRPr lang="en-US" sz="1400" dirty="0"/>
          </a:p>
        </p:txBody>
      </p:sp>
      <p:sp>
        <p:nvSpPr>
          <p:cNvPr id="27" name="Shape 25"/>
          <p:cNvSpPr/>
          <p:nvPr/>
        </p:nvSpPr>
        <p:spPr>
          <a:xfrm flipV="1">
            <a:off x="9436608" y="2421678"/>
            <a:ext cx="679724" cy="970746"/>
          </a:xfrm>
          <a:prstGeom prst="line">
            <a:avLst/>
          </a:prstGeom>
          <a:noFill/>
          <a:ln w="25400">
            <a:solidFill>
              <a:srgbClr val="1E3A5F"/>
            </a:solidFill>
            <a:prstDash val="dash"/>
          </a:ln>
        </p:spPr>
      </p:sp>
      <p:sp>
        <p:nvSpPr>
          <p:cNvPr id="28" name="Text 26"/>
          <p:cNvSpPr/>
          <p:nvPr/>
        </p:nvSpPr>
        <p:spPr>
          <a:xfrm>
            <a:off x="9831334" y="2614443"/>
            <a:ext cx="365760" cy="274320"/>
          </a:xfrm>
          <a:prstGeom prst="rect">
            <a:avLst/>
          </a:prstGeom>
          <a:noFill/>
          <a:ln/>
        </p:spPr>
        <p:txBody>
          <a:bodyPr wrap="square" lIns="0" tIns="0" rIns="0" bIns="0" rtlCol="0" anchor="ctr"/>
          <a:lstStyle/>
          <a:p>
            <a:pPr algn="l" indent="0" marL="0">
              <a:buNone/>
            </a:pPr>
            <a:r>
              <a:rPr lang="en-US" sz="1400" b="1" i="1" dirty="0">
                <a:solidFill>
                  <a:srgbClr val="1E3A5F"/>
                </a:solidFill>
                <a:latin typeface="Cambria Math" pitchFamily="34" charset="0"/>
                <a:ea typeface="Cambria Math" pitchFamily="34" charset="-122"/>
                <a:cs typeface="Cambria Math" pitchFamily="34" charset="-120"/>
              </a:rPr>
              <a:t>r</a:t>
            </a:r>
            <a:endParaRPr lang="en-US" sz="1400" dirty="0"/>
          </a:p>
        </p:txBody>
      </p:sp>
      <p:sp>
        <p:nvSpPr>
          <p:cNvPr id="29" name="Shape 27"/>
          <p:cNvSpPr/>
          <p:nvPr/>
        </p:nvSpPr>
        <p:spPr>
          <a:xfrm>
            <a:off x="10047752" y="2353098"/>
            <a:ext cx="137160" cy="137160"/>
          </a:xfrm>
          <a:prstGeom prst="ellipse">
            <a:avLst/>
          </a:prstGeom>
          <a:solidFill>
            <a:srgbClr val="1E3A5F"/>
          </a:solidFill>
          <a:ln w="19050">
            <a:solidFill>
              <a:srgbClr val="FFFFFF"/>
            </a:solidFill>
            <a:prstDash val="solid"/>
          </a:ln>
        </p:spPr>
      </p:sp>
      <p:sp>
        <p:nvSpPr>
          <p:cNvPr id="30" name="Text 28"/>
          <p:cNvSpPr/>
          <p:nvPr/>
        </p:nvSpPr>
        <p:spPr>
          <a:xfrm>
            <a:off x="10207772" y="2129070"/>
            <a:ext cx="457200" cy="274320"/>
          </a:xfrm>
          <a:prstGeom prst="rect">
            <a:avLst/>
          </a:prstGeom>
          <a:noFill/>
          <a:ln/>
        </p:spPr>
        <p:txBody>
          <a:bodyPr wrap="square" lIns="0" tIns="0" rIns="0" bIns="0" rtlCol="0" anchor="ctr"/>
          <a:lstStyle/>
          <a:p>
            <a:pPr algn="l" indent="0" marL="0">
              <a:buNone/>
            </a:pPr>
            <a:r>
              <a:rPr lang="en-US" sz="1500" b="1" dirty="0">
                <a:solidFill>
                  <a:srgbClr val="1B2A4A"/>
                </a:solidFill>
                <a:latin typeface="Cambria Math" pitchFamily="34" charset="0"/>
                <a:ea typeface="Cambria Math" pitchFamily="34" charset="-122"/>
                <a:cs typeface="Cambria Math" pitchFamily="34" charset="-120"/>
              </a:rPr>
              <a:t>z</a:t>
            </a:r>
            <a:endParaRPr lang="en-US" sz="1500" dirty="0"/>
          </a:p>
        </p:txBody>
      </p:sp>
      <p:sp>
        <p:nvSpPr>
          <p:cNvPr id="31" name="Text 29"/>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9AA9C2"/>
                </a:solidFill>
                <a:latin typeface="Calibri" pitchFamily="34" charset="0"/>
                <a:ea typeface="Calibri" pitchFamily="34" charset="-122"/>
                <a:cs typeface="Calibri" pitchFamily="34" charset="-120"/>
              </a:rPr>
              <a:t>02 / 08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rtlCol="0" anchor="ctr"/>
          <a:lstStyle/>
          <a:p>
            <a:pPr algn="l" indent="0" marL="0">
              <a:buNone/>
            </a:pPr>
            <a:r>
              <a:rPr lang="en-US" sz="1250" b="1" spc="200" kern="0" dirty="0">
                <a:solidFill>
                  <a:srgbClr val="D99A3D"/>
                </a:solidFill>
                <a:latin typeface="Calibri" pitchFamily="34" charset="0"/>
                <a:ea typeface="Calibri" pitchFamily="34" charset="-122"/>
                <a:cs typeface="Calibri" pitchFamily="34" charset="-120"/>
              </a:rPr>
              <a:t>ON THE ARGAND PLANE</a:t>
            </a:r>
            <a:endParaRPr lang="en-US" sz="125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Geometrical Interpretation  —  The Formula</a:t>
            </a:r>
            <a:endParaRPr lang="en-US" sz="2600" dirty="0"/>
          </a:p>
        </p:txBody>
      </p:sp>
      <p:sp>
        <p:nvSpPr>
          <p:cNvPr id="4" name="Text 2"/>
          <p:cNvSpPr/>
          <p:nvPr/>
        </p:nvSpPr>
        <p:spPr>
          <a:xfrm>
            <a:off x="548640" y="1554480"/>
            <a:ext cx="6035040" cy="411480"/>
          </a:xfrm>
          <a:prstGeom prst="rect">
            <a:avLst/>
          </a:prstGeom>
          <a:noFill/>
          <a:ln/>
        </p:spPr>
        <p:txBody>
          <a:bodyPr wrap="square" lIns="0" tIns="0" rIns="0" bIns="0" rtlCol="0" anchor="ctr"/>
          <a:lstStyle/>
          <a:p>
            <a:pPr indent="0" marL="0">
              <a:buNone/>
            </a:pPr>
            <a:r>
              <a:rPr lang="en-US" sz="1600" dirty="0">
                <a:solidFill>
                  <a:srgbClr val="C9D6EA"/>
                </a:solidFill>
                <a:latin typeface="Cambria Math" pitchFamily="34" charset="0"/>
                <a:ea typeface="Cambria Math" pitchFamily="34" charset="-122"/>
                <a:cs typeface="Cambria Math" pitchFamily="34" charset="-120"/>
              </a:rPr>
              <a:t>Let  </a:t>
            </a:r>
            <a:pPr indent="0" marL="0">
              <a:buNone/>
            </a:pPr>
            <a:r>
              <a:rPr lang="en-US" sz="1600" b="1" dirty="0">
                <a:solidFill>
                  <a:srgbClr val="FFFFFF"/>
                </a:solidFill>
                <a:latin typeface="Cambria Math" pitchFamily="34" charset="0"/>
                <a:ea typeface="Cambria Math" pitchFamily="34" charset="-122"/>
                <a:cs typeface="Cambria Math" pitchFamily="34" charset="-120"/>
              </a:rPr>
              <a:t>z = x + iy</a:t>
            </a:r>
            <a:pPr indent="0" marL="0">
              <a:buNone/>
            </a:pPr>
            <a:r>
              <a:rPr lang="en-US" sz="1600" dirty="0">
                <a:solidFill>
                  <a:srgbClr val="C9D6EA"/>
                </a:solidFill>
                <a:latin typeface="Cambria Math" pitchFamily="34" charset="0"/>
                <a:ea typeface="Cambria Math" pitchFamily="34" charset="-122"/>
                <a:cs typeface="Cambria Math" pitchFamily="34" charset="-120"/>
              </a:rPr>
              <a:t>   and   </a:t>
            </a:r>
            <a:pPr indent="0" marL="0">
              <a:buNone/>
            </a:pPr>
            <a:r>
              <a:rPr lang="en-US" sz="1600" b="1" dirty="0">
                <a:solidFill>
                  <a:srgbClr val="FFFFFF"/>
                </a:solidFill>
                <a:latin typeface="Cambria Math" pitchFamily="34" charset="0"/>
                <a:ea typeface="Cambria Math" pitchFamily="34" charset="-122"/>
                <a:cs typeface="Cambria Math" pitchFamily="34" charset="-120"/>
              </a:rPr>
              <a:t>z₀ = a + ib</a:t>
            </a:r>
            <a:endParaRPr lang="en-US" sz="1600" dirty="0"/>
          </a:p>
        </p:txBody>
      </p:sp>
      <p:sp>
        <p:nvSpPr>
          <p:cNvPr id="5" name="Shape 3"/>
          <p:cNvSpPr/>
          <p:nvPr/>
        </p:nvSpPr>
        <p:spPr>
          <a:xfrm>
            <a:off x="548640" y="2103120"/>
            <a:ext cx="4206240" cy="914400"/>
          </a:xfrm>
          <a:prstGeom prst="roundRect">
            <a:avLst>
              <a:gd name="adj" fmla="val 12000"/>
            </a:avLst>
          </a:prstGeom>
          <a:solidFill>
            <a:srgbClr val="1E3A5F"/>
          </a:solidFill>
          <a:ln/>
          <a:effectLst>
            <a:outerShdw sx="100000" sy="100000" kx="0" ky="0" algn="bl" rotWithShape="0" blurRad="101600" dist="38100" dir="5400000">
              <a:srgbClr val="1B2A4A">
                <a:alpha val="25000"/>
              </a:srgbClr>
            </a:outerShdw>
          </a:effectLst>
        </p:spPr>
      </p:sp>
      <p:sp>
        <p:nvSpPr>
          <p:cNvPr id="6" name="Text 4"/>
          <p:cNvSpPr/>
          <p:nvPr/>
        </p:nvSpPr>
        <p:spPr>
          <a:xfrm>
            <a:off x="548640" y="2103120"/>
            <a:ext cx="420624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Math" pitchFamily="34" charset="0"/>
                <a:ea typeface="Cambria Math" pitchFamily="34" charset="-122"/>
                <a:cs typeface="Cambria Math" pitchFamily="34" charset="-120"/>
              </a:rPr>
              <a:t>|z − z₀| = r</a:t>
            </a:r>
            <a:endParaRPr lang="en-US" sz="2600" dirty="0"/>
          </a:p>
        </p:txBody>
      </p:sp>
      <p:sp>
        <p:nvSpPr>
          <p:cNvPr id="7" name="Text 5"/>
          <p:cNvSpPr/>
          <p:nvPr/>
        </p:nvSpPr>
        <p:spPr>
          <a:xfrm>
            <a:off x="548640" y="3246120"/>
            <a:ext cx="5669280" cy="365760"/>
          </a:xfrm>
          <a:prstGeom prst="rect">
            <a:avLst/>
          </a:prstGeom>
          <a:noFill/>
          <a:ln/>
        </p:spPr>
        <p:txBody>
          <a:bodyPr wrap="square" lIns="0" tIns="0" rIns="0" bIns="0" rtlCol="0" anchor="ctr"/>
          <a:lstStyle/>
          <a:p>
            <a:pPr indent="0" marL="0">
              <a:buNone/>
            </a:pPr>
            <a:r>
              <a:rPr lang="en-US" sz="1400" b="1" dirty="0">
                <a:solidFill>
                  <a:srgbClr val="D99A3D"/>
                </a:solidFill>
                <a:latin typeface="Cambria Math" pitchFamily="34" charset="0"/>
                <a:ea typeface="Cambria Math" pitchFamily="34" charset="-122"/>
                <a:cs typeface="Cambria Math" pitchFamily="34" charset="-120"/>
              </a:rPr>
              <a:t>z₀  </a:t>
            </a:r>
            <a:pPr indent="0" marL="0">
              <a:buNone/>
            </a:pPr>
            <a:r>
              <a:rPr lang="en-US" sz="1400" dirty="0">
                <a:solidFill>
                  <a:srgbClr val="FFFFFF"/>
                </a:solidFill>
                <a:latin typeface="Calibri" pitchFamily="34" charset="0"/>
                <a:ea typeface="Calibri" pitchFamily="34" charset="-122"/>
                <a:cs typeface="Calibri" pitchFamily="34" charset="-120"/>
              </a:rPr>
              <a:t>→  Centre</a:t>
            </a:r>
            <a:endParaRPr lang="en-US" sz="1400" dirty="0"/>
          </a:p>
        </p:txBody>
      </p:sp>
      <p:sp>
        <p:nvSpPr>
          <p:cNvPr id="8" name="Text 6"/>
          <p:cNvSpPr/>
          <p:nvPr/>
        </p:nvSpPr>
        <p:spPr>
          <a:xfrm>
            <a:off x="548640" y="3648456"/>
            <a:ext cx="5669280" cy="365760"/>
          </a:xfrm>
          <a:prstGeom prst="rect">
            <a:avLst/>
          </a:prstGeom>
          <a:noFill/>
          <a:ln/>
        </p:spPr>
        <p:txBody>
          <a:bodyPr wrap="square" lIns="0" tIns="0" rIns="0" bIns="0" rtlCol="0" anchor="ctr"/>
          <a:lstStyle/>
          <a:p>
            <a:pPr indent="0" marL="0">
              <a:buNone/>
            </a:pPr>
            <a:r>
              <a:rPr lang="en-US" sz="1400" b="1" dirty="0">
                <a:solidFill>
                  <a:srgbClr val="D99A3D"/>
                </a:solidFill>
                <a:latin typeface="Cambria Math" pitchFamily="34" charset="0"/>
                <a:ea typeface="Cambria Math" pitchFamily="34" charset="-122"/>
                <a:cs typeface="Cambria Math" pitchFamily="34" charset="-120"/>
              </a:rPr>
              <a:t>r  </a:t>
            </a:r>
            <a:pPr indent="0" marL="0">
              <a:buNone/>
            </a:pPr>
            <a:r>
              <a:rPr lang="en-US" sz="1400" dirty="0">
                <a:solidFill>
                  <a:srgbClr val="FFFFFF"/>
                </a:solidFill>
                <a:latin typeface="Calibri" pitchFamily="34" charset="0"/>
                <a:ea typeface="Calibri" pitchFamily="34" charset="-122"/>
                <a:cs typeface="Calibri" pitchFamily="34" charset="-120"/>
              </a:rPr>
              <a:t>→  Radius</a:t>
            </a:r>
            <a:endParaRPr lang="en-US" sz="1400" dirty="0"/>
          </a:p>
        </p:txBody>
      </p:sp>
      <p:sp>
        <p:nvSpPr>
          <p:cNvPr id="9" name="Text 7"/>
          <p:cNvSpPr/>
          <p:nvPr/>
        </p:nvSpPr>
        <p:spPr>
          <a:xfrm>
            <a:off x="548640" y="4050792"/>
            <a:ext cx="5669280" cy="365760"/>
          </a:xfrm>
          <a:prstGeom prst="rect">
            <a:avLst/>
          </a:prstGeom>
          <a:noFill/>
          <a:ln/>
        </p:spPr>
        <p:txBody>
          <a:bodyPr wrap="square" lIns="0" tIns="0" rIns="0" bIns="0" rtlCol="0" anchor="ctr"/>
          <a:lstStyle/>
          <a:p>
            <a:pPr indent="0" marL="0">
              <a:buNone/>
            </a:pPr>
            <a:r>
              <a:rPr lang="en-US" sz="1400" b="1" dirty="0">
                <a:solidFill>
                  <a:srgbClr val="D99A3D"/>
                </a:solidFill>
                <a:latin typeface="Cambria Math" pitchFamily="34" charset="0"/>
                <a:ea typeface="Cambria Math" pitchFamily="34" charset="-122"/>
                <a:cs typeface="Cambria Math" pitchFamily="34" charset="-120"/>
              </a:rPr>
              <a:t>z  </a:t>
            </a:r>
            <a:pPr indent="0" marL="0">
              <a:buNone/>
            </a:pPr>
            <a:r>
              <a:rPr lang="en-US" sz="1400" dirty="0">
                <a:solidFill>
                  <a:srgbClr val="FFFFFF"/>
                </a:solidFill>
                <a:latin typeface="Calibri" pitchFamily="34" charset="0"/>
                <a:ea typeface="Calibri" pitchFamily="34" charset="-122"/>
                <a:cs typeface="Calibri" pitchFamily="34" charset="-120"/>
              </a:rPr>
              <a:t>→  Any point on the circle</a:t>
            </a:r>
            <a:endParaRPr lang="en-US" sz="1400" dirty="0"/>
          </a:p>
        </p:txBody>
      </p:sp>
      <p:sp>
        <p:nvSpPr>
          <p:cNvPr id="10" name="Shape 8"/>
          <p:cNvSpPr/>
          <p:nvPr/>
        </p:nvSpPr>
        <p:spPr>
          <a:xfrm>
            <a:off x="548640" y="4709160"/>
            <a:ext cx="5852160" cy="1371600"/>
          </a:xfrm>
          <a:prstGeom prst="roundRect">
            <a:avLst>
              <a:gd name="adj" fmla="val 6667"/>
            </a:avLst>
          </a:prstGeom>
          <a:solidFill>
            <a:srgbClr val="16294A"/>
          </a:solidFill>
          <a:ln w="12700">
            <a:solidFill>
              <a:srgbClr val="D99A3D"/>
            </a:solidFill>
            <a:prstDash val="solid"/>
          </a:ln>
        </p:spPr>
      </p:sp>
      <p:sp>
        <p:nvSpPr>
          <p:cNvPr id="11" name="Text 9"/>
          <p:cNvSpPr/>
          <p:nvPr/>
        </p:nvSpPr>
        <p:spPr>
          <a:xfrm>
            <a:off x="777240" y="4828032"/>
            <a:ext cx="5394960" cy="1143000"/>
          </a:xfrm>
          <a:prstGeom prst="rect">
            <a:avLst/>
          </a:prstGeom>
          <a:noFill/>
          <a:ln/>
        </p:spPr>
        <p:txBody>
          <a:bodyPr wrap="square" lIns="0" tIns="0" rIns="0" bIns="0" rtlCol="0" anchor="ctr"/>
          <a:lstStyle/>
          <a:p>
            <a:pPr indent="0" marL="0">
              <a:lnSpc>
                <a:spcPct val="112000"/>
              </a:lnSpc>
              <a:buNone/>
            </a:pPr>
            <a:r>
              <a:rPr lang="en-US" sz="1600" b="1" dirty="0">
                <a:solidFill>
                  <a:srgbClr val="D99A3D"/>
                </a:solidFill>
                <a:latin typeface="Cambria Math" pitchFamily="34" charset="0"/>
                <a:ea typeface="Cambria Math" pitchFamily="34" charset="-122"/>
                <a:cs typeface="Cambria Math" pitchFamily="34" charset="-120"/>
              </a:rPr>
              <a:t>|z − z₀| &lt; r</a:t>
            </a:r>
            <a:endParaRPr lang="en-US" sz="1600" dirty="0"/>
          </a:p>
          <a:p>
            <a:pPr indent="0" marL="0">
              <a:lnSpc>
                <a:spcPct val="112000"/>
              </a:lnSpc>
              <a:buNone/>
            </a:pPr>
            <a:r>
              <a:rPr lang="en-US" sz="1250" dirty="0">
                <a:solidFill>
                  <a:srgbClr val="C9D6EA"/>
                </a:solidFill>
                <a:latin typeface="Cambria Math" pitchFamily="34" charset="0"/>
                <a:ea typeface="Cambria Math" pitchFamily="34" charset="-122"/>
                <a:cs typeface="Cambria Math" pitchFamily="34" charset="-120"/>
              </a:rPr>
              <a:t>Interior of the circle</a:t>
            </a:r>
            <a:endParaRPr lang="en-US" sz="1600" dirty="0"/>
          </a:p>
          <a:p>
            <a:pPr indent="0" marL="0">
              <a:lnSpc>
                <a:spcPct val="112000"/>
              </a:lnSpc>
              <a:buNone/>
            </a:pPr>
            <a:r>
              <a:rPr lang="en-US" sz="1600" b="1" dirty="0">
                <a:solidFill>
                  <a:srgbClr val="D99A3D"/>
                </a:solidFill>
                <a:latin typeface="Cambria Math" pitchFamily="34" charset="0"/>
                <a:ea typeface="Cambria Math" pitchFamily="34" charset="-122"/>
                <a:cs typeface="Cambria Math" pitchFamily="34" charset="-120"/>
              </a:rPr>
              <a:t>|z − z₀| &gt; r</a:t>
            </a:r>
            <a:endParaRPr lang="en-US" sz="1600" dirty="0"/>
          </a:p>
          <a:p>
            <a:pPr indent="0" marL="0">
              <a:lnSpc>
                <a:spcPct val="112000"/>
              </a:lnSpc>
              <a:buNone/>
            </a:pPr>
            <a:r>
              <a:rPr lang="en-US" sz="1250" dirty="0">
                <a:solidFill>
                  <a:srgbClr val="C9D6EA"/>
                </a:solidFill>
                <a:latin typeface="Cambria Math" pitchFamily="34" charset="0"/>
                <a:ea typeface="Cambria Math" pitchFamily="34" charset="-122"/>
                <a:cs typeface="Cambria Math" pitchFamily="34" charset="-120"/>
              </a:rPr>
              <a:t>Exterior of the circle</a:t>
            </a:r>
            <a:endParaRPr lang="en-US" sz="1600" dirty="0"/>
          </a:p>
        </p:txBody>
      </p:sp>
      <p:sp>
        <p:nvSpPr>
          <p:cNvPr id="12" name="Shape 10"/>
          <p:cNvSpPr/>
          <p:nvPr/>
        </p:nvSpPr>
        <p:spPr>
          <a:xfrm>
            <a:off x="7872984" y="5541264"/>
            <a:ext cx="3621024" cy="0"/>
          </a:xfrm>
          <a:prstGeom prst="line">
            <a:avLst/>
          </a:prstGeom>
          <a:noFill/>
          <a:ln w="19050">
            <a:solidFill>
              <a:srgbClr val="9AA9C2"/>
            </a:solidFill>
            <a:prstDash val="solid"/>
            <a:tailEnd type="triangle"/>
          </a:ln>
        </p:spPr>
      </p:sp>
      <p:sp>
        <p:nvSpPr>
          <p:cNvPr id="13" name="Shape 11"/>
          <p:cNvSpPr/>
          <p:nvPr/>
        </p:nvSpPr>
        <p:spPr>
          <a:xfrm flipV="1">
            <a:off x="7872984" y="2121408"/>
            <a:ext cx="0" cy="3419856"/>
          </a:xfrm>
          <a:prstGeom prst="line">
            <a:avLst/>
          </a:prstGeom>
          <a:noFill/>
          <a:ln w="19050">
            <a:solidFill>
              <a:srgbClr val="9AA9C2"/>
            </a:solidFill>
            <a:prstDash val="solid"/>
            <a:headEnd type="none"/>
            <a:tailEnd type="triangle"/>
          </a:ln>
        </p:spPr>
      </p:sp>
      <p:sp>
        <p:nvSpPr>
          <p:cNvPr id="14" name="Text 12"/>
          <p:cNvSpPr/>
          <p:nvPr/>
        </p:nvSpPr>
        <p:spPr>
          <a:xfrm>
            <a:off x="11448288" y="5678424"/>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15" name="Text 13"/>
          <p:cNvSpPr/>
          <p:nvPr/>
        </p:nvSpPr>
        <p:spPr>
          <a:xfrm>
            <a:off x="7580376" y="2029968"/>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16" name="Shape 14"/>
          <p:cNvSpPr/>
          <p:nvPr/>
        </p:nvSpPr>
        <p:spPr>
          <a:xfrm>
            <a:off x="8325612" y="2221992"/>
            <a:ext cx="2414016" cy="2414016"/>
          </a:xfrm>
          <a:prstGeom prst="ellipse">
            <a:avLst/>
          </a:prstGeom>
          <a:ln w="28575">
            <a:solidFill>
              <a:srgbClr val="1E3A5F"/>
            </a:solidFill>
            <a:prstDash val="dash"/>
          </a:ln>
        </p:spPr>
      </p:sp>
      <p:sp>
        <p:nvSpPr>
          <p:cNvPr id="17" name="Shape 15"/>
          <p:cNvSpPr/>
          <p:nvPr/>
        </p:nvSpPr>
        <p:spPr>
          <a:xfrm>
            <a:off x="9464040" y="3360420"/>
            <a:ext cx="137160" cy="137160"/>
          </a:xfrm>
          <a:prstGeom prst="ellipse">
            <a:avLst/>
          </a:prstGeom>
          <a:solidFill>
            <a:srgbClr val="D99A3D"/>
          </a:solidFill>
          <a:ln w="19050">
            <a:solidFill>
              <a:srgbClr val="FFFFFF"/>
            </a:solidFill>
            <a:prstDash val="solid"/>
          </a:ln>
        </p:spPr>
      </p:sp>
      <p:sp>
        <p:nvSpPr>
          <p:cNvPr id="18" name="Text 16"/>
          <p:cNvSpPr/>
          <p:nvPr/>
        </p:nvSpPr>
        <p:spPr>
          <a:xfrm>
            <a:off x="9212580" y="3520440"/>
            <a:ext cx="128016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Math" pitchFamily="34" charset="0"/>
                <a:ea typeface="Cambria Math" pitchFamily="34" charset="-122"/>
                <a:cs typeface="Cambria Math" pitchFamily="34" charset="-120"/>
              </a:rPr>
              <a:t>z₀</a:t>
            </a:r>
            <a:endParaRPr lang="en-US" sz="1400" dirty="0"/>
          </a:p>
        </p:txBody>
      </p:sp>
      <p:sp>
        <p:nvSpPr>
          <p:cNvPr id="19" name="Shape 17"/>
          <p:cNvSpPr/>
          <p:nvPr/>
        </p:nvSpPr>
        <p:spPr>
          <a:xfrm flipV="1">
            <a:off x="9532620" y="2504378"/>
            <a:ext cx="775850" cy="924622"/>
          </a:xfrm>
          <a:prstGeom prst="line">
            <a:avLst/>
          </a:prstGeom>
          <a:noFill/>
          <a:ln w="25400">
            <a:solidFill>
              <a:srgbClr val="D99A3D"/>
            </a:solidFill>
            <a:prstDash val="dash"/>
          </a:ln>
        </p:spPr>
      </p:sp>
      <p:sp>
        <p:nvSpPr>
          <p:cNvPr id="20" name="Text 18"/>
          <p:cNvSpPr/>
          <p:nvPr/>
        </p:nvSpPr>
        <p:spPr>
          <a:xfrm>
            <a:off x="9975409" y="2674081"/>
            <a:ext cx="365760" cy="274320"/>
          </a:xfrm>
          <a:prstGeom prst="rect">
            <a:avLst/>
          </a:prstGeom>
          <a:noFill/>
          <a:ln/>
        </p:spPr>
        <p:txBody>
          <a:bodyPr wrap="square" lIns="0" tIns="0" rIns="0" bIns="0" rtlCol="0" anchor="ctr"/>
          <a:lstStyle/>
          <a:p>
            <a:pPr algn="l" indent="0" marL="0">
              <a:buNone/>
            </a:pPr>
            <a:r>
              <a:rPr lang="en-US" sz="1400" b="1" i="1" dirty="0">
                <a:solidFill>
                  <a:srgbClr val="D99A3D"/>
                </a:solidFill>
                <a:latin typeface="Cambria Math" pitchFamily="34" charset="0"/>
                <a:ea typeface="Cambria Math" pitchFamily="34" charset="-122"/>
                <a:cs typeface="Cambria Math" pitchFamily="34" charset="-120"/>
              </a:rPr>
              <a:t>r</a:t>
            </a:r>
            <a:endParaRPr lang="en-US" sz="1400" dirty="0"/>
          </a:p>
        </p:txBody>
      </p:sp>
      <p:sp>
        <p:nvSpPr>
          <p:cNvPr id="21" name="Shape 19"/>
          <p:cNvSpPr/>
          <p:nvPr/>
        </p:nvSpPr>
        <p:spPr>
          <a:xfrm>
            <a:off x="10239890" y="2435798"/>
            <a:ext cx="137160" cy="137160"/>
          </a:xfrm>
          <a:prstGeom prst="ellipse">
            <a:avLst/>
          </a:prstGeom>
          <a:solidFill>
            <a:srgbClr val="1E3A5F"/>
          </a:solidFill>
          <a:ln w="19050">
            <a:solidFill>
              <a:srgbClr val="FFFFFF"/>
            </a:solidFill>
            <a:prstDash val="solid"/>
          </a:ln>
        </p:spPr>
      </p:sp>
      <p:sp>
        <p:nvSpPr>
          <p:cNvPr id="22" name="Text 20"/>
          <p:cNvSpPr/>
          <p:nvPr/>
        </p:nvSpPr>
        <p:spPr>
          <a:xfrm>
            <a:off x="10399910" y="2211770"/>
            <a:ext cx="457200"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Math" pitchFamily="34" charset="0"/>
                <a:ea typeface="Cambria Math" pitchFamily="34" charset="-122"/>
                <a:cs typeface="Cambria Math" pitchFamily="34" charset="-120"/>
              </a:rPr>
              <a:t>z</a:t>
            </a:r>
            <a:endParaRPr lang="en-US" sz="1500" dirty="0"/>
          </a:p>
        </p:txBody>
      </p:sp>
      <p:sp>
        <p:nvSpPr>
          <p:cNvPr id="23" name="Shape 21"/>
          <p:cNvSpPr/>
          <p:nvPr/>
        </p:nvSpPr>
        <p:spPr>
          <a:xfrm>
            <a:off x="9117884" y="3854782"/>
            <a:ext cx="137160" cy="137160"/>
          </a:xfrm>
          <a:prstGeom prst="ellipse">
            <a:avLst/>
          </a:prstGeom>
          <a:solidFill>
            <a:srgbClr val="8FD19E"/>
          </a:solidFill>
          <a:ln w="19050">
            <a:solidFill>
              <a:srgbClr val="FFFFFF"/>
            </a:solidFill>
            <a:prstDash val="solid"/>
          </a:ln>
        </p:spPr>
      </p:sp>
      <p:sp>
        <p:nvSpPr>
          <p:cNvPr id="24" name="Text 22"/>
          <p:cNvSpPr/>
          <p:nvPr/>
        </p:nvSpPr>
        <p:spPr>
          <a:xfrm>
            <a:off x="8592104" y="4042234"/>
            <a:ext cx="1188720" cy="274320"/>
          </a:xfrm>
          <a:prstGeom prst="rect">
            <a:avLst/>
          </a:prstGeom>
          <a:noFill/>
          <a:ln/>
        </p:spPr>
        <p:txBody>
          <a:bodyPr wrap="square" lIns="0" tIns="0" rIns="0" bIns="0" rtlCol="0" anchor="ctr"/>
          <a:lstStyle/>
          <a:p>
            <a:pPr algn="ctr" indent="0" marL="0">
              <a:buNone/>
            </a:pPr>
            <a:r>
              <a:rPr lang="en-US" sz="1300" b="1" dirty="0">
                <a:solidFill>
                  <a:srgbClr val="8FD19E"/>
                </a:solidFill>
                <a:latin typeface="Cambria Math" pitchFamily="34" charset="0"/>
                <a:ea typeface="Cambria Math" pitchFamily="34" charset="-122"/>
                <a:cs typeface="Cambria Math" pitchFamily="34" charset="-120"/>
              </a:rPr>
              <a:t>interior point</a:t>
            </a:r>
            <a:endParaRPr lang="en-US" sz="1300" dirty="0"/>
          </a:p>
        </p:txBody>
      </p:sp>
      <p:sp>
        <p:nvSpPr>
          <p:cNvPr id="25" name="Text 23"/>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6E86AE"/>
                </a:solidFill>
                <a:latin typeface="Calibri" pitchFamily="34" charset="0"/>
                <a:ea typeface="Calibri" pitchFamily="34" charset="-122"/>
                <a:cs typeface="Calibri" pitchFamily="34" charset="-120"/>
              </a:rPr>
              <a:t>03 / 08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rtlCol="0" anchor="ctr"/>
          <a:lstStyle/>
          <a:p>
            <a:pPr algn="l" indent="0" marL="0">
              <a:buNone/>
            </a:pPr>
            <a:r>
              <a:rPr lang="en-US" sz="1250" b="1" spc="200" kern="0" dirty="0">
                <a:solidFill>
                  <a:srgbClr val="1E3A5F"/>
                </a:solidFill>
                <a:latin typeface="Calibri" pitchFamily="34" charset="0"/>
                <a:ea typeface="Calibri" pitchFamily="34" charset="-122"/>
                <a:cs typeface="Calibri" pitchFamily="34" charset="-120"/>
              </a:rPr>
              <a:t>CONNECTING THE FORMS</a:t>
            </a:r>
            <a:endParaRPr lang="en-US" sz="125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Connection with Cartesian Form</a:t>
            </a:r>
            <a:endParaRPr lang="en-US" sz="3000" dirty="0"/>
          </a:p>
        </p:txBody>
      </p:sp>
      <p:sp>
        <p:nvSpPr>
          <p:cNvPr id="4" name="Text 2"/>
          <p:cNvSpPr/>
          <p:nvPr/>
        </p:nvSpPr>
        <p:spPr>
          <a:xfrm>
            <a:off x="640080" y="1691640"/>
            <a:ext cx="3657600" cy="868680"/>
          </a:xfrm>
          <a:prstGeom prst="rect">
            <a:avLst/>
          </a:prstGeom>
          <a:noFill/>
          <a:ln/>
        </p:spPr>
        <p:txBody>
          <a:bodyPr wrap="square" lIns="0" tIns="0" rIns="0" bIns="0" rtlCol="0" anchor="ctr"/>
          <a:lstStyle/>
          <a:p>
            <a:pPr indent="0" marL="0">
              <a:lnSpc>
                <a:spcPct val="130000"/>
              </a:lnSpc>
              <a:buNone/>
            </a:pPr>
            <a:r>
              <a:rPr lang="en-US" sz="1900" b="1" dirty="0">
                <a:solidFill>
                  <a:srgbClr val="1B2A4A"/>
                </a:solidFill>
                <a:latin typeface="Cambria Math" pitchFamily="34" charset="0"/>
                <a:ea typeface="Cambria Math" pitchFamily="34" charset="-122"/>
                <a:cs typeface="Cambria Math" pitchFamily="34" charset="-120"/>
              </a:rPr>
              <a:t>z = x + iy</a:t>
            </a:r>
            <a:endParaRPr lang="en-US" sz="1900" dirty="0"/>
          </a:p>
          <a:p>
            <a:pPr indent="0" marL="0">
              <a:lnSpc>
                <a:spcPct val="130000"/>
              </a:lnSpc>
              <a:buNone/>
            </a:pPr>
            <a:r>
              <a:rPr lang="en-US" sz="1900" b="1" dirty="0">
                <a:solidFill>
                  <a:srgbClr val="1B2A4A"/>
                </a:solidFill>
                <a:latin typeface="Cambria Math" pitchFamily="34" charset="0"/>
                <a:ea typeface="Cambria Math" pitchFamily="34" charset="-122"/>
                <a:cs typeface="Cambria Math" pitchFamily="34" charset="-120"/>
              </a:rPr>
              <a:t>z₀ = a + ib</a:t>
            </a:r>
            <a:endParaRPr lang="en-US" sz="1900" dirty="0"/>
          </a:p>
        </p:txBody>
      </p:sp>
      <p:sp>
        <p:nvSpPr>
          <p:cNvPr id="5" name="Shape 3"/>
          <p:cNvSpPr/>
          <p:nvPr/>
        </p:nvSpPr>
        <p:spPr>
          <a:xfrm>
            <a:off x="640080" y="2743200"/>
            <a:ext cx="6492240" cy="658368"/>
          </a:xfrm>
          <a:prstGeom prst="roundRect">
            <a:avLst>
              <a:gd name="adj" fmla="val 11111"/>
            </a:avLst>
          </a:prstGeom>
          <a:solidFill>
            <a:srgbClr val="EEF3FA"/>
          </a:solidFill>
          <a:ln w="12700">
            <a:solidFill>
              <a:srgbClr val="D7E1F0"/>
            </a:solidFill>
            <a:prstDash val="solid"/>
          </a:ln>
        </p:spPr>
      </p:sp>
      <p:sp>
        <p:nvSpPr>
          <p:cNvPr id="6" name="Text 4"/>
          <p:cNvSpPr/>
          <p:nvPr/>
        </p:nvSpPr>
        <p:spPr>
          <a:xfrm>
            <a:off x="1143000" y="2743200"/>
            <a:ext cx="5760720" cy="658368"/>
          </a:xfrm>
          <a:prstGeom prst="rect">
            <a:avLst/>
          </a:prstGeom>
          <a:noFill/>
          <a:ln/>
        </p:spPr>
        <p:txBody>
          <a:bodyPr wrap="square" lIns="0" tIns="0" rIns="0" bIns="0" rtlCol="0" anchor="ctr"/>
          <a:lstStyle/>
          <a:p>
            <a:pPr indent="0" marL="0">
              <a:buNone/>
            </a:pPr>
            <a:r>
              <a:rPr lang="en-US" sz="1900" dirty="0">
                <a:solidFill>
                  <a:srgbClr val="1B2A4A"/>
                </a:solidFill>
                <a:latin typeface="Cambria Math" pitchFamily="34" charset="0"/>
                <a:ea typeface="Cambria Math" pitchFamily="34" charset="-122"/>
                <a:cs typeface="Cambria Math" pitchFamily="34" charset="-120"/>
              </a:rPr>
              <a:t>|z − z₀| = r</a:t>
            </a:r>
            <a:endParaRPr lang="en-US" sz="1900" dirty="0"/>
          </a:p>
        </p:txBody>
      </p:sp>
      <p:sp>
        <p:nvSpPr>
          <p:cNvPr id="7" name="Shape 5"/>
          <p:cNvSpPr/>
          <p:nvPr/>
        </p:nvSpPr>
        <p:spPr>
          <a:xfrm>
            <a:off x="3794760" y="3273552"/>
            <a:ext cx="256032" cy="256032"/>
          </a:xfrm>
          <a:prstGeom prst="ellipse">
            <a:avLst/>
          </a:prstGeom>
          <a:solidFill>
            <a:srgbClr val="1E3A5F"/>
          </a:solidFill>
          <a:ln/>
        </p:spPr>
      </p:sp>
      <p:sp>
        <p:nvSpPr>
          <p:cNvPr id="8" name="Text 6"/>
          <p:cNvSpPr/>
          <p:nvPr/>
        </p:nvSpPr>
        <p:spPr>
          <a:xfrm>
            <a:off x="3675888" y="3200400"/>
            <a:ext cx="49377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640080" y="3566160"/>
            <a:ext cx="6492240" cy="658368"/>
          </a:xfrm>
          <a:prstGeom prst="roundRect">
            <a:avLst>
              <a:gd name="adj" fmla="val 11111"/>
            </a:avLst>
          </a:prstGeom>
          <a:solidFill>
            <a:srgbClr val="FFFFFF"/>
          </a:solidFill>
          <a:ln w="12700">
            <a:solidFill>
              <a:srgbClr val="D7E1F0"/>
            </a:solidFill>
            <a:prstDash val="solid"/>
          </a:ln>
        </p:spPr>
      </p:sp>
      <p:sp>
        <p:nvSpPr>
          <p:cNvPr id="10" name="Text 8"/>
          <p:cNvSpPr/>
          <p:nvPr/>
        </p:nvSpPr>
        <p:spPr>
          <a:xfrm>
            <a:off x="1143000" y="3566160"/>
            <a:ext cx="5760720" cy="658368"/>
          </a:xfrm>
          <a:prstGeom prst="rect">
            <a:avLst/>
          </a:prstGeom>
          <a:noFill/>
          <a:ln/>
        </p:spPr>
        <p:txBody>
          <a:bodyPr wrap="square" lIns="0" tIns="0" rIns="0" bIns="0" rtlCol="0" anchor="ctr"/>
          <a:lstStyle/>
          <a:p>
            <a:pPr indent="0" marL="0">
              <a:buNone/>
            </a:pPr>
            <a:r>
              <a:rPr lang="en-US" sz="1900" dirty="0">
                <a:solidFill>
                  <a:srgbClr val="1B2A4A"/>
                </a:solidFill>
                <a:latin typeface="Cambria Math" pitchFamily="34" charset="0"/>
                <a:ea typeface="Cambria Math" pitchFamily="34" charset="-122"/>
                <a:cs typeface="Cambria Math" pitchFamily="34" charset="-120"/>
              </a:rPr>
              <a:t>|(x + iy) − (a + ib)| = r</a:t>
            </a:r>
            <a:endParaRPr lang="en-US" sz="1900" dirty="0"/>
          </a:p>
        </p:txBody>
      </p:sp>
      <p:sp>
        <p:nvSpPr>
          <p:cNvPr id="11" name="Shape 9"/>
          <p:cNvSpPr/>
          <p:nvPr/>
        </p:nvSpPr>
        <p:spPr>
          <a:xfrm>
            <a:off x="3794760" y="4096512"/>
            <a:ext cx="256032" cy="256032"/>
          </a:xfrm>
          <a:prstGeom prst="ellipse">
            <a:avLst/>
          </a:prstGeom>
          <a:solidFill>
            <a:srgbClr val="1E3A5F"/>
          </a:solidFill>
          <a:ln/>
        </p:spPr>
      </p:sp>
      <p:sp>
        <p:nvSpPr>
          <p:cNvPr id="12" name="Text 10"/>
          <p:cNvSpPr/>
          <p:nvPr/>
        </p:nvSpPr>
        <p:spPr>
          <a:xfrm>
            <a:off x="3675888" y="4023360"/>
            <a:ext cx="49377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40080" y="4389120"/>
            <a:ext cx="6492240" cy="658368"/>
          </a:xfrm>
          <a:prstGeom prst="roundRect">
            <a:avLst>
              <a:gd name="adj" fmla="val 11111"/>
            </a:avLst>
          </a:prstGeom>
          <a:solidFill>
            <a:srgbClr val="FFFFFF"/>
          </a:solidFill>
          <a:ln w="12700">
            <a:solidFill>
              <a:srgbClr val="D7E1F0"/>
            </a:solidFill>
            <a:prstDash val="solid"/>
          </a:ln>
        </p:spPr>
      </p:sp>
      <p:sp>
        <p:nvSpPr>
          <p:cNvPr id="14" name="Text 12"/>
          <p:cNvSpPr/>
          <p:nvPr/>
        </p:nvSpPr>
        <p:spPr>
          <a:xfrm>
            <a:off x="1143000" y="4389120"/>
            <a:ext cx="5760720" cy="658368"/>
          </a:xfrm>
          <a:prstGeom prst="rect">
            <a:avLst/>
          </a:prstGeom>
          <a:noFill/>
          <a:ln/>
        </p:spPr>
        <p:txBody>
          <a:bodyPr wrap="square" lIns="0" tIns="0" rIns="0" bIns="0" rtlCol="0" anchor="ctr"/>
          <a:lstStyle/>
          <a:p>
            <a:pPr indent="0" marL="0">
              <a:buNone/>
            </a:pPr>
            <a:r>
              <a:rPr lang="en-US" sz="1700" dirty="0">
                <a:solidFill>
                  <a:srgbClr val="1B2A4A"/>
                </a:solidFill>
                <a:latin typeface="Calibri" pitchFamily="34" charset="0"/>
                <a:ea typeface="Calibri" pitchFamily="34" charset="-122"/>
                <a:cs typeface="Calibri" pitchFamily="34" charset="-120"/>
              </a:rPr>
              <a:t>√[(x − a)² + (y − b)²] = r</a:t>
            </a:r>
            <a:endParaRPr lang="en-US" sz="1700" dirty="0"/>
          </a:p>
        </p:txBody>
      </p:sp>
      <p:sp>
        <p:nvSpPr>
          <p:cNvPr id="15" name="Text 13"/>
          <p:cNvSpPr/>
          <p:nvPr/>
        </p:nvSpPr>
        <p:spPr>
          <a:xfrm>
            <a:off x="640080" y="5257800"/>
            <a:ext cx="1828800" cy="365760"/>
          </a:xfrm>
          <a:prstGeom prst="rect">
            <a:avLst/>
          </a:prstGeom>
          <a:noFill/>
          <a:ln/>
        </p:spPr>
        <p:txBody>
          <a:bodyPr wrap="square" rtlCol="0" anchor="ctr"/>
          <a:lstStyle/>
          <a:p>
            <a:pPr indent="0" marL="0">
              <a:buNone/>
            </a:pPr>
            <a:r>
              <a:rPr lang="en-US" sz="1400" i="1" dirty="0">
                <a:solidFill>
                  <a:srgbClr val="51617A"/>
                </a:solidFill>
                <a:latin typeface="Calibri" pitchFamily="34" charset="0"/>
                <a:ea typeface="Calibri" pitchFamily="34" charset="-122"/>
                <a:cs typeface="Calibri" pitchFamily="34" charset="-120"/>
              </a:rPr>
              <a:t>Therefore:</a:t>
            </a:r>
            <a:endParaRPr lang="en-US" sz="1400" dirty="0"/>
          </a:p>
        </p:txBody>
      </p:sp>
      <p:sp>
        <p:nvSpPr>
          <p:cNvPr id="16" name="Shape 14"/>
          <p:cNvSpPr/>
          <p:nvPr/>
        </p:nvSpPr>
        <p:spPr>
          <a:xfrm>
            <a:off x="640080" y="5596128"/>
            <a:ext cx="6492240" cy="777240"/>
          </a:xfrm>
          <a:prstGeom prst="roundRect">
            <a:avLst>
              <a:gd name="adj" fmla="val 14118"/>
            </a:avLst>
          </a:prstGeom>
          <a:solidFill>
            <a:srgbClr val="1E3A5F"/>
          </a:solidFill>
          <a:ln/>
          <a:effectLst>
            <a:outerShdw sx="100000" sy="100000" kx="0" ky="0" algn="bl" rotWithShape="0" blurRad="101600" dist="38100" dir="5400000">
              <a:srgbClr val="1B2A4A">
                <a:alpha val="25000"/>
              </a:srgbClr>
            </a:outerShdw>
          </a:effectLst>
        </p:spPr>
      </p:sp>
      <p:sp>
        <p:nvSpPr>
          <p:cNvPr id="17" name="Text 15"/>
          <p:cNvSpPr/>
          <p:nvPr/>
        </p:nvSpPr>
        <p:spPr>
          <a:xfrm>
            <a:off x="640080" y="5596128"/>
            <a:ext cx="6492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Math" pitchFamily="34" charset="0"/>
                <a:ea typeface="Cambria Math" pitchFamily="34" charset="-122"/>
                <a:cs typeface="Cambria Math" pitchFamily="34" charset="-120"/>
              </a:rPr>
              <a:t>(x − a)² + (y − b)² = r²</a:t>
            </a:r>
            <a:endParaRPr lang="en-US" sz="2100" dirty="0"/>
          </a:p>
        </p:txBody>
      </p:sp>
      <p:sp>
        <p:nvSpPr>
          <p:cNvPr id="18" name="Shape 16"/>
          <p:cNvSpPr/>
          <p:nvPr/>
        </p:nvSpPr>
        <p:spPr>
          <a:xfrm>
            <a:off x="8352130" y="5528462"/>
            <a:ext cx="3094330" cy="0"/>
          </a:xfrm>
          <a:prstGeom prst="line">
            <a:avLst/>
          </a:prstGeom>
          <a:noFill/>
          <a:ln w="19050">
            <a:solidFill>
              <a:srgbClr val="9AA9C2"/>
            </a:solidFill>
            <a:prstDash val="solid"/>
            <a:tailEnd type="triangle"/>
          </a:ln>
        </p:spPr>
      </p:sp>
      <p:sp>
        <p:nvSpPr>
          <p:cNvPr id="19" name="Shape 17"/>
          <p:cNvSpPr/>
          <p:nvPr/>
        </p:nvSpPr>
        <p:spPr>
          <a:xfrm flipV="1">
            <a:off x="8352130" y="2232965"/>
            <a:ext cx="0" cy="3295498"/>
          </a:xfrm>
          <a:prstGeom prst="line">
            <a:avLst/>
          </a:prstGeom>
          <a:noFill/>
          <a:ln w="19050">
            <a:solidFill>
              <a:srgbClr val="9AA9C2"/>
            </a:solidFill>
            <a:prstDash val="solid"/>
            <a:headEnd type="none"/>
            <a:tailEnd type="triangle"/>
          </a:ln>
        </p:spPr>
      </p:sp>
      <p:sp>
        <p:nvSpPr>
          <p:cNvPr id="20" name="Text 18"/>
          <p:cNvSpPr/>
          <p:nvPr/>
        </p:nvSpPr>
        <p:spPr>
          <a:xfrm>
            <a:off x="11400739" y="5665622"/>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21" name="Text 19"/>
          <p:cNvSpPr/>
          <p:nvPr/>
        </p:nvSpPr>
        <p:spPr>
          <a:xfrm>
            <a:off x="8059522" y="2141525"/>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22" name="Shape 20"/>
          <p:cNvSpPr/>
          <p:nvPr/>
        </p:nvSpPr>
        <p:spPr>
          <a:xfrm>
            <a:off x="8738921" y="2461565"/>
            <a:ext cx="2062886" cy="2062886"/>
          </a:xfrm>
          <a:prstGeom prst="ellipse">
            <a:avLst/>
          </a:prstGeom>
          <a:ln w="28575">
            <a:solidFill>
              <a:srgbClr val="1E3A5F"/>
            </a:solidFill>
            <a:prstDash val="dash"/>
          </a:ln>
        </p:spPr>
      </p:sp>
      <p:sp>
        <p:nvSpPr>
          <p:cNvPr id="23" name="Shape 21"/>
          <p:cNvSpPr/>
          <p:nvPr/>
        </p:nvSpPr>
        <p:spPr>
          <a:xfrm>
            <a:off x="9701784" y="3424428"/>
            <a:ext cx="137160" cy="137160"/>
          </a:xfrm>
          <a:prstGeom prst="ellipse">
            <a:avLst/>
          </a:prstGeom>
          <a:solidFill>
            <a:srgbClr val="D99A3D"/>
          </a:solidFill>
          <a:ln w="19050">
            <a:solidFill>
              <a:srgbClr val="FFFFFF"/>
            </a:solidFill>
            <a:prstDash val="solid"/>
          </a:ln>
        </p:spPr>
      </p:sp>
      <p:sp>
        <p:nvSpPr>
          <p:cNvPr id="24" name="Text 22"/>
          <p:cNvSpPr/>
          <p:nvPr/>
        </p:nvSpPr>
        <p:spPr>
          <a:xfrm>
            <a:off x="9450324" y="3584448"/>
            <a:ext cx="1280160"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Math" pitchFamily="34" charset="0"/>
                <a:ea typeface="Cambria Math" pitchFamily="34" charset="-122"/>
                <a:cs typeface="Cambria Math" pitchFamily="34" charset="-120"/>
              </a:rPr>
              <a:t>z₀</a:t>
            </a:r>
            <a:endParaRPr lang="en-US" sz="1400" dirty="0"/>
          </a:p>
        </p:txBody>
      </p:sp>
      <p:sp>
        <p:nvSpPr>
          <p:cNvPr id="25" name="Shape 23"/>
          <p:cNvSpPr/>
          <p:nvPr/>
        </p:nvSpPr>
        <p:spPr>
          <a:xfrm flipV="1">
            <a:off x="9770364" y="2726496"/>
            <a:ext cx="690170" cy="766512"/>
          </a:xfrm>
          <a:prstGeom prst="line">
            <a:avLst/>
          </a:prstGeom>
          <a:noFill/>
          <a:ln w="25400">
            <a:solidFill>
              <a:srgbClr val="1E3A5F"/>
            </a:solidFill>
            <a:prstDash val="dash"/>
          </a:ln>
        </p:spPr>
      </p:sp>
      <p:sp>
        <p:nvSpPr>
          <p:cNvPr id="26" name="Text 24"/>
          <p:cNvSpPr/>
          <p:nvPr/>
        </p:nvSpPr>
        <p:spPr>
          <a:xfrm>
            <a:off x="10170313" y="2817144"/>
            <a:ext cx="365760" cy="274320"/>
          </a:xfrm>
          <a:prstGeom prst="rect">
            <a:avLst/>
          </a:prstGeom>
          <a:noFill/>
          <a:ln/>
        </p:spPr>
        <p:txBody>
          <a:bodyPr wrap="square" lIns="0" tIns="0" rIns="0" bIns="0" rtlCol="0" anchor="ctr"/>
          <a:lstStyle/>
          <a:p>
            <a:pPr algn="l" indent="0" marL="0">
              <a:buNone/>
            </a:pPr>
            <a:r>
              <a:rPr lang="en-US" sz="1400" b="1" i="1" dirty="0">
                <a:solidFill>
                  <a:srgbClr val="1E3A5F"/>
                </a:solidFill>
                <a:latin typeface="Cambria Math" pitchFamily="34" charset="0"/>
                <a:ea typeface="Cambria Math" pitchFamily="34" charset="-122"/>
                <a:cs typeface="Cambria Math" pitchFamily="34" charset="-120"/>
              </a:rPr>
              <a:t>r</a:t>
            </a:r>
            <a:endParaRPr lang="en-US" sz="1400" dirty="0"/>
          </a:p>
        </p:txBody>
      </p:sp>
      <p:sp>
        <p:nvSpPr>
          <p:cNvPr id="27" name="Shape 25"/>
          <p:cNvSpPr/>
          <p:nvPr/>
        </p:nvSpPr>
        <p:spPr>
          <a:xfrm>
            <a:off x="10391954" y="2657916"/>
            <a:ext cx="137160" cy="137160"/>
          </a:xfrm>
          <a:prstGeom prst="ellipse">
            <a:avLst/>
          </a:prstGeom>
          <a:solidFill>
            <a:srgbClr val="1E3A5F"/>
          </a:solidFill>
          <a:ln w="19050">
            <a:solidFill>
              <a:srgbClr val="FFFFFF"/>
            </a:solidFill>
            <a:prstDash val="solid"/>
          </a:ln>
        </p:spPr>
      </p:sp>
      <p:sp>
        <p:nvSpPr>
          <p:cNvPr id="28" name="Text 26"/>
          <p:cNvSpPr/>
          <p:nvPr/>
        </p:nvSpPr>
        <p:spPr>
          <a:xfrm>
            <a:off x="10551974" y="2433888"/>
            <a:ext cx="457200" cy="274320"/>
          </a:xfrm>
          <a:prstGeom prst="rect">
            <a:avLst/>
          </a:prstGeom>
          <a:noFill/>
          <a:ln/>
        </p:spPr>
        <p:txBody>
          <a:bodyPr wrap="square" lIns="0" tIns="0" rIns="0" bIns="0" rtlCol="0" anchor="ctr"/>
          <a:lstStyle/>
          <a:p>
            <a:pPr algn="l" indent="0" marL="0">
              <a:buNone/>
            </a:pPr>
            <a:r>
              <a:rPr lang="en-US" sz="1500" b="1" dirty="0">
                <a:solidFill>
                  <a:srgbClr val="1B2A4A"/>
                </a:solidFill>
                <a:latin typeface="Cambria Math" pitchFamily="34" charset="0"/>
                <a:ea typeface="Cambria Math" pitchFamily="34" charset="-122"/>
                <a:cs typeface="Cambria Math" pitchFamily="34" charset="-120"/>
              </a:rPr>
              <a:t>z</a:t>
            </a:r>
            <a:endParaRPr lang="en-US" sz="1500" dirty="0"/>
          </a:p>
        </p:txBody>
      </p:sp>
      <p:sp>
        <p:nvSpPr>
          <p:cNvPr id="29" name="Text 27"/>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9AA9C2"/>
                </a:solidFill>
                <a:latin typeface="Calibri" pitchFamily="34" charset="0"/>
                <a:ea typeface="Calibri" pitchFamily="34" charset="-122"/>
                <a:cs typeface="Calibri" pitchFamily="34" charset="-120"/>
              </a:rPr>
              <a:t>04 / 08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rtlCol="0" anchor="ctr"/>
          <a:lstStyle/>
          <a:p>
            <a:pPr algn="l" indent="0" marL="0">
              <a:buNone/>
            </a:pPr>
            <a:r>
              <a:rPr lang="en-US" sz="1250" b="1" spc="200" kern="0" dirty="0">
                <a:solidFill>
                  <a:srgbClr val="1E3A5F"/>
                </a:solidFill>
                <a:latin typeface="Calibri" pitchFamily="34" charset="0"/>
                <a:ea typeface="Calibri" pitchFamily="34" charset="-122"/>
                <a:cs typeface="Calibri" pitchFamily="34" charset="-120"/>
              </a:rPr>
              <a:t>TRY IT TOGETHER</a:t>
            </a:r>
            <a:endParaRPr lang="en-US" sz="125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Worked Examples — Part 1</a:t>
            </a:r>
            <a:endParaRPr lang="en-US" sz="3000" dirty="0"/>
          </a:p>
        </p:txBody>
      </p:sp>
      <p:sp>
        <p:nvSpPr>
          <p:cNvPr id="4" name="Shape 2"/>
          <p:cNvSpPr/>
          <p:nvPr/>
        </p:nvSpPr>
        <p:spPr>
          <a:xfrm>
            <a:off x="548640" y="1554480"/>
            <a:ext cx="5440680" cy="4846320"/>
          </a:xfrm>
          <a:prstGeom prst="roundRect">
            <a:avLst>
              <a:gd name="adj" fmla="val 1887"/>
            </a:avLst>
          </a:prstGeom>
          <a:solidFill>
            <a:srgbClr val="FFFFFF"/>
          </a:solidFill>
          <a:ln w="12700">
            <a:solidFill>
              <a:srgbClr val="D7E1F0"/>
            </a:solidFill>
            <a:prstDash val="solid"/>
          </a:ln>
        </p:spPr>
      </p:sp>
      <p:sp>
        <p:nvSpPr>
          <p:cNvPr id="5" name="Text 3"/>
          <p:cNvSpPr/>
          <p:nvPr/>
        </p:nvSpPr>
        <p:spPr>
          <a:xfrm>
            <a:off x="868680" y="1792224"/>
            <a:ext cx="4800600" cy="274320"/>
          </a:xfrm>
          <a:prstGeom prst="rect">
            <a:avLst/>
          </a:prstGeom>
          <a:noFill/>
          <a:ln/>
        </p:spPr>
        <p:txBody>
          <a:bodyPr wrap="square" lIns="0" tIns="0" rIns="0" bIns="0" rtlCol="0" anchor="ctr"/>
          <a:lstStyle/>
          <a:p>
            <a:pPr algn="l" indent="0" marL="0">
              <a:buNone/>
            </a:pPr>
            <a:r>
              <a:rPr lang="en-US" sz="1150" b="1" dirty="0">
                <a:solidFill>
                  <a:srgbClr val="D99A3D"/>
                </a:solidFill>
                <a:latin typeface="Calibri" pitchFamily="34" charset="0"/>
                <a:ea typeface="Calibri" pitchFamily="34" charset="-122"/>
                <a:cs typeface="Calibri" pitchFamily="34" charset="-120"/>
              </a:rPr>
              <a:t>SIMPLE EXAMPLE</a:t>
            </a:r>
            <a:endParaRPr lang="en-US" sz="1150" dirty="0"/>
          </a:p>
        </p:txBody>
      </p:sp>
      <p:sp>
        <p:nvSpPr>
          <p:cNvPr id="6" name="Text 4"/>
          <p:cNvSpPr/>
          <p:nvPr/>
        </p:nvSpPr>
        <p:spPr>
          <a:xfrm>
            <a:off x="868680" y="2157984"/>
            <a:ext cx="4800600" cy="530352"/>
          </a:xfrm>
          <a:prstGeom prst="rect">
            <a:avLst/>
          </a:prstGeom>
          <a:noFill/>
          <a:ln/>
        </p:spPr>
        <p:txBody>
          <a:bodyPr wrap="square" lIns="0" tIns="0" rIns="0" bIns="0" rtlCol="0" anchor="ctr"/>
          <a:lstStyle/>
          <a:p>
            <a:pPr algn="l" indent="0" marL="0">
              <a:buNone/>
            </a:pPr>
            <a:r>
              <a:rPr lang="en-US" sz="1350" i="1" dirty="0">
                <a:solidFill>
                  <a:srgbClr val="1B2A4A"/>
                </a:solidFill>
                <a:latin typeface="Calibri" pitchFamily="34" charset="0"/>
                <a:ea typeface="Calibri" pitchFamily="34" charset="-122"/>
                <a:cs typeface="Calibri" pitchFamily="34" charset="-120"/>
              </a:rPr>
              <a:t>Find the centre and radius of |z − (2 + 3i)| = 5.</a:t>
            </a:r>
            <a:endParaRPr lang="en-US" sz="1350" dirty="0"/>
          </a:p>
        </p:txBody>
      </p:sp>
      <p:sp>
        <p:nvSpPr>
          <p:cNvPr id="7" name="Text 5"/>
          <p:cNvSpPr/>
          <p:nvPr/>
        </p:nvSpPr>
        <p:spPr>
          <a:xfrm>
            <a:off x="868680" y="276148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Compare with |z − z₀| = r :</a:t>
            </a:r>
            <a:endParaRPr lang="en-US" sz="1400" dirty="0"/>
          </a:p>
        </p:txBody>
      </p:sp>
      <p:sp>
        <p:nvSpPr>
          <p:cNvPr id="8" name="Text 6"/>
          <p:cNvSpPr/>
          <p:nvPr/>
        </p:nvSpPr>
        <p:spPr>
          <a:xfrm>
            <a:off x="868680" y="312724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z₀ = 2 + 3i ,   r = 5</a:t>
            </a:r>
            <a:endParaRPr lang="en-US" sz="1400" dirty="0"/>
          </a:p>
        </p:txBody>
      </p:sp>
      <p:sp>
        <p:nvSpPr>
          <p:cNvPr id="9" name="Shape 7"/>
          <p:cNvSpPr/>
          <p:nvPr/>
        </p:nvSpPr>
        <p:spPr>
          <a:xfrm>
            <a:off x="868680" y="3547872"/>
            <a:ext cx="4800600" cy="530352"/>
          </a:xfrm>
          <a:prstGeom prst="roundRect">
            <a:avLst>
              <a:gd name="adj" fmla="val 13793"/>
            </a:avLst>
          </a:prstGeom>
          <a:solidFill>
            <a:srgbClr val="D99A3D"/>
          </a:solidFill>
          <a:ln/>
        </p:spPr>
      </p:sp>
      <p:sp>
        <p:nvSpPr>
          <p:cNvPr id="10" name="Text 8"/>
          <p:cNvSpPr/>
          <p:nvPr/>
        </p:nvSpPr>
        <p:spPr>
          <a:xfrm>
            <a:off x="868680" y="3547872"/>
            <a:ext cx="4800600" cy="530352"/>
          </a:xfrm>
          <a:prstGeom prst="rect">
            <a:avLst/>
          </a:prstGeom>
          <a:noFill/>
          <a:ln/>
        </p:spPr>
        <p:txBody>
          <a:bodyPr wrap="square" lIns="0" tIns="0" rIns="0" bIns="0" rtlCol="0" anchor="ctr"/>
          <a:lstStyle/>
          <a:p>
            <a:pPr algn="ctr" indent="0" marL="0">
              <a:buNone/>
            </a:pPr>
            <a:r>
              <a:rPr lang="en-US" sz="1450" b="1" dirty="0">
                <a:solidFill>
                  <a:srgbClr val="0F1C33"/>
                </a:solidFill>
                <a:latin typeface="Calibri" pitchFamily="34" charset="0"/>
                <a:ea typeface="Calibri" pitchFamily="34" charset="-122"/>
                <a:cs typeface="Calibri" pitchFamily="34" charset="-120"/>
              </a:rPr>
              <a:t>Centre = (2, 3)      Radius = 5</a:t>
            </a:r>
            <a:endParaRPr lang="en-US" sz="1450" dirty="0"/>
          </a:p>
        </p:txBody>
      </p:sp>
      <p:sp>
        <p:nvSpPr>
          <p:cNvPr id="11" name="Shape 9"/>
          <p:cNvSpPr/>
          <p:nvPr/>
        </p:nvSpPr>
        <p:spPr>
          <a:xfrm>
            <a:off x="2415881" y="5862401"/>
            <a:ext cx="2193682" cy="0"/>
          </a:xfrm>
          <a:prstGeom prst="line">
            <a:avLst/>
          </a:prstGeom>
          <a:noFill/>
          <a:ln w="19050">
            <a:solidFill>
              <a:srgbClr val="9AA9C2"/>
            </a:solidFill>
            <a:prstDash val="solid"/>
            <a:tailEnd type="triangle"/>
          </a:ln>
        </p:spPr>
      </p:sp>
      <p:sp>
        <p:nvSpPr>
          <p:cNvPr id="12" name="Shape 10"/>
          <p:cNvSpPr/>
          <p:nvPr/>
        </p:nvSpPr>
        <p:spPr>
          <a:xfrm flipV="1">
            <a:off x="2415881" y="4519331"/>
            <a:ext cx="0" cy="1343071"/>
          </a:xfrm>
          <a:prstGeom prst="line">
            <a:avLst/>
          </a:prstGeom>
          <a:noFill/>
          <a:ln w="19050">
            <a:solidFill>
              <a:srgbClr val="9AA9C2"/>
            </a:solidFill>
            <a:prstDash val="solid"/>
            <a:headEnd type="none"/>
            <a:tailEnd type="triangle"/>
          </a:ln>
        </p:spPr>
      </p:sp>
      <p:sp>
        <p:nvSpPr>
          <p:cNvPr id="13" name="Text 11"/>
          <p:cNvSpPr/>
          <p:nvPr/>
        </p:nvSpPr>
        <p:spPr>
          <a:xfrm>
            <a:off x="4563844" y="599956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14" name="Text 12"/>
          <p:cNvSpPr/>
          <p:nvPr/>
        </p:nvSpPr>
        <p:spPr>
          <a:xfrm>
            <a:off x="2123273" y="442789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15" name="Shape 13"/>
          <p:cNvSpPr/>
          <p:nvPr/>
        </p:nvSpPr>
        <p:spPr>
          <a:xfrm>
            <a:off x="2828788" y="4440326"/>
            <a:ext cx="1185062" cy="1185062"/>
          </a:xfrm>
          <a:prstGeom prst="ellipse">
            <a:avLst/>
          </a:prstGeom>
          <a:ln w="28575">
            <a:solidFill>
              <a:srgbClr val="1E3A5F"/>
            </a:solidFill>
            <a:prstDash val="dash"/>
          </a:ln>
        </p:spPr>
      </p:sp>
      <p:sp>
        <p:nvSpPr>
          <p:cNvPr id="16" name="Shape 14"/>
          <p:cNvSpPr/>
          <p:nvPr/>
        </p:nvSpPr>
        <p:spPr>
          <a:xfrm>
            <a:off x="3352739" y="4964278"/>
            <a:ext cx="137160" cy="137160"/>
          </a:xfrm>
          <a:prstGeom prst="ellipse">
            <a:avLst/>
          </a:prstGeom>
          <a:solidFill>
            <a:srgbClr val="D99A3D"/>
          </a:solidFill>
          <a:ln w="19050">
            <a:solidFill>
              <a:srgbClr val="FFFFFF"/>
            </a:solidFill>
            <a:prstDash val="solid"/>
          </a:ln>
        </p:spPr>
      </p:sp>
      <p:sp>
        <p:nvSpPr>
          <p:cNvPr id="17" name="Text 15"/>
          <p:cNvSpPr/>
          <p:nvPr/>
        </p:nvSpPr>
        <p:spPr>
          <a:xfrm>
            <a:off x="3101279" y="5124298"/>
            <a:ext cx="1280160"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Math" pitchFamily="34" charset="0"/>
                <a:ea typeface="Cambria Math" pitchFamily="34" charset="-122"/>
                <a:cs typeface="Cambria Math" pitchFamily="34" charset="-120"/>
              </a:rPr>
              <a:t>z₀(2, 3)</a:t>
            </a:r>
            <a:endParaRPr lang="en-US" sz="1400" dirty="0"/>
          </a:p>
        </p:txBody>
      </p:sp>
      <p:sp>
        <p:nvSpPr>
          <p:cNvPr id="18" name="Shape 16"/>
          <p:cNvSpPr/>
          <p:nvPr/>
        </p:nvSpPr>
        <p:spPr>
          <a:xfrm flipV="1">
            <a:off x="3421319" y="4578952"/>
            <a:ext cx="380872" cy="453905"/>
          </a:xfrm>
          <a:prstGeom prst="line">
            <a:avLst/>
          </a:prstGeom>
          <a:noFill/>
          <a:ln w="25400">
            <a:solidFill>
              <a:srgbClr val="1E3A5F"/>
            </a:solidFill>
            <a:prstDash val="dash"/>
          </a:ln>
        </p:spPr>
      </p:sp>
      <p:sp>
        <p:nvSpPr>
          <p:cNvPr id="19" name="Text 17"/>
          <p:cNvSpPr/>
          <p:nvPr/>
        </p:nvSpPr>
        <p:spPr>
          <a:xfrm>
            <a:off x="3666619" y="4513297"/>
            <a:ext cx="365760" cy="274320"/>
          </a:xfrm>
          <a:prstGeom prst="rect">
            <a:avLst/>
          </a:prstGeom>
          <a:noFill/>
          <a:ln/>
        </p:spPr>
        <p:txBody>
          <a:bodyPr wrap="square" lIns="0" tIns="0" rIns="0" bIns="0" rtlCol="0" anchor="ctr"/>
          <a:lstStyle/>
          <a:p>
            <a:pPr algn="l" indent="0" marL="0">
              <a:buNone/>
            </a:pPr>
            <a:r>
              <a:rPr lang="en-US" sz="1400" b="1" i="1" dirty="0">
                <a:solidFill>
                  <a:srgbClr val="1E3A5F"/>
                </a:solidFill>
                <a:latin typeface="Cambria Math" pitchFamily="34" charset="0"/>
                <a:ea typeface="Cambria Math" pitchFamily="34" charset="-122"/>
                <a:cs typeface="Cambria Math" pitchFamily="34" charset="-120"/>
              </a:rPr>
              <a:t>r</a:t>
            </a:r>
            <a:endParaRPr lang="en-US" sz="1400" dirty="0"/>
          </a:p>
        </p:txBody>
      </p:sp>
      <p:sp>
        <p:nvSpPr>
          <p:cNvPr id="20" name="Shape 18"/>
          <p:cNvSpPr/>
          <p:nvPr/>
        </p:nvSpPr>
        <p:spPr>
          <a:xfrm>
            <a:off x="3733611" y="4510372"/>
            <a:ext cx="137160" cy="137160"/>
          </a:xfrm>
          <a:prstGeom prst="ellipse">
            <a:avLst/>
          </a:prstGeom>
          <a:solidFill>
            <a:srgbClr val="1E3A5F"/>
          </a:solidFill>
          <a:ln w="19050">
            <a:solidFill>
              <a:srgbClr val="FFFFFF"/>
            </a:solidFill>
            <a:prstDash val="solid"/>
          </a:ln>
        </p:spPr>
      </p:sp>
      <p:sp>
        <p:nvSpPr>
          <p:cNvPr id="21" name="Text 19"/>
          <p:cNvSpPr/>
          <p:nvPr/>
        </p:nvSpPr>
        <p:spPr>
          <a:xfrm>
            <a:off x="3893631" y="4286344"/>
            <a:ext cx="457200" cy="274320"/>
          </a:xfrm>
          <a:prstGeom prst="rect">
            <a:avLst/>
          </a:prstGeom>
          <a:noFill/>
          <a:ln/>
        </p:spPr>
        <p:txBody>
          <a:bodyPr wrap="square" lIns="0" tIns="0" rIns="0" bIns="0" rtlCol="0" anchor="ctr"/>
          <a:lstStyle/>
          <a:p>
            <a:pPr algn="l" indent="0" marL="0">
              <a:buNone/>
            </a:pPr>
            <a:r>
              <a:rPr lang="en-US" sz="1500" b="1" dirty="0">
                <a:solidFill>
                  <a:srgbClr val="1B2A4A"/>
                </a:solidFill>
                <a:latin typeface="Cambria Math" pitchFamily="34" charset="0"/>
                <a:ea typeface="Cambria Math" pitchFamily="34" charset="-122"/>
                <a:cs typeface="Cambria Math" pitchFamily="34" charset="-120"/>
              </a:rPr>
              <a:t>z</a:t>
            </a:r>
            <a:endParaRPr lang="en-US" sz="1500" dirty="0"/>
          </a:p>
        </p:txBody>
      </p:sp>
      <p:sp>
        <p:nvSpPr>
          <p:cNvPr id="22" name="Shape 20"/>
          <p:cNvSpPr/>
          <p:nvPr/>
        </p:nvSpPr>
        <p:spPr>
          <a:xfrm>
            <a:off x="6172200" y="1554480"/>
            <a:ext cx="5440680" cy="4846320"/>
          </a:xfrm>
          <a:prstGeom prst="roundRect">
            <a:avLst>
              <a:gd name="adj" fmla="val 1887"/>
            </a:avLst>
          </a:prstGeom>
          <a:solidFill>
            <a:srgbClr val="FFFFFF"/>
          </a:solidFill>
          <a:ln w="12700">
            <a:solidFill>
              <a:srgbClr val="D7E1F0"/>
            </a:solidFill>
            <a:prstDash val="solid"/>
          </a:ln>
        </p:spPr>
      </p:sp>
      <p:sp>
        <p:nvSpPr>
          <p:cNvPr id="23" name="Text 21"/>
          <p:cNvSpPr/>
          <p:nvPr/>
        </p:nvSpPr>
        <p:spPr>
          <a:xfrm>
            <a:off x="6492240" y="1792224"/>
            <a:ext cx="4800600" cy="274320"/>
          </a:xfrm>
          <a:prstGeom prst="rect">
            <a:avLst/>
          </a:prstGeom>
          <a:noFill/>
          <a:ln/>
        </p:spPr>
        <p:txBody>
          <a:bodyPr wrap="square" lIns="0" tIns="0" rIns="0" bIns="0" rtlCol="0" anchor="ctr"/>
          <a:lstStyle/>
          <a:p>
            <a:pPr algn="l" indent="0" marL="0">
              <a:buNone/>
            </a:pPr>
            <a:r>
              <a:rPr lang="en-US" sz="1150" b="1" dirty="0">
                <a:solidFill>
                  <a:srgbClr val="D99A3D"/>
                </a:solidFill>
                <a:latin typeface="Calibri" pitchFamily="34" charset="0"/>
                <a:ea typeface="Calibri" pitchFamily="34" charset="-122"/>
                <a:cs typeface="Calibri" pitchFamily="34" charset="-120"/>
              </a:rPr>
              <a:t>SOLVED PROBLEM 1</a:t>
            </a:r>
            <a:endParaRPr lang="en-US" sz="1150" dirty="0"/>
          </a:p>
        </p:txBody>
      </p:sp>
      <p:sp>
        <p:nvSpPr>
          <p:cNvPr id="24" name="Text 22"/>
          <p:cNvSpPr/>
          <p:nvPr/>
        </p:nvSpPr>
        <p:spPr>
          <a:xfrm>
            <a:off x="6492240" y="2157984"/>
            <a:ext cx="4800600" cy="530352"/>
          </a:xfrm>
          <a:prstGeom prst="rect">
            <a:avLst/>
          </a:prstGeom>
          <a:noFill/>
          <a:ln/>
        </p:spPr>
        <p:txBody>
          <a:bodyPr wrap="square" lIns="0" tIns="0" rIns="0" bIns="0" rtlCol="0" anchor="ctr"/>
          <a:lstStyle/>
          <a:p>
            <a:pPr algn="l" indent="0" marL="0">
              <a:buNone/>
            </a:pPr>
            <a:r>
              <a:rPr lang="en-US" sz="1350" i="1" dirty="0">
                <a:solidFill>
                  <a:srgbClr val="1B2A4A"/>
                </a:solidFill>
                <a:latin typeface="Calibri" pitchFamily="34" charset="0"/>
                <a:ea typeface="Calibri" pitchFamily="34" charset="-122"/>
                <a:cs typeface="Calibri" pitchFamily="34" charset="-120"/>
              </a:rPr>
              <a:t>Find the equation of the circle with centre 3 + 2i and radius 4.</a:t>
            </a:r>
            <a:endParaRPr lang="en-US" sz="1350" dirty="0"/>
          </a:p>
        </p:txBody>
      </p:sp>
      <p:sp>
        <p:nvSpPr>
          <p:cNvPr id="25" name="Text 23"/>
          <p:cNvSpPr/>
          <p:nvPr/>
        </p:nvSpPr>
        <p:spPr>
          <a:xfrm>
            <a:off x="6492240" y="276148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|z − z₀| = r</a:t>
            </a:r>
            <a:endParaRPr lang="en-US" sz="1400" dirty="0"/>
          </a:p>
        </p:txBody>
      </p:sp>
      <p:sp>
        <p:nvSpPr>
          <p:cNvPr id="26" name="Text 24"/>
          <p:cNvSpPr/>
          <p:nvPr/>
        </p:nvSpPr>
        <p:spPr>
          <a:xfrm>
            <a:off x="6492240" y="312724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z₀ = 3 + 2i ,   r = 4</a:t>
            </a:r>
            <a:endParaRPr lang="en-US" sz="1400" dirty="0"/>
          </a:p>
        </p:txBody>
      </p:sp>
      <p:sp>
        <p:nvSpPr>
          <p:cNvPr id="27" name="Shape 25"/>
          <p:cNvSpPr/>
          <p:nvPr/>
        </p:nvSpPr>
        <p:spPr>
          <a:xfrm>
            <a:off x="6492240" y="3547872"/>
            <a:ext cx="4800600" cy="530352"/>
          </a:xfrm>
          <a:prstGeom prst="roundRect">
            <a:avLst>
              <a:gd name="adj" fmla="val 13793"/>
            </a:avLst>
          </a:prstGeom>
          <a:solidFill>
            <a:srgbClr val="D99A3D"/>
          </a:solidFill>
          <a:ln/>
        </p:spPr>
      </p:sp>
      <p:sp>
        <p:nvSpPr>
          <p:cNvPr id="28" name="Text 26"/>
          <p:cNvSpPr/>
          <p:nvPr/>
        </p:nvSpPr>
        <p:spPr>
          <a:xfrm>
            <a:off x="6492240" y="3547872"/>
            <a:ext cx="4800600" cy="530352"/>
          </a:xfrm>
          <a:prstGeom prst="rect">
            <a:avLst/>
          </a:prstGeom>
          <a:noFill/>
          <a:ln/>
        </p:spPr>
        <p:txBody>
          <a:bodyPr wrap="square" lIns="0" tIns="0" rIns="0" bIns="0" rtlCol="0" anchor="ctr"/>
          <a:lstStyle/>
          <a:p>
            <a:pPr algn="ctr" indent="0" marL="0">
              <a:buNone/>
            </a:pPr>
            <a:r>
              <a:rPr lang="en-US" sz="1450" b="1" dirty="0">
                <a:solidFill>
                  <a:srgbClr val="0F1C33"/>
                </a:solidFill>
                <a:latin typeface="Calibri" pitchFamily="34" charset="0"/>
                <a:ea typeface="Calibri" pitchFamily="34" charset="-122"/>
                <a:cs typeface="Calibri" pitchFamily="34" charset="-120"/>
              </a:rPr>
              <a:t>|z − (3 + 2i)| = 4</a:t>
            </a:r>
            <a:endParaRPr lang="en-US" sz="1450" dirty="0"/>
          </a:p>
        </p:txBody>
      </p:sp>
      <p:sp>
        <p:nvSpPr>
          <p:cNvPr id="29" name="Shape 27"/>
          <p:cNvSpPr/>
          <p:nvPr/>
        </p:nvSpPr>
        <p:spPr>
          <a:xfrm>
            <a:off x="8039441" y="5862401"/>
            <a:ext cx="2193682" cy="0"/>
          </a:xfrm>
          <a:prstGeom prst="line">
            <a:avLst/>
          </a:prstGeom>
          <a:noFill/>
          <a:ln w="19050">
            <a:solidFill>
              <a:srgbClr val="9AA9C2"/>
            </a:solidFill>
            <a:prstDash val="solid"/>
            <a:tailEnd type="triangle"/>
          </a:ln>
        </p:spPr>
      </p:sp>
      <p:sp>
        <p:nvSpPr>
          <p:cNvPr id="30" name="Shape 28"/>
          <p:cNvSpPr/>
          <p:nvPr/>
        </p:nvSpPr>
        <p:spPr>
          <a:xfrm flipV="1">
            <a:off x="8039441" y="4519331"/>
            <a:ext cx="0" cy="1343071"/>
          </a:xfrm>
          <a:prstGeom prst="line">
            <a:avLst/>
          </a:prstGeom>
          <a:noFill/>
          <a:ln w="19050">
            <a:solidFill>
              <a:srgbClr val="9AA9C2"/>
            </a:solidFill>
            <a:prstDash val="solid"/>
            <a:headEnd type="none"/>
            <a:tailEnd type="triangle"/>
          </a:ln>
        </p:spPr>
      </p:sp>
      <p:sp>
        <p:nvSpPr>
          <p:cNvPr id="31" name="Text 29"/>
          <p:cNvSpPr/>
          <p:nvPr/>
        </p:nvSpPr>
        <p:spPr>
          <a:xfrm>
            <a:off x="10187404" y="599956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32" name="Text 30"/>
          <p:cNvSpPr/>
          <p:nvPr/>
        </p:nvSpPr>
        <p:spPr>
          <a:xfrm>
            <a:off x="7746833" y="442789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33" name="Shape 31"/>
          <p:cNvSpPr/>
          <p:nvPr/>
        </p:nvSpPr>
        <p:spPr>
          <a:xfrm>
            <a:off x="8452348" y="4440326"/>
            <a:ext cx="1185062" cy="1185062"/>
          </a:xfrm>
          <a:prstGeom prst="ellipse">
            <a:avLst/>
          </a:prstGeom>
          <a:ln w="28575">
            <a:solidFill>
              <a:srgbClr val="1E3A5F"/>
            </a:solidFill>
            <a:prstDash val="dash"/>
          </a:ln>
        </p:spPr>
      </p:sp>
      <p:sp>
        <p:nvSpPr>
          <p:cNvPr id="34" name="Shape 32"/>
          <p:cNvSpPr/>
          <p:nvPr/>
        </p:nvSpPr>
        <p:spPr>
          <a:xfrm>
            <a:off x="8976299" y="4964278"/>
            <a:ext cx="137160" cy="137160"/>
          </a:xfrm>
          <a:prstGeom prst="ellipse">
            <a:avLst/>
          </a:prstGeom>
          <a:solidFill>
            <a:srgbClr val="D99A3D"/>
          </a:solidFill>
          <a:ln w="19050">
            <a:solidFill>
              <a:srgbClr val="FFFFFF"/>
            </a:solidFill>
            <a:prstDash val="solid"/>
          </a:ln>
        </p:spPr>
      </p:sp>
      <p:sp>
        <p:nvSpPr>
          <p:cNvPr id="35" name="Text 33"/>
          <p:cNvSpPr/>
          <p:nvPr/>
        </p:nvSpPr>
        <p:spPr>
          <a:xfrm>
            <a:off x="8724839" y="5124298"/>
            <a:ext cx="1280160"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Math" pitchFamily="34" charset="0"/>
                <a:ea typeface="Cambria Math" pitchFamily="34" charset="-122"/>
                <a:cs typeface="Cambria Math" pitchFamily="34" charset="-120"/>
              </a:rPr>
              <a:t>z₀(3, 2)</a:t>
            </a:r>
            <a:endParaRPr lang="en-US" sz="1400" dirty="0"/>
          </a:p>
        </p:txBody>
      </p:sp>
      <p:sp>
        <p:nvSpPr>
          <p:cNvPr id="36" name="Shape 34"/>
          <p:cNvSpPr/>
          <p:nvPr/>
        </p:nvSpPr>
        <p:spPr>
          <a:xfrm flipV="1">
            <a:off x="9044879" y="4519711"/>
            <a:ext cx="296266" cy="513147"/>
          </a:xfrm>
          <a:prstGeom prst="line">
            <a:avLst/>
          </a:prstGeom>
          <a:noFill/>
          <a:ln w="25400">
            <a:solidFill>
              <a:srgbClr val="1E3A5F"/>
            </a:solidFill>
            <a:prstDash val="dash"/>
          </a:ln>
        </p:spPr>
      </p:sp>
      <p:sp>
        <p:nvSpPr>
          <p:cNvPr id="37" name="Text 35"/>
          <p:cNvSpPr/>
          <p:nvPr/>
        </p:nvSpPr>
        <p:spPr>
          <a:xfrm>
            <a:off x="9247876" y="4483676"/>
            <a:ext cx="365760" cy="274320"/>
          </a:xfrm>
          <a:prstGeom prst="rect">
            <a:avLst/>
          </a:prstGeom>
          <a:noFill/>
          <a:ln/>
        </p:spPr>
        <p:txBody>
          <a:bodyPr wrap="square" lIns="0" tIns="0" rIns="0" bIns="0" rtlCol="0" anchor="ctr"/>
          <a:lstStyle/>
          <a:p>
            <a:pPr algn="l" indent="0" marL="0">
              <a:buNone/>
            </a:pPr>
            <a:r>
              <a:rPr lang="en-US" sz="1400" b="1" i="1" dirty="0">
                <a:solidFill>
                  <a:srgbClr val="1E3A5F"/>
                </a:solidFill>
                <a:latin typeface="Cambria Math" pitchFamily="34" charset="0"/>
                <a:ea typeface="Cambria Math" pitchFamily="34" charset="-122"/>
                <a:cs typeface="Cambria Math" pitchFamily="34" charset="-120"/>
              </a:rPr>
              <a:t>r</a:t>
            </a:r>
            <a:endParaRPr lang="en-US" sz="1400" dirty="0"/>
          </a:p>
        </p:txBody>
      </p:sp>
      <p:sp>
        <p:nvSpPr>
          <p:cNvPr id="38" name="Shape 36"/>
          <p:cNvSpPr/>
          <p:nvPr/>
        </p:nvSpPr>
        <p:spPr>
          <a:xfrm>
            <a:off x="9272565" y="4451131"/>
            <a:ext cx="137160" cy="137160"/>
          </a:xfrm>
          <a:prstGeom prst="ellipse">
            <a:avLst/>
          </a:prstGeom>
          <a:solidFill>
            <a:srgbClr val="1E3A5F"/>
          </a:solidFill>
          <a:ln w="19050">
            <a:solidFill>
              <a:srgbClr val="FFFFFF"/>
            </a:solidFill>
            <a:prstDash val="solid"/>
          </a:ln>
        </p:spPr>
      </p:sp>
      <p:sp>
        <p:nvSpPr>
          <p:cNvPr id="39" name="Text 37"/>
          <p:cNvSpPr/>
          <p:nvPr/>
        </p:nvSpPr>
        <p:spPr>
          <a:xfrm>
            <a:off x="9432585" y="4227103"/>
            <a:ext cx="457200" cy="274320"/>
          </a:xfrm>
          <a:prstGeom prst="rect">
            <a:avLst/>
          </a:prstGeom>
          <a:noFill/>
          <a:ln/>
        </p:spPr>
        <p:txBody>
          <a:bodyPr wrap="square" lIns="0" tIns="0" rIns="0" bIns="0" rtlCol="0" anchor="ctr"/>
          <a:lstStyle/>
          <a:p>
            <a:pPr algn="l" indent="0" marL="0">
              <a:buNone/>
            </a:pPr>
            <a:r>
              <a:rPr lang="en-US" sz="1500" b="1" dirty="0">
                <a:solidFill>
                  <a:srgbClr val="1B2A4A"/>
                </a:solidFill>
                <a:latin typeface="Cambria Math" pitchFamily="34" charset="0"/>
                <a:ea typeface="Cambria Math" pitchFamily="34" charset="-122"/>
                <a:cs typeface="Cambria Math" pitchFamily="34" charset="-120"/>
              </a:rPr>
              <a:t>z</a:t>
            </a:r>
            <a:endParaRPr lang="en-US" sz="1500" dirty="0"/>
          </a:p>
        </p:txBody>
      </p:sp>
      <p:sp>
        <p:nvSpPr>
          <p:cNvPr id="40" name="Text 38"/>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9AA9C2"/>
                </a:solidFill>
                <a:latin typeface="Calibri" pitchFamily="34" charset="0"/>
                <a:ea typeface="Calibri" pitchFamily="34" charset="-122"/>
                <a:cs typeface="Calibri" pitchFamily="34" charset="-120"/>
              </a:rPr>
              <a:t>05 / 08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rtlCol="0" anchor="ctr"/>
          <a:lstStyle/>
          <a:p>
            <a:pPr algn="l" indent="0" marL="0">
              <a:buNone/>
            </a:pPr>
            <a:r>
              <a:rPr lang="en-US" sz="1250" b="1" spc="200" kern="0" dirty="0">
                <a:solidFill>
                  <a:srgbClr val="1E3A5F"/>
                </a:solidFill>
                <a:latin typeface="Calibri" pitchFamily="34" charset="0"/>
                <a:ea typeface="Calibri" pitchFamily="34" charset="-122"/>
                <a:cs typeface="Calibri" pitchFamily="34" charset="-120"/>
              </a:rPr>
              <a:t>TRY IT TOGETHER</a:t>
            </a:r>
            <a:endParaRPr lang="en-US" sz="125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algn="l" indent="0" marL="0">
              <a:buNone/>
            </a:pPr>
            <a:r>
              <a:rPr lang="en-US" sz="3000" b="1" dirty="0">
                <a:solidFill>
                  <a:srgbClr val="1B2A4A"/>
                </a:solidFill>
                <a:latin typeface="Cambria" pitchFamily="34" charset="0"/>
                <a:ea typeface="Cambria" pitchFamily="34" charset="-122"/>
                <a:cs typeface="Cambria" pitchFamily="34" charset="-120"/>
              </a:rPr>
              <a:t>Worked Examples — Part 2</a:t>
            </a:r>
            <a:endParaRPr lang="en-US" sz="3000" dirty="0"/>
          </a:p>
        </p:txBody>
      </p:sp>
      <p:sp>
        <p:nvSpPr>
          <p:cNvPr id="4" name="Shape 2"/>
          <p:cNvSpPr/>
          <p:nvPr/>
        </p:nvSpPr>
        <p:spPr>
          <a:xfrm>
            <a:off x="548640" y="1554480"/>
            <a:ext cx="5440680" cy="4846320"/>
          </a:xfrm>
          <a:prstGeom prst="roundRect">
            <a:avLst>
              <a:gd name="adj" fmla="val 1887"/>
            </a:avLst>
          </a:prstGeom>
          <a:solidFill>
            <a:srgbClr val="FFFFFF"/>
          </a:solidFill>
          <a:ln w="12700">
            <a:solidFill>
              <a:srgbClr val="D7E1F0"/>
            </a:solidFill>
            <a:prstDash val="solid"/>
          </a:ln>
        </p:spPr>
      </p:sp>
      <p:sp>
        <p:nvSpPr>
          <p:cNvPr id="5" name="Text 3"/>
          <p:cNvSpPr/>
          <p:nvPr/>
        </p:nvSpPr>
        <p:spPr>
          <a:xfrm>
            <a:off x="868680" y="1792224"/>
            <a:ext cx="4800600" cy="274320"/>
          </a:xfrm>
          <a:prstGeom prst="rect">
            <a:avLst/>
          </a:prstGeom>
          <a:noFill/>
          <a:ln/>
        </p:spPr>
        <p:txBody>
          <a:bodyPr wrap="square" lIns="0" tIns="0" rIns="0" bIns="0" rtlCol="0" anchor="ctr"/>
          <a:lstStyle/>
          <a:p>
            <a:pPr algn="l" indent="0" marL="0">
              <a:buNone/>
            </a:pPr>
            <a:r>
              <a:rPr lang="en-US" sz="1150" b="1" dirty="0">
                <a:solidFill>
                  <a:srgbClr val="D99A3D"/>
                </a:solidFill>
                <a:latin typeface="Calibri" pitchFamily="34" charset="0"/>
                <a:ea typeface="Calibri" pitchFamily="34" charset="-122"/>
                <a:cs typeface="Calibri" pitchFamily="34" charset="-120"/>
              </a:rPr>
              <a:t>SOLVED PROBLEM 2</a:t>
            </a:r>
            <a:endParaRPr lang="en-US" sz="1150" dirty="0"/>
          </a:p>
        </p:txBody>
      </p:sp>
      <p:sp>
        <p:nvSpPr>
          <p:cNvPr id="6" name="Text 4"/>
          <p:cNvSpPr/>
          <p:nvPr/>
        </p:nvSpPr>
        <p:spPr>
          <a:xfrm>
            <a:off x="868680" y="2157984"/>
            <a:ext cx="4800600" cy="530352"/>
          </a:xfrm>
          <a:prstGeom prst="rect">
            <a:avLst/>
          </a:prstGeom>
          <a:noFill/>
          <a:ln/>
        </p:spPr>
        <p:txBody>
          <a:bodyPr wrap="square" lIns="0" tIns="0" rIns="0" bIns="0" rtlCol="0" anchor="ctr"/>
          <a:lstStyle/>
          <a:p>
            <a:pPr algn="l" indent="0" marL="0">
              <a:buNone/>
            </a:pPr>
            <a:r>
              <a:rPr lang="en-US" sz="1350" i="1" dirty="0">
                <a:solidFill>
                  <a:srgbClr val="1B2A4A"/>
                </a:solidFill>
                <a:latin typeface="Calibri" pitchFamily="34" charset="0"/>
                <a:ea typeface="Calibri" pitchFamily="34" charset="-122"/>
                <a:cs typeface="Calibri" pitchFamily="34" charset="-120"/>
              </a:rPr>
              <a:t>Does z = 3 + 4i lie on the circle |z − (1 + i)| = 4 ?</a:t>
            </a:r>
            <a:endParaRPr lang="en-US" sz="1350" dirty="0"/>
          </a:p>
        </p:txBody>
      </p:sp>
      <p:sp>
        <p:nvSpPr>
          <p:cNvPr id="7" name="Text 5"/>
          <p:cNvSpPr/>
          <p:nvPr/>
        </p:nvSpPr>
        <p:spPr>
          <a:xfrm>
            <a:off x="868680" y="276148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|z − z₀| = |(3+4i) − (1+i)|</a:t>
            </a:r>
            <a:endParaRPr lang="en-US" sz="1400" dirty="0"/>
          </a:p>
        </p:txBody>
      </p:sp>
      <p:sp>
        <p:nvSpPr>
          <p:cNvPr id="8" name="Text 6"/>
          <p:cNvSpPr/>
          <p:nvPr/>
        </p:nvSpPr>
        <p:spPr>
          <a:xfrm>
            <a:off x="868680" y="312724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 |2 + 3i| = √13 ≈ 3.61</a:t>
            </a:r>
            <a:endParaRPr lang="en-US" sz="1400" dirty="0"/>
          </a:p>
        </p:txBody>
      </p:sp>
      <p:sp>
        <p:nvSpPr>
          <p:cNvPr id="9" name="Shape 7"/>
          <p:cNvSpPr/>
          <p:nvPr/>
        </p:nvSpPr>
        <p:spPr>
          <a:xfrm>
            <a:off x="868680" y="3547872"/>
            <a:ext cx="4800600" cy="530352"/>
          </a:xfrm>
          <a:prstGeom prst="roundRect">
            <a:avLst>
              <a:gd name="adj" fmla="val 13793"/>
            </a:avLst>
          </a:prstGeom>
          <a:solidFill>
            <a:srgbClr val="FBEAEA"/>
          </a:solidFill>
          <a:ln w="12700">
            <a:solidFill>
              <a:srgbClr val="C86A6A"/>
            </a:solidFill>
            <a:prstDash val="solid"/>
          </a:ln>
        </p:spPr>
      </p:sp>
      <p:sp>
        <p:nvSpPr>
          <p:cNvPr id="10" name="Text 8"/>
          <p:cNvSpPr/>
          <p:nvPr/>
        </p:nvSpPr>
        <p:spPr>
          <a:xfrm>
            <a:off x="868680" y="3547872"/>
            <a:ext cx="4800600" cy="530352"/>
          </a:xfrm>
          <a:prstGeom prst="rect">
            <a:avLst/>
          </a:prstGeom>
          <a:noFill/>
          <a:ln/>
        </p:spPr>
        <p:txBody>
          <a:bodyPr wrap="square" lIns="0" tIns="0" rIns="0" bIns="0" rtlCol="0" anchor="ctr"/>
          <a:lstStyle/>
          <a:p>
            <a:pPr algn="ctr" indent="0" marL="0">
              <a:buNone/>
            </a:pPr>
            <a:r>
              <a:rPr lang="en-US" sz="1450" b="1" dirty="0">
                <a:solidFill>
                  <a:srgbClr val="9C3B3B"/>
                </a:solidFill>
                <a:latin typeface="Calibri" pitchFamily="34" charset="0"/>
                <a:ea typeface="Calibri" pitchFamily="34" charset="-122"/>
                <a:cs typeface="Calibri" pitchFamily="34" charset="-120"/>
              </a:rPr>
              <a:t>√13 ≠ 4  —  z does NOT lie on the circle</a:t>
            </a:r>
            <a:endParaRPr lang="en-US" sz="1450" dirty="0"/>
          </a:p>
        </p:txBody>
      </p:sp>
      <p:sp>
        <p:nvSpPr>
          <p:cNvPr id="11" name="Shape 9"/>
          <p:cNvSpPr/>
          <p:nvPr/>
        </p:nvSpPr>
        <p:spPr>
          <a:xfrm>
            <a:off x="2415881" y="5862401"/>
            <a:ext cx="2193682" cy="0"/>
          </a:xfrm>
          <a:prstGeom prst="line">
            <a:avLst/>
          </a:prstGeom>
          <a:noFill/>
          <a:ln w="19050">
            <a:solidFill>
              <a:srgbClr val="9AA9C2"/>
            </a:solidFill>
            <a:prstDash val="solid"/>
            <a:tailEnd type="triangle"/>
          </a:ln>
        </p:spPr>
      </p:sp>
      <p:sp>
        <p:nvSpPr>
          <p:cNvPr id="12" name="Shape 10"/>
          <p:cNvSpPr/>
          <p:nvPr/>
        </p:nvSpPr>
        <p:spPr>
          <a:xfrm flipV="1">
            <a:off x="2415881" y="4519331"/>
            <a:ext cx="0" cy="1343071"/>
          </a:xfrm>
          <a:prstGeom prst="line">
            <a:avLst/>
          </a:prstGeom>
          <a:noFill/>
          <a:ln w="19050">
            <a:solidFill>
              <a:srgbClr val="9AA9C2"/>
            </a:solidFill>
            <a:prstDash val="solid"/>
            <a:headEnd type="none"/>
            <a:tailEnd type="triangle"/>
          </a:ln>
        </p:spPr>
      </p:sp>
      <p:sp>
        <p:nvSpPr>
          <p:cNvPr id="13" name="Text 11"/>
          <p:cNvSpPr/>
          <p:nvPr/>
        </p:nvSpPr>
        <p:spPr>
          <a:xfrm>
            <a:off x="4563844" y="599956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14" name="Text 12"/>
          <p:cNvSpPr/>
          <p:nvPr/>
        </p:nvSpPr>
        <p:spPr>
          <a:xfrm>
            <a:off x="2123273" y="442789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15" name="Shape 13"/>
          <p:cNvSpPr/>
          <p:nvPr/>
        </p:nvSpPr>
        <p:spPr>
          <a:xfrm>
            <a:off x="2828788" y="4440326"/>
            <a:ext cx="1185062" cy="1185062"/>
          </a:xfrm>
          <a:prstGeom prst="ellipse">
            <a:avLst/>
          </a:prstGeom>
          <a:ln w="28575">
            <a:solidFill>
              <a:srgbClr val="1E3A5F"/>
            </a:solidFill>
            <a:prstDash val="dash"/>
          </a:ln>
        </p:spPr>
      </p:sp>
      <p:sp>
        <p:nvSpPr>
          <p:cNvPr id="16" name="Shape 14"/>
          <p:cNvSpPr/>
          <p:nvPr/>
        </p:nvSpPr>
        <p:spPr>
          <a:xfrm>
            <a:off x="3352739" y="4964278"/>
            <a:ext cx="137160" cy="137160"/>
          </a:xfrm>
          <a:prstGeom prst="ellipse">
            <a:avLst/>
          </a:prstGeom>
          <a:solidFill>
            <a:srgbClr val="D99A3D"/>
          </a:solidFill>
          <a:ln w="19050">
            <a:solidFill>
              <a:srgbClr val="FFFFFF"/>
            </a:solidFill>
            <a:prstDash val="solid"/>
          </a:ln>
        </p:spPr>
      </p:sp>
      <p:sp>
        <p:nvSpPr>
          <p:cNvPr id="17" name="Text 15"/>
          <p:cNvSpPr/>
          <p:nvPr/>
        </p:nvSpPr>
        <p:spPr>
          <a:xfrm>
            <a:off x="3101279" y="5124298"/>
            <a:ext cx="1280160"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Math" pitchFamily="34" charset="0"/>
                <a:ea typeface="Cambria Math" pitchFamily="34" charset="-122"/>
                <a:cs typeface="Cambria Math" pitchFamily="34" charset="-120"/>
              </a:rPr>
              <a:t>z₀(1, 1)</a:t>
            </a:r>
            <a:endParaRPr lang="en-US" sz="1400" dirty="0"/>
          </a:p>
        </p:txBody>
      </p:sp>
      <p:sp>
        <p:nvSpPr>
          <p:cNvPr id="18" name="Shape 16"/>
          <p:cNvSpPr/>
          <p:nvPr/>
        </p:nvSpPr>
        <p:spPr>
          <a:xfrm>
            <a:off x="4056292" y="4373926"/>
            <a:ext cx="137160" cy="137160"/>
          </a:xfrm>
          <a:prstGeom prst="ellipse">
            <a:avLst/>
          </a:prstGeom>
          <a:solidFill>
            <a:srgbClr val="9C3B3B"/>
          </a:solidFill>
          <a:ln w="19050">
            <a:solidFill>
              <a:srgbClr val="FFFFFF"/>
            </a:solidFill>
            <a:prstDash val="solid"/>
          </a:ln>
        </p:spPr>
      </p:sp>
      <p:sp>
        <p:nvSpPr>
          <p:cNvPr id="19" name="Text 17"/>
          <p:cNvSpPr/>
          <p:nvPr/>
        </p:nvSpPr>
        <p:spPr>
          <a:xfrm>
            <a:off x="3530512" y="4168186"/>
            <a:ext cx="1188720" cy="274320"/>
          </a:xfrm>
          <a:prstGeom prst="rect">
            <a:avLst/>
          </a:prstGeom>
          <a:noFill/>
          <a:ln/>
        </p:spPr>
        <p:txBody>
          <a:bodyPr wrap="square" lIns="0" tIns="0" rIns="0" bIns="0" rtlCol="0" anchor="ctr"/>
          <a:lstStyle/>
          <a:p>
            <a:pPr algn="ctr" indent="0" marL="0">
              <a:buNone/>
            </a:pPr>
            <a:r>
              <a:rPr lang="en-US" sz="1300" b="1" dirty="0">
                <a:solidFill>
                  <a:srgbClr val="9C3B3B"/>
                </a:solidFill>
                <a:latin typeface="Cambria Math" pitchFamily="34" charset="0"/>
                <a:ea typeface="Cambria Math" pitchFamily="34" charset="-122"/>
                <a:cs typeface="Cambria Math" pitchFamily="34" charset="-120"/>
              </a:rPr>
              <a:t>z(3, 4)</a:t>
            </a:r>
            <a:endParaRPr lang="en-US" sz="1300" dirty="0"/>
          </a:p>
        </p:txBody>
      </p:sp>
      <p:sp>
        <p:nvSpPr>
          <p:cNvPr id="20" name="Shape 18"/>
          <p:cNvSpPr/>
          <p:nvPr/>
        </p:nvSpPr>
        <p:spPr>
          <a:xfrm>
            <a:off x="6172200" y="1554480"/>
            <a:ext cx="5440680" cy="4846320"/>
          </a:xfrm>
          <a:prstGeom prst="roundRect">
            <a:avLst>
              <a:gd name="adj" fmla="val 1887"/>
            </a:avLst>
          </a:prstGeom>
          <a:solidFill>
            <a:srgbClr val="FFFFFF"/>
          </a:solidFill>
          <a:ln w="12700">
            <a:solidFill>
              <a:srgbClr val="D7E1F0"/>
            </a:solidFill>
            <a:prstDash val="solid"/>
          </a:ln>
        </p:spPr>
      </p:sp>
      <p:sp>
        <p:nvSpPr>
          <p:cNvPr id="21" name="Text 19"/>
          <p:cNvSpPr/>
          <p:nvPr/>
        </p:nvSpPr>
        <p:spPr>
          <a:xfrm>
            <a:off x="6492240" y="1792224"/>
            <a:ext cx="4800600" cy="274320"/>
          </a:xfrm>
          <a:prstGeom prst="rect">
            <a:avLst/>
          </a:prstGeom>
          <a:noFill/>
          <a:ln/>
        </p:spPr>
        <p:txBody>
          <a:bodyPr wrap="square" lIns="0" tIns="0" rIns="0" bIns="0" rtlCol="0" anchor="ctr"/>
          <a:lstStyle/>
          <a:p>
            <a:pPr algn="l" indent="0" marL="0">
              <a:buNone/>
            </a:pPr>
            <a:r>
              <a:rPr lang="en-US" sz="1150" b="1" dirty="0">
                <a:solidFill>
                  <a:srgbClr val="D99A3D"/>
                </a:solidFill>
                <a:latin typeface="Calibri" pitchFamily="34" charset="0"/>
                <a:ea typeface="Calibri" pitchFamily="34" charset="-122"/>
                <a:cs typeface="Calibri" pitchFamily="34" charset="-120"/>
              </a:rPr>
              <a:t>SOLVED PROBLEM 3</a:t>
            </a:r>
            <a:endParaRPr lang="en-US" sz="1150" dirty="0"/>
          </a:p>
        </p:txBody>
      </p:sp>
      <p:sp>
        <p:nvSpPr>
          <p:cNvPr id="22" name="Text 20"/>
          <p:cNvSpPr/>
          <p:nvPr/>
        </p:nvSpPr>
        <p:spPr>
          <a:xfrm>
            <a:off x="6492240" y="2157984"/>
            <a:ext cx="4800600" cy="530352"/>
          </a:xfrm>
          <a:prstGeom prst="rect">
            <a:avLst/>
          </a:prstGeom>
          <a:noFill/>
          <a:ln/>
        </p:spPr>
        <p:txBody>
          <a:bodyPr wrap="square" lIns="0" tIns="0" rIns="0" bIns="0" rtlCol="0" anchor="ctr"/>
          <a:lstStyle/>
          <a:p>
            <a:pPr algn="l" indent="0" marL="0">
              <a:buNone/>
            </a:pPr>
            <a:r>
              <a:rPr lang="en-US" sz="1350" i="1" dirty="0">
                <a:solidFill>
                  <a:srgbClr val="1B2A4A"/>
                </a:solidFill>
                <a:latin typeface="Calibri" pitchFamily="34" charset="0"/>
                <a:ea typeface="Calibri" pitchFamily="34" charset="-122"/>
                <a:cs typeface="Calibri" pitchFamily="34" charset="-120"/>
              </a:rPr>
              <a:t>Find the centre and radius of |z + 2 − 3i| = 6.</a:t>
            </a:r>
            <a:endParaRPr lang="en-US" sz="1350" dirty="0"/>
          </a:p>
        </p:txBody>
      </p:sp>
      <p:sp>
        <p:nvSpPr>
          <p:cNvPr id="23" name="Text 21"/>
          <p:cNvSpPr/>
          <p:nvPr/>
        </p:nvSpPr>
        <p:spPr>
          <a:xfrm>
            <a:off x="6492240" y="276148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Rewrite in standard form:</a:t>
            </a:r>
            <a:endParaRPr lang="en-US" sz="1400" dirty="0"/>
          </a:p>
        </p:txBody>
      </p:sp>
      <p:sp>
        <p:nvSpPr>
          <p:cNvPr id="24" name="Text 22"/>
          <p:cNvSpPr/>
          <p:nvPr/>
        </p:nvSpPr>
        <p:spPr>
          <a:xfrm>
            <a:off x="6492240" y="3127248"/>
            <a:ext cx="4800600" cy="329184"/>
          </a:xfrm>
          <a:prstGeom prst="rect">
            <a:avLst/>
          </a:prstGeom>
          <a:noFill/>
          <a:ln/>
        </p:spPr>
        <p:txBody>
          <a:bodyPr wrap="square" lIns="0" tIns="0" rIns="0" bIns="0" rtlCol="0" anchor="ctr"/>
          <a:lstStyle/>
          <a:p>
            <a:pPr algn="l" indent="0" marL="0">
              <a:buNone/>
            </a:pPr>
            <a:r>
              <a:rPr lang="en-US" sz="1400" dirty="0">
                <a:solidFill>
                  <a:srgbClr val="51617A"/>
                </a:solidFill>
                <a:latin typeface="Calibri" pitchFamily="34" charset="0"/>
                <a:ea typeface="Calibri" pitchFamily="34" charset="-122"/>
                <a:cs typeface="Calibri" pitchFamily="34" charset="-120"/>
              </a:rPr>
              <a:t>|z − (−2 + 3i)| = 6</a:t>
            </a:r>
            <a:endParaRPr lang="en-US" sz="1400" dirty="0"/>
          </a:p>
        </p:txBody>
      </p:sp>
      <p:sp>
        <p:nvSpPr>
          <p:cNvPr id="25" name="Shape 23"/>
          <p:cNvSpPr/>
          <p:nvPr/>
        </p:nvSpPr>
        <p:spPr>
          <a:xfrm>
            <a:off x="6492240" y="3547872"/>
            <a:ext cx="4800600" cy="530352"/>
          </a:xfrm>
          <a:prstGeom prst="roundRect">
            <a:avLst>
              <a:gd name="adj" fmla="val 13793"/>
            </a:avLst>
          </a:prstGeom>
          <a:solidFill>
            <a:srgbClr val="D99A3D"/>
          </a:solidFill>
          <a:ln/>
        </p:spPr>
      </p:sp>
      <p:sp>
        <p:nvSpPr>
          <p:cNvPr id="26" name="Text 24"/>
          <p:cNvSpPr/>
          <p:nvPr/>
        </p:nvSpPr>
        <p:spPr>
          <a:xfrm>
            <a:off x="6492240" y="3547872"/>
            <a:ext cx="4800600" cy="530352"/>
          </a:xfrm>
          <a:prstGeom prst="rect">
            <a:avLst/>
          </a:prstGeom>
          <a:noFill/>
          <a:ln/>
        </p:spPr>
        <p:txBody>
          <a:bodyPr wrap="square" lIns="0" tIns="0" rIns="0" bIns="0" rtlCol="0" anchor="ctr"/>
          <a:lstStyle/>
          <a:p>
            <a:pPr algn="ctr" indent="0" marL="0">
              <a:buNone/>
            </a:pPr>
            <a:r>
              <a:rPr lang="en-US" sz="1450" b="1" dirty="0">
                <a:solidFill>
                  <a:srgbClr val="0F1C33"/>
                </a:solidFill>
                <a:latin typeface="Calibri" pitchFamily="34" charset="0"/>
                <a:ea typeface="Calibri" pitchFamily="34" charset="-122"/>
                <a:cs typeface="Calibri" pitchFamily="34" charset="-120"/>
              </a:rPr>
              <a:t>Centre = (−2, 3)      Radius = 6</a:t>
            </a:r>
            <a:endParaRPr lang="en-US" sz="1450" dirty="0"/>
          </a:p>
        </p:txBody>
      </p:sp>
      <p:sp>
        <p:nvSpPr>
          <p:cNvPr id="27" name="Shape 25"/>
          <p:cNvSpPr/>
          <p:nvPr/>
        </p:nvSpPr>
        <p:spPr>
          <a:xfrm>
            <a:off x="8039441" y="5862401"/>
            <a:ext cx="2193682" cy="0"/>
          </a:xfrm>
          <a:prstGeom prst="line">
            <a:avLst/>
          </a:prstGeom>
          <a:noFill/>
          <a:ln w="19050">
            <a:solidFill>
              <a:srgbClr val="9AA9C2"/>
            </a:solidFill>
            <a:prstDash val="solid"/>
            <a:tailEnd type="triangle"/>
          </a:ln>
        </p:spPr>
      </p:sp>
      <p:sp>
        <p:nvSpPr>
          <p:cNvPr id="28" name="Shape 26"/>
          <p:cNvSpPr/>
          <p:nvPr/>
        </p:nvSpPr>
        <p:spPr>
          <a:xfrm flipV="1">
            <a:off x="8039441" y="4519331"/>
            <a:ext cx="0" cy="1343071"/>
          </a:xfrm>
          <a:prstGeom prst="line">
            <a:avLst/>
          </a:prstGeom>
          <a:noFill/>
          <a:ln w="19050">
            <a:solidFill>
              <a:srgbClr val="9AA9C2"/>
            </a:solidFill>
            <a:prstDash val="solid"/>
            <a:headEnd type="none"/>
            <a:tailEnd type="triangle"/>
          </a:ln>
        </p:spPr>
      </p:sp>
      <p:sp>
        <p:nvSpPr>
          <p:cNvPr id="29" name="Text 27"/>
          <p:cNvSpPr/>
          <p:nvPr/>
        </p:nvSpPr>
        <p:spPr>
          <a:xfrm>
            <a:off x="10187404" y="599956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30" name="Text 28"/>
          <p:cNvSpPr/>
          <p:nvPr/>
        </p:nvSpPr>
        <p:spPr>
          <a:xfrm>
            <a:off x="7746833" y="4427891"/>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31" name="Shape 29"/>
          <p:cNvSpPr/>
          <p:nvPr/>
        </p:nvSpPr>
        <p:spPr>
          <a:xfrm>
            <a:off x="8452348" y="4440326"/>
            <a:ext cx="1185062" cy="1185062"/>
          </a:xfrm>
          <a:prstGeom prst="ellipse">
            <a:avLst/>
          </a:prstGeom>
          <a:ln w="28575">
            <a:solidFill>
              <a:srgbClr val="1E3A5F"/>
            </a:solidFill>
            <a:prstDash val="dash"/>
          </a:ln>
        </p:spPr>
      </p:sp>
      <p:sp>
        <p:nvSpPr>
          <p:cNvPr id="32" name="Shape 30"/>
          <p:cNvSpPr/>
          <p:nvPr/>
        </p:nvSpPr>
        <p:spPr>
          <a:xfrm>
            <a:off x="8976299" y="4964278"/>
            <a:ext cx="137160" cy="137160"/>
          </a:xfrm>
          <a:prstGeom prst="ellipse">
            <a:avLst/>
          </a:prstGeom>
          <a:solidFill>
            <a:srgbClr val="D99A3D"/>
          </a:solidFill>
          <a:ln w="19050">
            <a:solidFill>
              <a:srgbClr val="FFFFFF"/>
            </a:solidFill>
            <a:prstDash val="solid"/>
          </a:ln>
        </p:spPr>
      </p:sp>
      <p:sp>
        <p:nvSpPr>
          <p:cNvPr id="33" name="Text 31"/>
          <p:cNvSpPr/>
          <p:nvPr/>
        </p:nvSpPr>
        <p:spPr>
          <a:xfrm>
            <a:off x="8724839" y="5124298"/>
            <a:ext cx="1280160"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mbria Math" pitchFamily="34" charset="0"/>
                <a:ea typeface="Cambria Math" pitchFamily="34" charset="-122"/>
                <a:cs typeface="Cambria Math" pitchFamily="34" charset="-120"/>
              </a:rPr>
              <a:t>z₀(−2, 3)</a:t>
            </a:r>
            <a:endParaRPr lang="en-US" sz="1400" dirty="0"/>
          </a:p>
        </p:txBody>
      </p:sp>
      <p:sp>
        <p:nvSpPr>
          <p:cNvPr id="34" name="Shape 32"/>
          <p:cNvSpPr/>
          <p:nvPr/>
        </p:nvSpPr>
        <p:spPr>
          <a:xfrm flipV="1">
            <a:off x="9044879" y="4547484"/>
            <a:ext cx="339862" cy="485373"/>
          </a:xfrm>
          <a:prstGeom prst="line">
            <a:avLst/>
          </a:prstGeom>
          <a:noFill/>
          <a:ln w="25400">
            <a:solidFill>
              <a:srgbClr val="1E3A5F"/>
            </a:solidFill>
            <a:prstDash val="dash"/>
          </a:ln>
        </p:spPr>
      </p:sp>
      <p:sp>
        <p:nvSpPr>
          <p:cNvPr id="35" name="Text 33"/>
          <p:cNvSpPr/>
          <p:nvPr/>
        </p:nvSpPr>
        <p:spPr>
          <a:xfrm>
            <a:off x="9269674" y="4497563"/>
            <a:ext cx="365760" cy="274320"/>
          </a:xfrm>
          <a:prstGeom prst="rect">
            <a:avLst/>
          </a:prstGeom>
          <a:noFill/>
          <a:ln/>
        </p:spPr>
        <p:txBody>
          <a:bodyPr wrap="square" lIns="0" tIns="0" rIns="0" bIns="0" rtlCol="0" anchor="ctr"/>
          <a:lstStyle/>
          <a:p>
            <a:pPr algn="l" indent="0" marL="0">
              <a:buNone/>
            </a:pPr>
            <a:r>
              <a:rPr lang="en-US" sz="1400" b="1" i="1" dirty="0">
                <a:solidFill>
                  <a:srgbClr val="1E3A5F"/>
                </a:solidFill>
                <a:latin typeface="Cambria Math" pitchFamily="34" charset="0"/>
                <a:ea typeface="Cambria Math" pitchFamily="34" charset="-122"/>
                <a:cs typeface="Cambria Math" pitchFamily="34" charset="-120"/>
              </a:rPr>
              <a:t>r</a:t>
            </a:r>
            <a:endParaRPr lang="en-US" sz="1400" dirty="0"/>
          </a:p>
        </p:txBody>
      </p:sp>
      <p:sp>
        <p:nvSpPr>
          <p:cNvPr id="36" name="Shape 34"/>
          <p:cNvSpPr/>
          <p:nvPr/>
        </p:nvSpPr>
        <p:spPr>
          <a:xfrm>
            <a:off x="9316161" y="4478904"/>
            <a:ext cx="137160" cy="137160"/>
          </a:xfrm>
          <a:prstGeom prst="ellipse">
            <a:avLst/>
          </a:prstGeom>
          <a:solidFill>
            <a:srgbClr val="1E3A5F"/>
          </a:solidFill>
          <a:ln w="19050">
            <a:solidFill>
              <a:srgbClr val="FFFFFF"/>
            </a:solidFill>
            <a:prstDash val="solid"/>
          </a:ln>
        </p:spPr>
      </p:sp>
      <p:sp>
        <p:nvSpPr>
          <p:cNvPr id="37" name="Text 35"/>
          <p:cNvSpPr/>
          <p:nvPr/>
        </p:nvSpPr>
        <p:spPr>
          <a:xfrm>
            <a:off x="9476181" y="4254876"/>
            <a:ext cx="457200" cy="274320"/>
          </a:xfrm>
          <a:prstGeom prst="rect">
            <a:avLst/>
          </a:prstGeom>
          <a:noFill/>
          <a:ln/>
        </p:spPr>
        <p:txBody>
          <a:bodyPr wrap="square" lIns="0" tIns="0" rIns="0" bIns="0" rtlCol="0" anchor="ctr"/>
          <a:lstStyle/>
          <a:p>
            <a:pPr algn="l" indent="0" marL="0">
              <a:buNone/>
            </a:pPr>
            <a:r>
              <a:rPr lang="en-US" sz="1500" b="1" dirty="0">
                <a:solidFill>
                  <a:srgbClr val="1B2A4A"/>
                </a:solidFill>
                <a:latin typeface="Cambria Math" pitchFamily="34" charset="0"/>
                <a:ea typeface="Cambria Math" pitchFamily="34" charset="-122"/>
                <a:cs typeface="Cambria Math" pitchFamily="34" charset="-120"/>
              </a:rPr>
              <a:t>z</a:t>
            </a:r>
            <a:endParaRPr lang="en-US" sz="1500" dirty="0"/>
          </a:p>
        </p:txBody>
      </p:sp>
      <p:sp>
        <p:nvSpPr>
          <p:cNvPr id="38" name="Text 36"/>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9AA9C2"/>
                </a:solidFill>
                <a:latin typeface="Calibri" pitchFamily="34" charset="0"/>
                <a:ea typeface="Calibri" pitchFamily="34" charset="-122"/>
                <a:cs typeface="Calibri" pitchFamily="34" charset="-120"/>
              </a:rPr>
              <a:t>06 / 08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rtlCol="0" anchor="ctr"/>
          <a:lstStyle/>
          <a:p>
            <a:pPr algn="l" indent="0" marL="0">
              <a:buNone/>
            </a:pPr>
            <a:r>
              <a:rPr lang="en-US" sz="1250" b="1" spc="200" kern="0" dirty="0">
                <a:solidFill>
                  <a:srgbClr val="D99A3D"/>
                </a:solidFill>
                <a:latin typeface="Calibri" pitchFamily="34" charset="0"/>
                <a:ea typeface="Calibri" pitchFamily="34" charset="-122"/>
                <a:cs typeface="Calibri" pitchFamily="34" charset="-120"/>
              </a:rPr>
              <a:t>BEFORE WE WRAP UP</a:t>
            </a:r>
            <a:endParaRPr lang="en-US" sz="125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Quick Revision  —  Quick Check</a:t>
            </a:r>
            <a:endParaRPr lang="en-US" sz="2600" dirty="0"/>
          </a:p>
        </p:txBody>
      </p:sp>
      <p:sp>
        <p:nvSpPr>
          <p:cNvPr id="4" name="Shape 2"/>
          <p:cNvSpPr/>
          <p:nvPr/>
        </p:nvSpPr>
        <p:spPr>
          <a:xfrm>
            <a:off x="548640" y="1554480"/>
            <a:ext cx="5394960" cy="566928"/>
          </a:xfrm>
          <a:prstGeom prst="roundRect">
            <a:avLst>
              <a:gd name="adj" fmla="val 12903"/>
            </a:avLst>
          </a:prstGeom>
          <a:solidFill>
            <a:srgbClr val="16294A"/>
          </a:solidFill>
          <a:ln/>
        </p:spPr>
      </p:sp>
      <p:sp>
        <p:nvSpPr>
          <p:cNvPr id="5" name="Text 3"/>
          <p:cNvSpPr/>
          <p:nvPr/>
        </p:nvSpPr>
        <p:spPr>
          <a:xfrm>
            <a:off x="777240" y="1554480"/>
            <a:ext cx="2103120" cy="566928"/>
          </a:xfrm>
          <a:prstGeom prst="rect">
            <a:avLst/>
          </a:prstGeom>
          <a:noFill/>
          <a:ln/>
        </p:spPr>
        <p:txBody>
          <a:bodyPr wrap="square" lIns="0" tIns="0" rIns="0" bIns="0" rtlCol="0" anchor="ctr"/>
          <a:lstStyle/>
          <a:p>
            <a:pPr indent="0" marL="0">
              <a:buNone/>
            </a:pPr>
            <a:r>
              <a:rPr lang="en-US" sz="1350" dirty="0">
                <a:solidFill>
                  <a:srgbClr val="9FB3D6"/>
                </a:solidFill>
                <a:latin typeface="Calibri" pitchFamily="34" charset="0"/>
                <a:ea typeface="Calibri" pitchFamily="34" charset="-122"/>
                <a:cs typeface="Calibri" pitchFamily="34" charset="-120"/>
              </a:rPr>
              <a:t>Circle</a:t>
            </a:r>
            <a:endParaRPr lang="en-US" sz="1350" dirty="0"/>
          </a:p>
        </p:txBody>
      </p:sp>
      <p:sp>
        <p:nvSpPr>
          <p:cNvPr id="6" name="Text 4"/>
          <p:cNvSpPr/>
          <p:nvPr/>
        </p:nvSpPr>
        <p:spPr>
          <a:xfrm>
            <a:off x="2788920" y="1554480"/>
            <a:ext cx="301752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Math" pitchFamily="34" charset="0"/>
                <a:ea typeface="Cambria Math" pitchFamily="34" charset="-122"/>
                <a:cs typeface="Cambria Math" pitchFamily="34" charset="-120"/>
              </a:rPr>
              <a:t>|z − z₀| = r</a:t>
            </a:r>
            <a:endParaRPr lang="en-US" sz="1600" dirty="0"/>
          </a:p>
        </p:txBody>
      </p:sp>
      <p:sp>
        <p:nvSpPr>
          <p:cNvPr id="7" name="Shape 5"/>
          <p:cNvSpPr/>
          <p:nvPr/>
        </p:nvSpPr>
        <p:spPr>
          <a:xfrm>
            <a:off x="548640" y="2231136"/>
            <a:ext cx="5394960" cy="566928"/>
          </a:xfrm>
          <a:prstGeom prst="roundRect">
            <a:avLst>
              <a:gd name="adj" fmla="val 12903"/>
            </a:avLst>
          </a:prstGeom>
          <a:solidFill>
            <a:srgbClr val="16294A"/>
          </a:solidFill>
          <a:ln/>
        </p:spPr>
      </p:sp>
      <p:sp>
        <p:nvSpPr>
          <p:cNvPr id="8" name="Text 6"/>
          <p:cNvSpPr/>
          <p:nvPr/>
        </p:nvSpPr>
        <p:spPr>
          <a:xfrm>
            <a:off x="777240" y="2231136"/>
            <a:ext cx="2103120" cy="566928"/>
          </a:xfrm>
          <a:prstGeom prst="rect">
            <a:avLst/>
          </a:prstGeom>
          <a:noFill/>
          <a:ln/>
        </p:spPr>
        <p:txBody>
          <a:bodyPr wrap="square" lIns="0" tIns="0" rIns="0" bIns="0" rtlCol="0" anchor="ctr"/>
          <a:lstStyle/>
          <a:p>
            <a:pPr indent="0" marL="0">
              <a:buNone/>
            </a:pPr>
            <a:r>
              <a:rPr lang="en-US" sz="1350" dirty="0">
                <a:solidFill>
                  <a:srgbClr val="9FB3D6"/>
                </a:solidFill>
                <a:latin typeface="Calibri" pitchFamily="34" charset="0"/>
                <a:ea typeface="Calibri" pitchFamily="34" charset="-122"/>
                <a:cs typeface="Calibri" pitchFamily="34" charset="-120"/>
              </a:rPr>
              <a:t>Interior</a:t>
            </a:r>
            <a:endParaRPr lang="en-US" sz="1350" dirty="0"/>
          </a:p>
        </p:txBody>
      </p:sp>
      <p:sp>
        <p:nvSpPr>
          <p:cNvPr id="9" name="Text 7"/>
          <p:cNvSpPr/>
          <p:nvPr/>
        </p:nvSpPr>
        <p:spPr>
          <a:xfrm>
            <a:off x="2788920" y="2231136"/>
            <a:ext cx="301752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Math" pitchFamily="34" charset="0"/>
                <a:ea typeface="Cambria Math" pitchFamily="34" charset="-122"/>
                <a:cs typeface="Cambria Math" pitchFamily="34" charset="-120"/>
              </a:rPr>
              <a:t>|z − z₀| &lt; r</a:t>
            </a:r>
            <a:endParaRPr lang="en-US" sz="1600" dirty="0"/>
          </a:p>
        </p:txBody>
      </p:sp>
      <p:sp>
        <p:nvSpPr>
          <p:cNvPr id="10" name="Shape 8"/>
          <p:cNvSpPr/>
          <p:nvPr/>
        </p:nvSpPr>
        <p:spPr>
          <a:xfrm>
            <a:off x="548640" y="2907792"/>
            <a:ext cx="5394960" cy="566928"/>
          </a:xfrm>
          <a:prstGeom prst="roundRect">
            <a:avLst>
              <a:gd name="adj" fmla="val 12903"/>
            </a:avLst>
          </a:prstGeom>
          <a:solidFill>
            <a:srgbClr val="16294A"/>
          </a:solidFill>
          <a:ln/>
        </p:spPr>
      </p:sp>
      <p:sp>
        <p:nvSpPr>
          <p:cNvPr id="11" name="Text 9"/>
          <p:cNvSpPr/>
          <p:nvPr/>
        </p:nvSpPr>
        <p:spPr>
          <a:xfrm>
            <a:off x="777240" y="2907792"/>
            <a:ext cx="2103120" cy="566928"/>
          </a:xfrm>
          <a:prstGeom prst="rect">
            <a:avLst/>
          </a:prstGeom>
          <a:noFill/>
          <a:ln/>
        </p:spPr>
        <p:txBody>
          <a:bodyPr wrap="square" lIns="0" tIns="0" rIns="0" bIns="0" rtlCol="0" anchor="ctr"/>
          <a:lstStyle/>
          <a:p>
            <a:pPr indent="0" marL="0">
              <a:buNone/>
            </a:pPr>
            <a:r>
              <a:rPr lang="en-US" sz="1350" dirty="0">
                <a:solidFill>
                  <a:srgbClr val="9FB3D6"/>
                </a:solidFill>
                <a:latin typeface="Calibri" pitchFamily="34" charset="0"/>
                <a:ea typeface="Calibri" pitchFamily="34" charset="-122"/>
                <a:cs typeface="Calibri" pitchFamily="34" charset="-120"/>
              </a:rPr>
              <a:t>Exterior</a:t>
            </a:r>
            <a:endParaRPr lang="en-US" sz="1350" dirty="0"/>
          </a:p>
        </p:txBody>
      </p:sp>
      <p:sp>
        <p:nvSpPr>
          <p:cNvPr id="12" name="Text 10"/>
          <p:cNvSpPr/>
          <p:nvPr/>
        </p:nvSpPr>
        <p:spPr>
          <a:xfrm>
            <a:off x="2788920" y="2907792"/>
            <a:ext cx="301752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Math" pitchFamily="34" charset="0"/>
                <a:ea typeface="Cambria Math" pitchFamily="34" charset="-122"/>
                <a:cs typeface="Cambria Math" pitchFamily="34" charset="-120"/>
              </a:rPr>
              <a:t>|z − z₀| &gt; r</a:t>
            </a:r>
            <a:endParaRPr lang="en-US" sz="1600" dirty="0"/>
          </a:p>
        </p:txBody>
      </p:sp>
      <p:sp>
        <p:nvSpPr>
          <p:cNvPr id="13" name="Shape 11"/>
          <p:cNvSpPr/>
          <p:nvPr/>
        </p:nvSpPr>
        <p:spPr>
          <a:xfrm>
            <a:off x="548640" y="3584448"/>
            <a:ext cx="5394960" cy="566928"/>
          </a:xfrm>
          <a:prstGeom prst="roundRect">
            <a:avLst>
              <a:gd name="adj" fmla="val 12903"/>
            </a:avLst>
          </a:prstGeom>
          <a:solidFill>
            <a:srgbClr val="16294A"/>
          </a:solidFill>
          <a:ln/>
        </p:spPr>
      </p:sp>
      <p:sp>
        <p:nvSpPr>
          <p:cNvPr id="14" name="Text 12"/>
          <p:cNvSpPr/>
          <p:nvPr/>
        </p:nvSpPr>
        <p:spPr>
          <a:xfrm>
            <a:off x="777240" y="3584448"/>
            <a:ext cx="2103120" cy="566928"/>
          </a:xfrm>
          <a:prstGeom prst="rect">
            <a:avLst/>
          </a:prstGeom>
          <a:noFill/>
          <a:ln/>
        </p:spPr>
        <p:txBody>
          <a:bodyPr wrap="square" lIns="0" tIns="0" rIns="0" bIns="0" rtlCol="0" anchor="ctr"/>
          <a:lstStyle/>
          <a:p>
            <a:pPr indent="0" marL="0">
              <a:buNone/>
            </a:pPr>
            <a:r>
              <a:rPr lang="en-US" sz="1350" dirty="0">
                <a:solidFill>
                  <a:srgbClr val="9FB3D6"/>
                </a:solidFill>
                <a:latin typeface="Calibri" pitchFamily="34" charset="0"/>
                <a:ea typeface="Calibri" pitchFamily="34" charset="-122"/>
                <a:cs typeface="Calibri" pitchFamily="34" charset="-120"/>
              </a:rPr>
              <a:t>Centre / Radius</a:t>
            </a:r>
            <a:endParaRPr lang="en-US" sz="1350" dirty="0"/>
          </a:p>
        </p:txBody>
      </p:sp>
      <p:sp>
        <p:nvSpPr>
          <p:cNvPr id="15" name="Text 13"/>
          <p:cNvSpPr/>
          <p:nvPr/>
        </p:nvSpPr>
        <p:spPr>
          <a:xfrm>
            <a:off x="2788920" y="3584448"/>
            <a:ext cx="3017520" cy="566928"/>
          </a:xfrm>
          <a:prstGeom prst="rect">
            <a:avLst/>
          </a:prstGeom>
          <a:noFill/>
          <a:ln/>
        </p:spPr>
        <p:txBody>
          <a:bodyPr wrap="square" lIns="0" tIns="0" rIns="0" bIns="0" rtlCol="0" anchor="ctr"/>
          <a:lstStyle/>
          <a:p>
            <a:pPr indent="0" marL="0">
              <a:buNone/>
            </a:pPr>
            <a:r>
              <a:rPr lang="en-US" sz="1600" b="1" dirty="0">
                <a:solidFill>
                  <a:srgbClr val="FFFFFF"/>
                </a:solidFill>
                <a:latin typeface="Cambria Math" pitchFamily="34" charset="0"/>
                <a:ea typeface="Cambria Math" pitchFamily="34" charset="-122"/>
                <a:cs typeface="Cambria Math" pitchFamily="34" charset="-120"/>
              </a:rPr>
              <a:t>z₀ = a + ib ,  r</a:t>
            </a:r>
            <a:endParaRPr lang="en-US" sz="1600" dirty="0"/>
          </a:p>
        </p:txBody>
      </p:sp>
      <p:sp>
        <p:nvSpPr>
          <p:cNvPr id="16" name="Text 14"/>
          <p:cNvSpPr/>
          <p:nvPr/>
        </p:nvSpPr>
        <p:spPr>
          <a:xfrm>
            <a:off x="548640" y="4398264"/>
            <a:ext cx="3657600" cy="292608"/>
          </a:xfrm>
          <a:prstGeom prst="rect">
            <a:avLst/>
          </a:prstGeom>
          <a:noFill/>
          <a:ln/>
        </p:spPr>
        <p:txBody>
          <a:bodyPr wrap="square" rtlCol="0" anchor="ctr"/>
          <a:lstStyle/>
          <a:p>
            <a:pPr indent="0" marL="0">
              <a:buNone/>
            </a:pPr>
            <a:r>
              <a:rPr lang="en-US" sz="1200" b="1" spc="200" kern="0" dirty="0">
                <a:solidFill>
                  <a:srgbClr val="D99A3D"/>
                </a:solidFill>
                <a:latin typeface="Calibri" pitchFamily="34" charset="0"/>
                <a:ea typeface="Calibri" pitchFamily="34" charset="-122"/>
                <a:cs typeface="Calibri" pitchFamily="34" charset="-120"/>
              </a:rPr>
              <a:t>QUICK CHECK</a:t>
            </a:r>
            <a:endParaRPr lang="en-US" sz="1200" dirty="0"/>
          </a:p>
        </p:txBody>
      </p:sp>
      <p:sp>
        <p:nvSpPr>
          <p:cNvPr id="17" name="Text 15"/>
          <p:cNvSpPr/>
          <p:nvPr/>
        </p:nvSpPr>
        <p:spPr>
          <a:xfrm>
            <a:off x="548640" y="4718304"/>
            <a:ext cx="5394960" cy="457200"/>
          </a:xfrm>
          <a:prstGeom prst="rect">
            <a:avLst/>
          </a:prstGeom>
          <a:noFill/>
          <a:ln/>
        </p:spPr>
        <p:txBody>
          <a:bodyPr wrap="square" lIns="0" tIns="0" rIns="0" bIns="0" rtlCol="0" anchor="ctr"/>
          <a:lstStyle/>
          <a:p>
            <a:pPr indent="0" marL="0">
              <a:buNone/>
            </a:pPr>
            <a:r>
              <a:rPr lang="en-US" sz="1600" b="1" dirty="0">
                <a:solidFill>
                  <a:srgbClr val="FFFFFF"/>
                </a:solidFill>
                <a:latin typeface="Cambria Math" pitchFamily="34" charset="0"/>
                <a:ea typeface="Cambria Math" pitchFamily="34" charset="-122"/>
                <a:cs typeface="Cambria Math" pitchFamily="34" charset="-120"/>
              </a:rPr>
              <a:t>What does |z − (2 + i)| = 3 represent?</a:t>
            </a:r>
            <a:endParaRPr lang="en-US" sz="1600" dirty="0"/>
          </a:p>
        </p:txBody>
      </p:sp>
      <p:sp>
        <p:nvSpPr>
          <p:cNvPr id="18" name="Shape 16"/>
          <p:cNvSpPr/>
          <p:nvPr/>
        </p:nvSpPr>
        <p:spPr>
          <a:xfrm>
            <a:off x="548640" y="5221224"/>
            <a:ext cx="5394960" cy="457200"/>
          </a:xfrm>
          <a:prstGeom prst="roundRect">
            <a:avLst>
              <a:gd name="adj" fmla="val 14000"/>
            </a:avLst>
          </a:prstGeom>
          <a:solidFill>
            <a:srgbClr val="16294A"/>
          </a:solidFill>
          <a:ln/>
        </p:spPr>
      </p:sp>
      <p:sp>
        <p:nvSpPr>
          <p:cNvPr id="19" name="Text 17"/>
          <p:cNvSpPr/>
          <p:nvPr/>
        </p:nvSpPr>
        <p:spPr>
          <a:xfrm>
            <a:off x="731520" y="5221224"/>
            <a:ext cx="640080" cy="457200"/>
          </a:xfrm>
          <a:prstGeom prst="rect">
            <a:avLst/>
          </a:prstGeom>
          <a:noFill/>
          <a:ln/>
        </p:spPr>
        <p:txBody>
          <a:bodyPr wrap="square" lIns="0" tIns="0" rIns="0" bIns="0" rtlCol="0" anchor="ctr"/>
          <a:lstStyle/>
          <a:p>
            <a:pPr indent="0" marL="0">
              <a:buNone/>
            </a:pPr>
            <a:r>
              <a:rPr lang="en-US" sz="1300" b="1" dirty="0">
                <a:solidFill>
                  <a:srgbClr val="9FB3D6"/>
                </a:solidFill>
                <a:latin typeface="Calibri" pitchFamily="34" charset="0"/>
                <a:ea typeface="Calibri" pitchFamily="34" charset="-122"/>
                <a:cs typeface="Calibri" pitchFamily="34" charset="-120"/>
              </a:rPr>
              <a:t>A</a:t>
            </a:r>
            <a:endParaRPr lang="en-US" sz="1300" dirty="0"/>
          </a:p>
        </p:txBody>
      </p:sp>
      <p:sp>
        <p:nvSpPr>
          <p:cNvPr id="20" name="Text 18"/>
          <p:cNvSpPr/>
          <p:nvPr/>
        </p:nvSpPr>
        <p:spPr>
          <a:xfrm>
            <a:off x="1371600" y="5221224"/>
            <a:ext cx="4480560" cy="457200"/>
          </a:xfrm>
          <a:prstGeom prst="rect">
            <a:avLst/>
          </a:prstGeom>
          <a:noFill/>
          <a:ln/>
        </p:spPr>
        <p:txBody>
          <a:bodyPr wrap="square" lIns="0" tIns="0" rIns="0" bIns="0" rtlCol="0" anchor="ctr"/>
          <a:lstStyle/>
          <a:p>
            <a:pPr indent="0" marL="0">
              <a:buNone/>
            </a:pPr>
            <a:r>
              <a:rPr lang="en-US" sz="1250" dirty="0">
                <a:solidFill>
                  <a:srgbClr val="C9D6EA"/>
                </a:solidFill>
                <a:latin typeface="Calibri" pitchFamily="34" charset="0"/>
                <a:ea typeface="Calibri" pitchFamily="34" charset="-122"/>
                <a:cs typeface="Calibri" pitchFamily="34" charset="-120"/>
              </a:rPr>
              <a:t>A straight line</a:t>
            </a:r>
            <a:endParaRPr lang="en-US" sz="1250" dirty="0"/>
          </a:p>
        </p:txBody>
      </p:sp>
      <p:sp>
        <p:nvSpPr>
          <p:cNvPr id="21" name="Shape 19"/>
          <p:cNvSpPr/>
          <p:nvPr/>
        </p:nvSpPr>
        <p:spPr>
          <a:xfrm>
            <a:off x="548640" y="5751576"/>
            <a:ext cx="5394960" cy="457200"/>
          </a:xfrm>
          <a:prstGeom prst="roundRect">
            <a:avLst>
              <a:gd name="adj" fmla="val 14000"/>
            </a:avLst>
          </a:prstGeom>
          <a:solidFill>
            <a:srgbClr val="1D3F2A"/>
          </a:solidFill>
          <a:ln w="12700">
            <a:solidFill>
              <a:srgbClr val="6FCB8E"/>
            </a:solidFill>
            <a:prstDash val="solid"/>
          </a:ln>
        </p:spPr>
      </p:sp>
      <p:sp>
        <p:nvSpPr>
          <p:cNvPr id="22" name="Text 20"/>
          <p:cNvSpPr/>
          <p:nvPr/>
        </p:nvSpPr>
        <p:spPr>
          <a:xfrm>
            <a:off x="731520" y="5751576"/>
            <a:ext cx="640080" cy="457200"/>
          </a:xfrm>
          <a:prstGeom prst="rect">
            <a:avLst/>
          </a:prstGeom>
          <a:noFill/>
          <a:ln/>
        </p:spPr>
        <p:txBody>
          <a:bodyPr wrap="square" lIns="0" tIns="0" rIns="0" bIns="0" rtlCol="0" anchor="ctr"/>
          <a:lstStyle/>
          <a:p>
            <a:pPr indent="0" marL="0">
              <a:buNone/>
            </a:pPr>
            <a:r>
              <a:rPr lang="en-US" sz="1300" b="1" dirty="0">
                <a:solidFill>
                  <a:srgbClr val="6FCB8E"/>
                </a:solidFill>
                <a:latin typeface="Calibri" pitchFamily="34" charset="0"/>
                <a:ea typeface="Calibri" pitchFamily="34" charset="-122"/>
                <a:cs typeface="Calibri" pitchFamily="34" charset="-120"/>
              </a:rPr>
              <a:t>B  ✓</a:t>
            </a:r>
            <a:endParaRPr lang="en-US" sz="1300" dirty="0"/>
          </a:p>
        </p:txBody>
      </p:sp>
      <p:sp>
        <p:nvSpPr>
          <p:cNvPr id="23" name="Text 21"/>
          <p:cNvSpPr/>
          <p:nvPr/>
        </p:nvSpPr>
        <p:spPr>
          <a:xfrm>
            <a:off x="1371600" y="5751576"/>
            <a:ext cx="448056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Circle, centre (2, 1), radius 3</a:t>
            </a:r>
            <a:endParaRPr lang="en-US" sz="1250" dirty="0"/>
          </a:p>
        </p:txBody>
      </p:sp>
      <p:sp>
        <p:nvSpPr>
          <p:cNvPr id="24" name="Shape 22"/>
          <p:cNvSpPr/>
          <p:nvPr/>
        </p:nvSpPr>
        <p:spPr>
          <a:xfrm>
            <a:off x="548640" y="6281928"/>
            <a:ext cx="5394960" cy="457200"/>
          </a:xfrm>
          <a:prstGeom prst="roundRect">
            <a:avLst>
              <a:gd name="adj" fmla="val 14000"/>
            </a:avLst>
          </a:prstGeom>
          <a:solidFill>
            <a:srgbClr val="16294A"/>
          </a:solidFill>
          <a:ln/>
        </p:spPr>
      </p:sp>
      <p:sp>
        <p:nvSpPr>
          <p:cNvPr id="25" name="Text 23"/>
          <p:cNvSpPr/>
          <p:nvPr/>
        </p:nvSpPr>
        <p:spPr>
          <a:xfrm>
            <a:off x="731520" y="6281928"/>
            <a:ext cx="640080" cy="457200"/>
          </a:xfrm>
          <a:prstGeom prst="rect">
            <a:avLst/>
          </a:prstGeom>
          <a:noFill/>
          <a:ln/>
        </p:spPr>
        <p:txBody>
          <a:bodyPr wrap="square" lIns="0" tIns="0" rIns="0" bIns="0" rtlCol="0" anchor="ctr"/>
          <a:lstStyle/>
          <a:p>
            <a:pPr indent="0" marL="0">
              <a:buNone/>
            </a:pPr>
            <a:r>
              <a:rPr lang="en-US" sz="1300" b="1" dirty="0">
                <a:solidFill>
                  <a:srgbClr val="9FB3D6"/>
                </a:solidFill>
                <a:latin typeface="Calibri" pitchFamily="34" charset="0"/>
                <a:ea typeface="Calibri" pitchFamily="34" charset="-122"/>
                <a:cs typeface="Calibri" pitchFamily="34" charset="-120"/>
              </a:rPr>
              <a:t>C</a:t>
            </a:r>
            <a:endParaRPr lang="en-US" sz="1300" dirty="0"/>
          </a:p>
        </p:txBody>
      </p:sp>
      <p:sp>
        <p:nvSpPr>
          <p:cNvPr id="26" name="Text 24"/>
          <p:cNvSpPr/>
          <p:nvPr/>
        </p:nvSpPr>
        <p:spPr>
          <a:xfrm>
            <a:off x="1371600" y="6281928"/>
            <a:ext cx="4480560" cy="457200"/>
          </a:xfrm>
          <a:prstGeom prst="rect">
            <a:avLst/>
          </a:prstGeom>
          <a:noFill/>
          <a:ln/>
        </p:spPr>
        <p:txBody>
          <a:bodyPr wrap="square" lIns="0" tIns="0" rIns="0" bIns="0" rtlCol="0" anchor="ctr"/>
          <a:lstStyle/>
          <a:p>
            <a:pPr indent="0" marL="0">
              <a:buNone/>
            </a:pPr>
            <a:r>
              <a:rPr lang="en-US" sz="1250" dirty="0">
                <a:solidFill>
                  <a:srgbClr val="C9D6EA"/>
                </a:solidFill>
                <a:latin typeface="Calibri" pitchFamily="34" charset="0"/>
                <a:ea typeface="Calibri" pitchFamily="34" charset="-122"/>
                <a:cs typeface="Calibri" pitchFamily="34" charset="-120"/>
              </a:rPr>
              <a:t>Circle, centre (3, 2), radius 1</a:t>
            </a:r>
            <a:endParaRPr lang="en-US" sz="1250" dirty="0"/>
          </a:p>
        </p:txBody>
      </p:sp>
      <p:sp>
        <p:nvSpPr>
          <p:cNvPr id="27" name="Shape 25"/>
          <p:cNvSpPr/>
          <p:nvPr/>
        </p:nvSpPr>
        <p:spPr>
          <a:xfrm>
            <a:off x="7872984" y="5466283"/>
            <a:ext cx="3621024" cy="0"/>
          </a:xfrm>
          <a:prstGeom prst="line">
            <a:avLst/>
          </a:prstGeom>
          <a:noFill/>
          <a:ln w="19050">
            <a:solidFill>
              <a:srgbClr val="9AA9C2"/>
            </a:solidFill>
            <a:prstDash val="solid"/>
            <a:tailEnd type="triangle"/>
          </a:ln>
        </p:spPr>
      </p:sp>
      <p:sp>
        <p:nvSpPr>
          <p:cNvPr id="28" name="Shape 26"/>
          <p:cNvSpPr/>
          <p:nvPr/>
        </p:nvSpPr>
        <p:spPr>
          <a:xfrm flipV="1">
            <a:off x="7872984" y="2108606"/>
            <a:ext cx="0" cy="3357677"/>
          </a:xfrm>
          <a:prstGeom prst="line">
            <a:avLst/>
          </a:prstGeom>
          <a:noFill/>
          <a:ln w="19050">
            <a:solidFill>
              <a:srgbClr val="9AA9C2"/>
            </a:solidFill>
            <a:prstDash val="solid"/>
            <a:headEnd type="none"/>
            <a:tailEnd type="triangle"/>
          </a:ln>
        </p:spPr>
      </p:sp>
      <p:sp>
        <p:nvSpPr>
          <p:cNvPr id="29" name="Text 27"/>
          <p:cNvSpPr/>
          <p:nvPr/>
        </p:nvSpPr>
        <p:spPr>
          <a:xfrm>
            <a:off x="11448288" y="5603443"/>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30" name="Text 28"/>
          <p:cNvSpPr/>
          <p:nvPr/>
        </p:nvSpPr>
        <p:spPr>
          <a:xfrm>
            <a:off x="7580376" y="2017166"/>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31" name="Shape 29"/>
          <p:cNvSpPr/>
          <p:nvPr/>
        </p:nvSpPr>
        <p:spPr>
          <a:xfrm>
            <a:off x="8347558" y="2207362"/>
            <a:ext cx="2370125" cy="2370125"/>
          </a:xfrm>
          <a:prstGeom prst="ellipse">
            <a:avLst/>
          </a:prstGeom>
          <a:ln w="28575">
            <a:solidFill>
              <a:srgbClr val="1E3A5F"/>
            </a:solidFill>
            <a:prstDash val="dash"/>
          </a:ln>
        </p:spPr>
      </p:sp>
      <p:sp>
        <p:nvSpPr>
          <p:cNvPr id="32" name="Shape 30"/>
          <p:cNvSpPr/>
          <p:nvPr/>
        </p:nvSpPr>
        <p:spPr>
          <a:xfrm>
            <a:off x="8373306" y="3752019"/>
            <a:ext cx="91440" cy="91440"/>
          </a:xfrm>
          <a:prstGeom prst="ellipse">
            <a:avLst/>
          </a:prstGeom>
          <a:solidFill>
            <a:srgbClr val="1E3A5F">
              <a:alpha val="30000"/>
            </a:srgbClr>
          </a:solidFill>
          <a:ln/>
        </p:spPr>
      </p:sp>
      <p:sp>
        <p:nvSpPr>
          <p:cNvPr id="33" name="Shape 31"/>
          <p:cNvSpPr/>
          <p:nvPr/>
        </p:nvSpPr>
        <p:spPr>
          <a:xfrm>
            <a:off x="9281116" y="4513763"/>
            <a:ext cx="91440" cy="91440"/>
          </a:xfrm>
          <a:prstGeom prst="ellipse">
            <a:avLst/>
          </a:prstGeom>
          <a:solidFill>
            <a:srgbClr val="1E3A5F">
              <a:alpha val="30000"/>
            </a:srgbClr>
          </a:solidFill>
          <a:ln/>
        </p:spPr>
      </p:sp>
      <p:sp>
        <p:nvSpPr>
          <p:cNvPr id="34" name="Shape 32"/>
          <p:cNvSpPr/>
          <p:nvPr/>
        </p:nvSpPr>
        <p:spPr>
          <a:xfrm>
            <a:off x="10394710" y="4108447"/>
            <a:ext cx="91440" cy="91440"/>
          </a:xfrm>
          <a:prstGeom prst="ellipse">
            <a:avLst/>
          </a:prstGeom>
          <a:solidFill>
            <a:srgbClr val="1E3A5F">
              <a:alpha val="30000"/>
            </a:srgbClr>
          </a:solidFill>
          <a:ln/>
        </p:spPr>
      </p:sp>
      <p:sp>
        <p:nvSpPr>
          <p:cNvPr id="35" name="Shape 33"/>
          <p:cNvSpPr/>
          <p:nvPr/>
        </p:nvSpPr>
        <p:spPr>
          <a:xfrm>
            <a:off x="9464040" y="3323844"/>
            <a:ext cx="137160" cy="137160"/>
          </a:xfrm>
          <a:prstGeom prst="ellipse">
            <a:avLst/>
          </a:prstGeom>
          <a:solidFill>
            <a:srgbClr val="D99A3D"/>
          </a:solidFill>
          <a:ln w="19050">
            <a:solidFill>
              <a:srgbClr val="FFFFFF"/>
            </a:solidFill>
            <a:prstDash val="solid"/>
          </a:ln>
        </p:spPr>
      </p:sp>
      <p:sp>
        <p:nvSpPr>
          <p:cNvPr id="36" name="Text 34"/>
          <p:cNvSpPr/>
          <p:nvPr/>
        </p:nvSpPr>
        <p:spPr>
          <a:xfrm>
            <a:off x="9212580" y="3483864"/>
            <a:ext cx="128016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Math" pitchFamily="34" charset="0"/>
                <a:ea typeface="Cambria Math" pitchFamily="34" charset="-122"/>
                <a:cs typeface="Cambria Math" pitchFamily="34" charset="-120"/>
              </a:rPr>
              <a:t>z₀(2, 1)</a:t>
            </a:r>
            <a:endParaRPr lang="en-US" sz="1400" dirty="0"/>
          </a:p>
        </p:txBody>
      </p:sp>
      <p:sp>
        <p:nvSpPr>
          <p:cNvPr id="37" name="Shape 35"/>
          <p:cNvSpPr/>
          <p:nvPr/>
        </p:nvSpPr>
        <p:spPr>
          <a:xfrm flipV="1">
            <a:off x="9532620" y="2484614"/>
            <a:ext cx="761743" cy="907810"/>
          </a:xfrm>
          <a:prstGeom prst="line">
            <a:avLst/>
          </a:prstGeom>
          <a:noFill/>
          <a:ln w="25400">
            <a:solidFill>
              <a:srgbClr val="D99A3D"/>
            </a:solidFill>
            <a:prstDash val="dash"/>
          </a:ln>
        </p:spPr>
      </p:sp>
      <p:sp>
        <p:nvSpPr>
          <p:cNvPr id="38" name="Text 36"/>
          <p:cNvSpPr/>
          <p:nvPr/>
        </p:nvSpPr>
        <p:spPr>
          <a:xfrm>
            <a:off x="9968356" y="2645911"/>
            <a:ext cx="365760" cy="274320"/>
          </a:xfrm>
          <a:prstGeom prst="rect">
            <a:avLst/>
          </a:prstGeom>
          <a:noFill/>
          <a:ln/>
        </p:spPr>
        <p:txBody>
          <a:bodyPr wrap="square" lIns="0" tIns="0" rIns="0" bIns="0" rtlCol="0" anchor="ctr"/>
          <a:lstStyle/>
          <a:p>
            <a:pPr algn="l" indent="0" marL="0">
              <a:buNone/>
            </a:pPr>
            <a:r>
              <a:rPr lang="en-US" sz="1400" b="1" i="1" dirty="0">
                <a:solidFill>
                  <a:srgbClr val="D99A3D"/>
                </a:solidFill>
                <a:latin typeface="Cambria Math" pitchFamily="34" charset="0"/>
                <a:ea typeface="Cambria Math" pitchFamily="34" charset="-122"/>
                <a:cs typeface="Cambria Math" pitchFamily="34" charset="-120"/>
              </a:rPr>
              <a:t>r</a:t>
            </a:r>
            <a:endParaRPr lang="en-US" sz="1400" dirty="0"/>
          </a:p>
        </p:txBody>
      </p:sp>
      <p:sp>
        <p:nvSpPr>
          <p:cNvPr id="39" name="Shape 37"/>
          <p:cNvSpPr/>
          <p:nvPr/>
        </p:nvSpPr>
        <p:spPr>
          <a:xfrm>
            <a:off x="10225783" y="2416034"/>
            <a:ext cx="137160" cy="137160"/>
          </a:xfrm>
          <a:prstGeom prst="ellipse">
            <a:avLst/>
          </a:prstGeom>
          <a:solidFill>
            <a:srgbClr val="1E3A5F"/>
          </a:solidFill>
          <a:ln w="19050">
            <a:solidFill>
              <a:srgbClr val="FFFFFF"/>
            </a:solidFill>
            <a:prstDash val="solid"/>
          </a:ln>
        </p:spPr>
      </p:sp>
      <p:sp>
        <p:nvSpPr>
          <p:cNvPr id="40" name="Text 38"/>
          <p:cNvSpPr/>
          <p:nvPr/>
        </p:nvSpPr>
        <p:spPr>
          <a:xfrm>
            <a:off x="10385803" y="2192006"/>
            <a:ext cx="457200"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Math" pitchFamily="34" charset="0"/>
                <a:ea typeface="Cambria Math" pitchFamily="34" charset="-122"/>
                <a:cs typeface="Cambria Math" pitchFamily="34" charset="-120"/>
              </a:rPr>
              <a:t>z</a:t>
            </a:r>
            <a:endParaRPr lang="en-US" sz="1500" dirty="0"/>
          </a:p>
        </p:txBody>
      </p:sp>
      <p:sp>
        <p:nvSpPr>
          <p:cNvPr id="41" name="Text 39"/>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6E86AE"/>
                </a:solidFill>
                <a:latin typeface="Calibri" pitchFamily="34" charset="0"/>
                <a:ea typeface="Calibri" pitchFamily="34" charset="-122"/>
                <a:cs typeface="Calibri" pitchFamily="34" charset="-120"/>
              </a:rPr>
              <a:t>07 / 08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371600"/>
            <a:ext cx="5486400" cy="365760"/>
          </a:xfrm>
          <a:prstGeom prst="rect">
            <a:avLst/>
          </a:prstGeom>
          <a:noFill/>
          <a:ln/>
        </p:spPr>
        <p:txBody>
          <a:bodyPr wrap="square" rtlCol="0" anchor="ctr"/>
          <a:lstStyle/>
          <a:p>
            <a:pPr indent="0" marL="0">
              <a:buNone/>
            </a:pPr>
            <a:r>
              <a:rPr lang="en-US" sz="1400" b="1" spc="200" kern="0" dirty="0">
                <a:solidFill>
                  <a:srgbClr val="D99A3D"/>
                </a:solidFill>
                <a:latin typeface="Calibri" pitchFamily="34" charset="0"/>
                <a:ea typeface="Calibri" pitchFamily="34" charset="-122"/>
                <a:cs typeface="Calibri" pitchFamily="34" charset="-120"/>
              </a:rPr>
              <a:t>KEY TAKEAWAY</a:t>
            </a:r>
            <a:endParaRPr lang="en-US" sz="1400" dirty="0"/>
          </a:p>
        </p:txBody>
      </p:sp>
      <p:sp>
        <p:nvSpPr>
          <p:cNvPr id="3" name="Text 1"/>
          <p:cNvSpPr/>
          <p:nvPr/>
        </p:nvSpPr>
        <p:spPr>
          <a:xfrm>
            <a:off x="777240" y="1828800"/>
            <a:ext cx="6949440" cy="173736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Fixed distance from</a:t>
            </a:r>
            <a:endParaRPr lang="en-US" sz="3600" dirty="0"/>
          </a:p>
          <a:p>
            <a:pPr indent="0" marL="0">
              <a:lnSpc>
                <a:spcPct val="110000"/>
              </a:lnSpc>
              <a:buNone/>
            </a:pPr>
            <a:r>
              <a:rPr lang="en-US" sz="3600" b="1" dirty="0">
                <a:solidFill>
                  <a:srgbClr val="FFFFFF"/>
                </a:solidFill>
                <a:latin typeface="Cambria" pitchFamily="34" charset="0"/>
                <a:ea typeface="Cambria" pitchFamily="34" charset="-122"/>
                <a:cs typeface="Cambria" pitchFamily="34" charset="-120"/>
              </a:rPr>
              <a:t>a fixed point → Circle</a:t>
            </a:r>
            <a:endParaRPr lang="en-US" sz="3600" dirty="0"/>
          </a:p>
        </p:txBody>
      </p:sp>
      <p:sp>
        <p:nvSpPr>
          <p:cNvPr id="4" name="Shape 2"/>
          <p:cNvSpPr/>
          <p:nvPr/>
        </p:nvSpPr>
        <p:spPr>
          <a:xfrm>
            <a:off x="822960" y="3703320"/>
            <a:ext cx="4206240" cy="1051560"/>
          </a:xfrm>
          <a:prstGeom prst="roundRect">
            <a:avLst>
              <a:gd name="adj" fmla="val 10435"/>
            </a:avLst>
          </a:prstGeom>
          <a:solidFill>
            <a:srgbClr val="1E3A5F"/>
          </a:solidFill>
          <a:ln/>
          <a:effectLst>
            <a:outerShdw sx="100000" sy="100000" kx="0" ky="0" algn="bl" rotWithShape="0" blurRad="101600" dist="38100" dir="5400000">
              <a:srgbClr val="1B2A4A">
                <a:alpha val="25000"/>
              </a:srgbClr>
            </a:outerShdw>
          </a:effectLst>
        </p:spPr>
      </p:sp>
      <p:sp>
        <p:nvSpPr>
          <p:cNvPr id="5" name="Text 3"/>
          <p:cNvSpPr/>
          <p:nvPr/>
        </p:nvSpPr>
        <p:spPr>
          <a:xfrm>
            <a:off x="822960" y="3703320"/>
            <a:ext cx="4206240" cy="10515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Math" pitchFamily="34" charset="0"/>
                <a:ea typeface="Cambria Math" pitchFamily="34" charset="-122"/>
                <a:cs typeface="Cambria Math" pitchFamily="34" charset="-120"/>
              </a:rPr>
              <a:t>|z − z₀| = r</a:t>
            </a:r>
            <a:endParaRPr lang="en-US" sz="3200" dirty="0"/>
          </a:p>
        </p:txBody>
      </p:sp>
      <p:sp>
        <p:nvSpPr>
          <p:cNvPr id="6" name="Text 4"/>
          <p:cNvSpPr/>
          <p:nvPr/>
        </p:nvSpPr>
        <p:spPr>
          <a:xfrm>
            <a:off x="822960" y="5029200"/>
            <a:ext cx="6583680" cy="502920"/>
          </a:xfrm>
          <a:prstGeom prst="rect">
            <a:avLst/>
          </a:prstGeom>
          <a:noFill/>
          <a:ln/>
        </p:spPr>
        <p:txBody>
          <a:bodyPr wrap="square" lIns="0" tIns="0" rIns="0" bIns="0" rtlCol="0" anchor="ctr"/>
          <a:lstStyle/>
          <a:p>
            <a:pPr indent="0" marL="0">
              <a:buNone/>
            </a:pPr>
            <a:r>
              <a:rPr lang="en-US" sz="1600" b="1" dirty="0">
                <a:solidFill>
                  <a:srgbClr val="D99A3D"/>
                </a:solidFill>
                <a:latin typeface="Calibri" pitchFamily="34" charset="0"/>
                <a:ea typeface="Calibri" pitchFamily="34" charset="-122"/>
                <a:cs typeface="Calibri" pitchFamily="34" charset="-120"/>
              </a:rPr>
              <a:t>Remember:  </a:t>
            </a:r>
            <a:pPr indent="0" marL="0">
              <a:buNone/>
            </a:pPr>
            <a:r>
              <a:rPr lang="en-US" sz="1600" dirty="0">
                <a:solidFill>
                  <a:srgbClr val="C9D6EA"/>
                </a:solidFill>
                <a:latin typeface="Calibri" pitchFamily="34" charset="0"/>
                <a:ea typeface="Calibri" pitchFamily="34" charset="-122"/>
                <a:cs typeface="Calibri" pitchFamily="34" charset="-120"/>
              </a:rPr>
              <a:t>z₀ is the centre and r is the radius.</a:t>
            </a:r>
            <a:endParaRPr lang="en-US" sz="1600" dirty="0"/>
          </a:p>
        </p:txBody>
      </p:sp>
      <p:sp>
        <p:nvSpPr>
          <p:cNvPr id="7" name="Shape 5"/>
          <p:cNvSpPr/>
          <p:nvPr/>
        </p:nvSpPr>
        <p:spPr>
          <a:xfrm>
            <a:off x="8514893" y="5466283"/>
            <a:ext cx="3028493" cy="0"/>
          </a:xfrm>
          <a:prstGeom prst="line">
            <a:avLst/>
          </a:prstGeom>
          <a:noFill/>
          <a:ln w="19050">
            <a:solidFill>
              <a:srgbClr val="9AA9C2"/>
            </a:solidFill>
            <a:prstDash val="solid"/>
            <a:tailEnd type="triangle"/>
          </a:ln>
        </p:spPr>
      </p:sp>
      <p:sp>
        <p:nvSpPr>
          <p:cNvPr id="8" name="Shape 6"/>
          <p:cNvSpPr/>
          <p:nvPr/>
        </p:nvSpPr>
        <p:spPr>
          <a:xfrm flipV="1">
            <a:off x="8514893" y="2108606"/>
            <a:ext cx="0" cy="3357677"/>
          </a:xfrm>
          <a:prstGeom prst="line">
            <a:avLst/>
          </a:prstGeom>
          <a:noFill/>
          <a:ln w="19050">
            <a:solidFill>
              <a:srgbClr val="9AA9C2"/>
            </a:solidFill>
            <a:prstDash val="solid"/>
            <a:headEnd type="none"/>
            <a:tailEnd type="triangle"/>
          </a:ln>
        </p:spPr>
      </p:sp>
      <p:sp>
        <p:nvSpPr>
          <p:cNvPr id="9" name="Text 7"/>
          <p:cNvSpPr/>
          <p:nvPr/>
        </p:nvSpPr>
        <p:spPr>
          <a:xfrm>
            <a:off x="11497666" y="5603443"/>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Re</a:t>
            </a:r>
            <a:endParaRPr lang="en-US" sz="1200" dirty="0"/>
          </a:p>
        </p:txBody>
      </p:sp>
      <p:sp>
        <p:nvSpPr>
          <p:cNvPr id="10" name="Text 8"/>
          <p:cNvSpPr/>
          <p:nvPr/>
        </p:nvSpPr>
        <p:spPr>
          <a:xfrm>
            <a:off x="8222285" y="2017166"/>
            <a:ext cx="365760" cy="228600"/>
          </a:xfrm>
          <a:prstGeom prst="rect">
            <a:avLst/>
          </a:prstGeom>
          <a:noFill/>
          <a:ln/>
        </p:spPr>
        <p:txBody>
          <a:bodyPr wrap="square" lIns="0" tIns="0" rIns="0" bIns="0" rtlCol="0" anchor="ctr"/>
          <a:lstStyle/>
          <a:p>
            <a:pPr algn="l" indent="0" marL="0">
              <a:buNone/>
            </a:pPr>
            <a:r>
              <a:rPr lang="en-US" sz="1200" b="1" dirty="0">
                <a:solidFill>
                  <a:srgbClr val="7F8FAE"/>
                </a:solidFill>
                <a:latin typeface="Cambria Math" pitchFamily="34" charset="0"/>
                <a:ea typeface="Cambria Math" pitchFamily="34" charset="-122"/>
                <a:cs typeface="Cambria Math" pitchFamily="34" charset="-120"/>
              </a:rPr>
              <a:t>Im</a:t>
            </a:r>
            <a:endParaRPr lang="en-US" sz="1200" dirty="0"/>
          </a:p>
        </p:txBody>
      </p:sp>
      <p:sp>
        <p:nvSpPr>
          <p:cNvPr id="11" name="Shape 9"/>
          <p:cNvSpPr/>
          <p:nvPr/>
        </p:nvSpPr>
        <p:spPr>
          <a:xfrm>
            <a:off x="8893454" y="2382926"/>
            <a:ext cx="2018995" cy="2018995"/>
          </a:xfrm>
          <a:prstGeom prst="ellipse">
            <a:avLst/>
          </a:prstGeom>
          <a:ln w="28575">
            <a:solidFill>
              <a:srgbClr val="1E3A5F"/>
            </a:solidFill>
            <a:prstDash val="dash"/>
          </a:ln>
        </p:spPr>
      </p:sp>
      <p:sp>
        <p:nvSpPr>
          <p:cNvPr id="12" name="Shape 10"/>
          <p:cNvSpPr/>
          <p:nvPr/>
        </p:nvSpPr>
        <p:spPr>
          <a:xfrm>
            <a:off x="8908615" y="3691973"/>
            <a:ext cx="91440" cy="91440"/>
          </a:xfrm>
          <a:prstGeom prst="ellipse">
            <a:avLst/>
          </a:prstGeom>
          <a:solidFill>
            <a:srgbClr val="1E3A5F">
              <a:alpha val="30000"/>
            </a:srgbClr>
          </a:solidFill>
          <a:ln/>
        </p:spPr>
      </p:sp>
      <p:sp>
        <p:nvSpPr>
          <p:cNvPr id="13" name="Shape 11"/>
          <p:cNvSpPr/>
          <p:nvPr/>
        </p:nvSpPr>
        <p:spPr>
          <a:xfrm>
            <a:off x="9681935" y="4340865"/>
            <a:ext cx="91440" cy="91440"/>
          </a:xfrm>
          <a:prstGeom prst="ellipse">
            <a:avLst/>
          </a:prstGeom>
          <a:solidFill>
            <a:srgbClr val="1E3A5F">
              <a:alpha val="30000"/>
            </a:srgbClr>
          </a:solidFill>
          <a:ln/>
        </p:spPr>
      </p:sp>
      <p:sp>
        <p:nvSpPr>
          <p:cNvPr id="14" name="Shape 12"/>
          <p:cNvSpPr/>
          <p:nvPr/>
        </p:nvSpPr>
        <p:spPr>
          <a:xfrm>
            <a:off x="10630552" y="3995597"/>
            <a:ext cx="91440" cy="91440"/>
          </a:xfrm>
          <a:prstGeom prst="ellipse">
            <a:avLst/>
          </a:prstGeom>
          <a:solidFill>
            <a:srgbClr val="1E3A5F">
              <a:alpha val="30000"/>
            </a:srgbClr>
          </a:solidFill>
          <a:ln/>
        </p:spPr>
      </p:sp>
      <p:sp>
        <p:nvSpPr>
          <p:cNvPr id="15" name="Shape 13"/>
          <p:cNvSpPr/>
          <p:nvPr/>
        </p:nvSpPr>
        <p:spPr>
          <a:xfrm>
            <a:off x="9834372" y="3323844"/>
            <a:ext cx="137160" cy="137160"/>
          </a:xfrm>
          <a:prstGeom prst="ellipse">
            <a:avLst/>
          </a:prstGeom>
          <a:solidFill>
            <a:srgbClr val="D99A3D"/>
          </a:solidFill>
          <a:ln w="19050">
            <a:solidFill>
              <a:srgbClr val="FFFFFF"/>
            </a:solidFill>
            <a:prstDash val="solid"/>
          </a:ln>
        </p:spPr>
      </p:sp>
      <p:sp>
        <p:nvSpPr>
          <p:cNvPr id="16" name="Text 14"/>
          <p:cNvSpPr/>
          <p:nvPr/>
        </p:nvSpPr>
        <p:spPr>
          <a:xfrm>
            <a:off x="9582912" y="3483864"/>
            <a:ext cx="128016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Math" pitchFamily="34" charset="0"/>
                <a:ea typeface="Cambria Math" pitchFamily="34" charset="-122"/>
                <a:cs typeface="Cambria Math" pitchFamily="34" charset="-120"/>
              </a:rPr>
              <a:t>z₀</a:t>
            </a:r>
            <a:endParaRPr lang="en-US" sz="1400" dirty="0"/>
          </a:p>
        </p:txBody>
      </p:sp>
      <p:sp>
        <p:nvSpPr>
          <p:cNvPr id="17" name="Shape 15"/>
          <p:cNvSpPr/>
          <p:nvPr/>
        </p:nvSpPr>
        <p:spPr>
          <a:xfrm flipV="1">
            <a:off x="9902952" y="2678601"/>
            <a:ext cx="713823" cy="713823"/>
          </a:xfrm>
          <a:prstGeom prst="line">
            <a:avLst/>
          </a:prstGeom>
          <a:noFill/>
          <a:ln w="25400">
            <a:solidFill>
              <a:srgbClr val="D99A3D"/>
            </a:solidFill>
            <a:prstDash val="dash"/>
          </a:ln>
        </p:spPr>
      </p:sp>
      <p:sp>
        <p:nvSpPr>
          <p:cNvPr id="18" name="Text 16"/>
          <p:cNvSpPr/>
          <p:nvPr/>
        </p:nvSpPr>
        <p:spPr>
          <a:xfrm>
            <a:off x="10314727" y="2742905"/>
            <a:ext cx="365760" cy="274320"/>
          </a:xfrm>
          <a:prstGeom prst="rect">
            <a:avLst/>
          </a:prstGeom>
          <a:noFill/>
          <a:ln/>
        </p:spPr>
        <p:txBody>
          <a:bodyPr wrap="square" lIns="0" tIns="0" rIns="0" bIns="0" rtlCol="0" anchor="ctr"/>
          <a:lstStyle/>
          <a:p>
            <a:pPr algn="l" indent="0" marL="0">
              <a:buNone/>
            </a:pPr>
            <a:r>
              <a:rPr lang="en-US" sz="1400" b="1" i="1" dirty="0">
                <a:solidFill>
                  <a:srgbClr val="D99A3D"/>
                </a:solidFill>
                <a:latin typeface="Cambria Math" pitchFamily="34" charset="0"/>
                <a:ea typeface="Cambria Math" pitchFamily="34" charset="-122"/>
                <a:cs typeface="Cambria Math" pitchFamily="34" charset="-120"/>
              </a:rPr>
              <a:t>r</a:t>
            </a:r>
            <a:endParaRPr lang="en-US" sz="1400" dirty="0"/>
          </a:p>
        </p:txBody>
      </p:sp>
      <p:sp>
        <p:nvSpPr>
          <p:cNvPr id="19" name="Shape 17"/>
          <p:cNvSpPr/>
          <p:nvPr/>
        </p:nvSpPr>
        <p:spPr>
          <a:xfrm>
            <a:off x="10548195" y="2610021"/>
            <a:ext cx="137160" cy="137160"/>
          </a:xfrm>
          <a:prstGeom prst="ellipse">
            <a:avLst/>
          </a:prstGeom>
          <a:solidFill>
            <a:srgbClr val="1E3A5F"/>
          </a:solidFill>
          <a:ln w="19050">
            <a:solidFill>
              <a:srgbClr val="FFFFFF"/>
            </a:solidFill>
            <a:prstDash val="solid"/>
          </a:ln>
        </p:spPr>
      </p:sp>
      <p:sp>
        <p:nvSpPr>
          <p:cNvPr id="20" name="Text 18"/>
          <p:cNvSpPr/>
          <p:nvPr/>
        </p:nvSpPr>
        <p:spPr>
          <a:xfrm>
            <a:off x="10708215" y="2385993"/>
            <a:ext cx="457200"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Cambria Math" pitchFamily="34" charset="0"/>
                <a:ea typeface="Cambria Math" pitchFamily="34" charset="-122"/>
                <a:cs typeface="Cambria Math" pitchFamily="34" charset="-120"/>
              </a:rPr>
              <a:t>z</a:t>
            </a:r>
            <a:endParaRPr lang="en-US" sz="1500" dirty="0"/>
          </a:p>
        </p:txBody>
      </p:sp>
      <p:sp>
        <p:nvSpPr>
          <p:cNvPr id="21" name="Text 19"/>
          <p:cNvSpPr/>
          <p:nvPr/>
        </p:nvSpPr>
        <p:spPr>
          <a:xfrm>
            <a:off x="11018520" y="6492240"/>
            <a:ext cx="1005840" cy="292608"/>
          </a:xfrm>
          <a:prstGeom prst="rect">
            <a:avLst/>
          </a:prstGeom>
          <a:noFill/>
          <a:ln/>
        </p:spPr>
        <p:txBody>
          <a:bodyPr wrap="square" rtlCol="0" anchor="ctr"/>
          <a:lstStyle/>
          <a:p>
            <a:pPr algn="r" indent="0" marL="0">
              <a:buNone/>
            </a:pPr>
            <a:r>
              <a:rPr lang="en-US" sz="1000" dirty="0">
                <a:solidFill>
                  <a:srgbClr val="6E86AE"/>
                </a:solidFill>
                <a:latin typeface="Calibri" pitchFamily="34" charset="0"/>
                <a:ea typeface="Calibri" pitchFamily="34" charset="-122"/>
                <a:cs typeface="Calibri" pitchFamily="34" charset="-120"/>
              </a:rPr>
              <a:t>08 / 08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2026-08-22T07:14:56Z</dcterms:created>
  <dcterms:modified xsi:type="dcterms:W3CDTF">2026-08-22T07:14:56Z</dcterms:modified>
</cp:coreProperties>
</file>