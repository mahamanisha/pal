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8432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28432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2560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6688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6688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0816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0816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5603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ALGEBRAIC PROPERTIES OF COMPLEX NUMBERS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02920" y="731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 Basic Algebraic Properties  •  Level 1: The Closure Property</a:t>
            </a:r>
            <a:endParaRPr lang="en-US" sz="1400" dirty="0"/>
          </a:p>
        </p:txBody>
      </p:sp>
      <p:pic>
        <p:nvPicPr>
          <p:cNvPr id="13" name="Image 1" descr="/home/claude/work/assets/mascot_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822960"/>
            <a:ext cx="1417320" cy="1298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732520" y="1298448"/>
            <a:ext cx="1874520" cy="749808"/>
          </a:xfrm>
          <a:prstGeom prst="roundRect">
            <a:avLst>
              <a:gd name="adj" fmla="val 14634"/>
            </a:avLst>
          </a:prstGeom>
          <a:solidFill>
            <a:srgbClr val="141F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23960" y="12984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“Do complex numbers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obey the same laws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real numbers?”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1417320"/>
            <a:ext cx="5486400" cy="1417320"/>
          </a:xfrm>
          <a:prstGeom prst="roundRect">
            <a:avLst>
              <a:gd name="adj" fmla="val 7742"/>
            </a:avLst>
          </a:prstGeom>
          <a:solidFill>
            <a:srgbClr val="141F3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155448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Concept:  </a:t>
            </a:r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properties of addition and multiplication of complex numbers are the same as for real numbers. Let </a:t>
            </a:r>
            <a:pPr indent="0" marL="0">
              <a:buNone/>
            </a:pPr>
            <a:r>
              <a:rPr lang="en-US" sz="1600" i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</a:t>
            </a:r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and </a:t>
            </a:r>
            <a:pPr indent="0" marL="0">
              <a:buNone/>
            </a:pPr>
            <a:r>
              <a:rPr lang="en-US" sz="1600" i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z₂</a:t>
            </a:r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 any two complex numbers.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2920" y="301752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41F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311810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CLOSURE  —  ADDITION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35661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 + z₂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685800" y="4572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also a complex number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85800" y="5577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any z₁, z₂ ∈ ℂ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023360" y="3017520"/>
            <a:ext cx="3246120" cy="3063240"/>
          </a:xfrm>
          <a:prstGeom prst="roundRect">
            <a:avLst>
              <a:gd name="adj" fmla="val 3582"/>
            </a:avLst>
          </a:prstGeom>
          <a:solidFill>
            <a:srgbClr val="141F3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023360" y="311810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CLOSURE  —  MULTIPLICATION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023360" y="35661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 · z₂</a:t>
            </a:r>
            <a:endParaRPr lang="en-US" sz="3400" dirty="0"/>
          </a:p>
        </p:txBody>
      </p:sp>
      <p:sp>
        <p:nvSpPr>
          <p:cNvPr id="26" name="Text 22"/>
          <p:cNvSpPr/>
          <p:nvPr/>
        </p:nvSpPr>
        <p:spPr>
          <a:xfrm>
            <a:off x="4206240" y="4572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also a complex number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206240" y="55778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any z₁, z₂ ∈ ℂ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461504" y="3191256"/>
            <a:ext cx="4489704" cy="1389888"/>
          </a:xfrm>
          <a:prstGeom prst="roundRect">
            <a:avLst>
              <a:gd name="adj" fmla="val 7895"/>
            </a:avLst>
          </a:prstGeom>
          <a:solidFill>
            <a:srgbClr val="141F3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44384" y="3300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ℹ  CLOSURE PROPERTY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644384" y="361188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sum and the product of any two complex numbers always belong to the set of complex numbers ℂ.</a:t>
            </a:r>
            <a:endParaRPr lang="en-US" sz="1450" dirty="0"/>
          </a:p>
        </p:txBody>
      </p:sp>
      <p:sp>
        <p:nvSpPr>
          <p:cNvPr id="31" name="Shape 27"/>
          <p:cNvSpPr/>
          <p:nvPr/>
        </p:nvSpPr>
        <p:spPr>
          <a:xfrm>
            <a:off x="7717536" y="4965192"/>
            <a:ext cx="4142232" cy="1216152"/>
          </a:xfrm>
          <a:prstGeom prst="roundRect">
            <a:avLst>
              <a:gd name="adj" fmla="val 9023"/>
            </a:avLst>
          </a:prstGeom>
          <a:solidFill>
            <a:srgbClr val="141F3D"/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900416" y="5056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✨  KEY TAKEAWAY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900416" y="5349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numbers form a closed system under addition and multiplication — the foundation for every other algebraic property.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8432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28432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2560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6688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6688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0816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0816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9456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PROPERTIES UNDER ADDITION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02920" y="749808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 Basic Algebraic Properties  •  Level 2: Commutative, Associative, Identity &amp; Inverse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2344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141F3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13258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 + z₂ = z₂ + z₁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029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commutative property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931920" y="1234440"/>
            <a:ext cx="4206240" cy="1234440"/>
          </a:xfrm>
          <a:prstGeom prst="roundRect">
            <a:avLst>
              <a:gd name="adj" fmla="val 8889"/>
            </a:avLst>
          </a:prstGeom>
          <a:solidFill>
            <a:srgbClr val="141F3D"/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1325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(z₁+z₂)+z₃ = z₁+(z₂+z₃)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9319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associative property</a:t>
            </a:r>
            <a:endParaRPr lang="en-US" sz="1100" dirty="0"/>
          </a:p>
        </p:txBody>
      </p:sp>
      <p:pic>
        <p:nvPicPr>
          <p:cNvPr id="19" name="Image 1" descr="/home/claude/work/assets/mascot_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914400"/>
            <a:ext cx="1737360" cy="1600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" y="269748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141F3D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" y="28163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5800" y="312724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every real number is also a complex number, the familiar addition laws extend naturally: order and grouping never change the value of a sum of complex numbers.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080760" y="2697480"/>
            <a:ext cx="5605272" cy="1691640"/>
          </a:xfrm>
          <a:prstGeom prst="roundRect">
            <a:avLst>
              <a:gd name="adj" fmla="val 6486"/>
            </a:avLst>
          </a:prstGeom>
          <a:solidFill>
            <a:srgbClr val="141F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63640" y="28163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INVERSE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263640" y="3182112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Additive identity: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 + 0 = z,   where 0 = 0 + 0i
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Additive inverse: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 + (−z) = 0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502920" y="457200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141F3D"/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5800" y="46817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✨  KEY TAKEAWAY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85800" y="49834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exists a unique complex number 0 = 0 + 0i, and every complex number z has a unique additive inverse −z, such that z + (−z) = 0.</a:t>
            </a:r>
            <a:endParaRPr lang="en-US" sz="1450" dirty="0"/>
          </a:p>
        </p:txBody>
      </p:sp>
      <p:sp>
        <p:nvSpPr>
          <p:cNvPr id="29" name="Shape 25"/>
          <p:cNvSpPr/>
          <p:nvPr/>
        </p:nvSpPr>
        <p:spPr>
          <a:xfrm>
            <a:off x="6355080" y="4572000"/>
            <a:ext cx="5330952" cy="1600200"/>
          </a:xfrm>
          <a:prstGeom prst="roundRect">
            <a:avLst>
              <a:gd name="adj" fmla="val 6857"/>
            </a:avLst>
          </a:prstGeom>
          <a:solidFill>
            <a:srgbClr val="141F3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37960" y="4681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ADDITION AT A GLANCE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537960" y="4983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Closure: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 + z₂ ∈ ℂ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leaves z unchanged; inverse cancels it out.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8432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28432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2560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6688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6688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0816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0816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9456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PROPERTIES UNDER MULTIPLICATION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02920" y="749808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 Basic Algebraic Properties  •  Level 3: Rules + Worked Proof</a:t>
            </a:r>
            <a:endParaRPr lang="en-US" sz="1400" dirty="0"/>
          </a:p>
        </p:txBody>
      </p:sp>
      <p:pic>
        <p:nvPicPr>
          <p:cNvPr id="13" name="Image 1" descr="/home/claude/work/assets/mascot_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685800"/>
            <a:ext cx="1417320" cy="12984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1298448"/>
            <a:ext cx="3474720" cy="566928"/>
          </a:xfrm>
          <a:prstGeom prst="roundRect">
            <a:avLst>
              <a:gd name="adj" fmla="val 19355"/>
            </a:avLst>
          </a:prstGeom>
          <a:solidFill>
            <a:srgbClr val="141F3D"/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129844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Rule:  </a:t>
            </a:r>
            <a:pPr algn="ctr" indent="0" marL="0"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z₁z₂ = z₂z₁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1097280" y="2697480"/>
            <a:ext cx="2103120" cy="2103120"/>
          </a:xfrm>
          <a:prstGeom prst="ellipse">
            <a:avLst/>
          </a:prstGeom>
          <a:ln w="25400">
            <a:solidFill>
              <a:srgbClr val="0EA5E9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1783080" y="3474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ℂ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1581912" y="2130552"/>
            <a:ext cx="1133856" cy="1133856"/>
          </a:xfrm>
          <a:prstGeom prst="ellipse">
            <a:avLst/>
          </a:prstGeom>
          <a:solidFill>
            <a:srgbClr val="141F3D"/>
          </a:solidFill>
          <a:ln w="3175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444752" y="2130552"/>
            <a:ext cx="140817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CLOSURE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33472" y="3182112"/>
            <a:ext cx="1133856" cy="1133856"/>
          </a:xfrm>
          <a:prstGeom prst="ellipse">
            <a:avLst/>
          </a:prstGeom>
          <a:solidFill>
            <a:srgbClr val="141F3D"/>
          </a:solidFill>
          <a:ln w="31750">
            <a:solidFill>
              <a:srgbClr val="A78BF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496312" y="3182112"/>
            <a:ext cx="140817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COMMUTATIVE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581912" y="4233672"/>
            <a:ext cx="1133856" cy="1133856"/>
          </a:xfrm>
          <a:prstGeom prst="ellipse">
            <a:avLst/>
          </a:prstGeom>
          <a:solidFill>
            <a:srgbClr val="141F3D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444752" y="4233672"/>
            <a:ext cx="140817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ASSOCIATIVE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30352" y="3182112"/>
            <a:ext cx="1133856" cy="1133856"/>
          </a:xfrm>
          <a:prstGeom prst="ellipse">
            <a:avLst/>
          </a:prstGeom>
          <a:solidFill>
            <a:srgbClr val="141F3D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93192" y="3182112"/>
            <a:ext cx="140817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DISTRIBUTIVE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160520" y="1298448"/>
            <a:ext cx="4160520" cy="3017520"/>
          </a:xfrm>
          <a:prstGeom prst="roundRect">
            <a:avLst>
              <a:gd name="adj" fmla="val 3636"/>
            </a:avLst>
          </a:prstGeom>
          <a:solidFill>
            <a:srgbClr val="141F3D"/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343400" y="1408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PROOF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343400" y="17007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Commutative property under addition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4343400" y="2084832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  z₁ = x₁+iy₁,  z₂ = x₂+iy₂,  x₁,x₂,y₁,y₂ ∈ ℝ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z₁+z₂ = (x₁+iy₁)+(x₂+iy₂)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= (x₁+x₂) + i(y₁+y₂)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= (x₂+x₁) + i(y₂+y₁) 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(reals commute)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= (x₂+iy₂)+(x₁+iy₁)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= z₂+z₁  ✓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503920" y="1298448"/>
            <a:ext cx="3182112" cy="3017520"/>
          </a:xfrm>
          <a:prstGeom prst="roundRect">
            <a:avLst>
              <a:gd name="adj" fmla="val 3636"/>
            </a:avLst>
          </a:prstGeom>
          <a:solidFill>
            <a:srgbClr val="141F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686800" y="140817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FORMULAS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686800" y="1737360"/>
            <a:ext cx="28346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Mult. identity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z·1 = z
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Mult. inverse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z·w = 1  (z≠0)
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Distributive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z₁(z₂+z₃)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z₁z₂+z₁z₃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5166360"/>
            <a:ext cx="11183112" cy="1005840"/>
          </a:xfrm>
          <a:prstGeom prst="roundRect">
            <a:avLst>
              <a:gd name="adj" fmla="val 10909"/>
            </a:avLst>
          </a:prstGeom>
          <a:solidFill>
            <a:srgbClr val="141F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85800" y="52578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 DISTRIBUTIVE PROPERTY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685800" y="55595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Multiplication distributes over addition, exactly as with real numbers: z₁(z₂+z₃) = z₁z₂+z₁z₃  and  (z₁+z₂)z₃ = z₁z₃+z₂z₃.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8432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28432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9052560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0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076688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1F3D"/>
          </a:solidFill>
          <a:ln w="12700">
            <a:solidFill>
              <a:srgbClr val="B9C4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76688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UNLOCK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00816" y="2560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00816" y="2560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9456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PROOF: THE MULTIPLICATIVE INVERSE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502920" y="749808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 Basic Algebraic Properties  •  Level 4: Key Result, Derivation &amp; Caution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280160"/>
            <a:ext cx="5669280" cy="1965960"/>
          </a:xfrm>
          <a:prstGeom prst="roundRect">
            <a:avLst>
              <a:gd name="adj" fmla="val 5581"/>
            </a:avLst>
          </a:prstGeom>
          <a:solidFill>
            <a:srgbClr val="141F3D"/>
          </a:solidFill>
          <a:ln w="19050">
            <a:solidFill>
              <a:srgbClr val="F5B4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138988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RESULT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16916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z = x+iy ≠ 0,
</a:t>
            </a:r>
            <a:pPr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⁻¹</a:t>
            </a:r>
            <a:pPr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=  </a:t>
            </a:r>
            <a:pPr indent="0" marL="0">
              <a:buNone/>
            </a:pPr>
            <a:r>
              <a:rPr lang="en-US" sz="200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x⁄(x²+y²)  −  i·y⁄(x²+y²)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2743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unique complex number w such that z·w = 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3429000"/>
            <a:ext cx="5669280" cy="1188720"/>
          </a:xfrm>
          <a:prstGeom prst="roundRect">
            <a:avLst>
              <a:gd name="adj" fmla="val 9231"/>
            </a:avLst>
          </a:prstGeom>
          <a:solidFill>
            <a:srgbClr val="141F3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5387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 CAUTION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" y="38404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z⁻¹ is not defined when z = 0, since x²+y² = 0 only when x = y = 0.</a:t>
            </a:r>
            <a:endParaRPr lang="en-US" sz="1400" dirty="0"/>
          </a:p>
        </p:txBody>
      </p:sp>
      <p:pic>
        <p:nvPicPr>
          <p:cNvPr id="20" name="Image 1" descr="/home/claude/work/assets/unlock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46320"/>
            <a:ext cx="1417320" cy="1618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68880" y="5349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nonzero complex number now has a multiplicative inverse.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00800" y="1280160"/>
            <a:ext cx="5285232" cy="5184648"/>
          </a:xfrm>
          <a:prstGeom prst="roundRect">
            <a:avLst>
              <a:gd name="adj" fmla="val 2116"/>
            </a:avLst>
          </a:prstGeom>
          <a:solidFill>
            <a:srgbClr val="141F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83680" y="13898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PROOF  —  DERIVATION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583680" y="173736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 w = u+iv be the inverse of z = x+iy, so zw = 1.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(x+iy)(u+iv) = 1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(xu−yv) + i(xv+uy) = 1 + 0i
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Equating real and imaginary parts:
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 − yv = 1   and   xv + uy = 0
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Solving this system for u and v:
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5B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 = x⁄(x²+y²)   and   v = −y⁄(x²+y²)
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(z ≠ 0  ⇒  x²+y² ≠ 0)
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9C4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Therefore:
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z⁻¹ = x⁄(x²+y²) − i·y⁄(x²+y²)   ✓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2026-09-01T11:14:52Z</dcterms:created>
  <dcterms:modified xsi:type="dcterms:W3CDTF">2026-09-01T11:14:52Z</dcterms:modified>
</cp:coreProperties>
</file>