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3745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31175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31175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2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DISCOVER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9055303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>
              <a:alpha val="70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5303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079431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>
              <a:alpha val="70000"/>
            </a:srgbClr>
          </a:solidFill>
          <a:ln w="15875">
            <a:solidFill>
              <a:srgbClr val="F5B4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79431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UNLOCK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1103559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>
              <a:alpha val="70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03559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219456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MYSTERY OF THE NEGATIVE SQUARE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502920" y="749808"/>
            <a:ext cx="7452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Introduction to Complex Numbers  •  Level 1: The Question</a:t>
            </a:r>
            <a:endParaRPr lang="en-US" sz="1400" dirty="0"/>
          </a:p>
        </p:txBody>
      </p:sp>
      <p:pic>
        <p:nvPicPr>
          <p:cNvPr id="13" name="Image 1" descr="/home/claude/deck/assets/avatar_dis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822960"/>
            <a:ext cx="1417320" cy="12984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732520" y="1417320"/>
            <a:ext cx="1874520" cy="502920"/>
          </a:xfrm>
          <a:prstGeom prst="roundRect">
            <a:avLst>
              <a:gd name="adj" fmla="val 25455"/>
            </a:avLst>
          </a:prstGeom>
          <a:solidFill>
            <a:srgbClr val="141F3D">
              <a:alpha val="90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732520" y="135331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"Can a real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number square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-1...?"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141732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141F3D">
              <a:alpha val="85000"/>
            </a:srgbClr>
          </a:solidFill>
          <a:ln w="15875">
            <a:solidFill>
              <a:srgbClr val="0EA5E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1536192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Concept:  </a:t>
            </a:r>
            <a:r>
              <a:rPr lang="en-US" sz="16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Squaring any real number never gives a negative result. So does a solution exist for </a:t>
            </a:r>
            <a:r>
              <a:rPr lang="en-US" sz="160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x² = −1</a:t>
            </a:r>
            <a:r>
              <a:rPr lang="en-US" sz="16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?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02920" y="3017520"/>
            <a:ext cx="3246120" cy="3063240"/>
          </a:xfrm>
          <a:prstGeom prst="roundRect">
            <a:avLst>
              <a:gd name="adj" fmla="val 4179"/>
            </a:avLst>
          </a:prstGeom>
          <a:solidFill>
            <a:srgbClr val="141F3D">
              <a:alpha val="88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292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2D3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EQUATION 1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2920" y="34290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x² − 1 = 0</a:t>
            </a:r>
            <a:endParaRPr lang="en-US" sz="2600" dirty="0"/>
          </a:p>
        </p:txBody>
      </p:sp>
      <p:pic>
        <p:nvPicPr>
          <p:cNvPr id="21" name="Image 2" descr="/home/claude/deck/assets/gra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31920"/>
            <a:ext cx="2606040" cy="2606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2920" y="56235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= ±1</a:t>
            </a:r>
            <a:r>
              <a:rPr lang="en-US" sz="135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— real roots exist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4023360" y="3017520"/>
            <a:ext cx="3246120" cy="3063240"/>
          </a:xfrm>
          <a:prstGeom prst="roundRect">
            <a:avLst>
              <a:gd name="adj" fmla="val 4179"/>
            </a:avLst>
          </a:prstGeom>
          <a:solidFill>
            <a:srgbClr val="141F3D">
              <a:alpha val="88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02336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EQUATION 2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023360" y="34290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x² + 1 = 0</a:t>
            </a:r>
            <a:endParaRPr lang="en-US" sz="2600" dirty="0"/>
          </a:p>
        </p:txBody>
      </p:sp>
      <p:pic>
        <p:nvPicPr>
          <p:cNvPr id="26" name="Image 3" descr="/home/claude/deck/assets/gra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931920"/>
            <a:ext cx="2606040" cy="2606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023360" y="56235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= ±√−1</a:t>
            </a:r>
            <a:r>
              <a:rPr lang="en-US" sz="135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= ?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7459675" y="3192874"/>
            <a:ext cx="4487875" cy="1389888"/>
          </a:xfrm>
          <a:prstGeom prst="roundRect">
            <a:avLst>
              <a:gd name="adj" fmla="val 7568"/>
            </a:avLst>
          </a:prstGeom>
          <a:solidFill>
            <a:srgbClr val="141F3D">
              <a:alpha val="88000"/>
            </a:srgbClr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665720" y="339699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  WARNING SIGNAL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622527" y="3749344"/>
            <a:ext cx="43324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graph of f(x) = x² + 1 never touches the x-axis — it has no real x-intercepts, so no real number solves the equation.</a:t>
            </a:r>
            <a:endParaRPr lang="en-US" sz="1450" dirty="0"/>
          </a:p>
        </p:txBody>
      </p:sp>
      <p:sp>
        <p:nvSpPr>
          <p:cNvPr id="31" name="Shape 25"/>
          <p:cNvSpPr/>
          <p:nvPr/>
        </p:nvSpPr>
        <p:spPr>
          <a:xfrm>
            <a:off x="7719429" y="4966123"/>
            <a:ext cx="4138672" cy="1216152"/>
          </a:xfrm>
          <a:prstGeom prst="roundRect">
            <a:avLst>
              <a:gd name="adj" fmla="val 10769"/>
            </a:avLst>
          </a:prstGeom>
          <a:solidFill>
            <a:srgbClr val="141F3D">
              <a:alpha val="92000"/>
            </a:srgbClr>
          </a:solidFill>
          <a:ln w="19050">
            <a:solidFill>
              <a:srgbClr val="F5B40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940040" y="506577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✨ KEY TAKEAWAY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7890695" y="5387535"/>
            <a:ext cx="3737560" cy="62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numbers alone cannot solve x² = −1 — mathematics needs a brand-new kind of number.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31175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>
              <a:alpha val="70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31175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DISCOVER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9055303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5303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2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079431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>
              <a:alpha val="70000"/>
            </a:srgbClr>
          </a:solidFill>
          <a:ln w="15875">
            <a:solidFill>
              <a:srgbClr val="F5B4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79431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UNLOCK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1103559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>
              <a:alpha val="70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03559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25603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MEET THE IMAGINARY UNIT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0292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 2: The Discovery</a:t>
            </a:r>
            <a:endParaRPr lang="en-US" sz="1500" dirty="0"/>
          </a:p>
        </p:txBody>
      </p:sp>
      <p:pic>
        <p:nvPicPr>
          <p:cNvPr id="13" name="Image 1" descr="/home/claude/deck/assets/avatar_le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777240"/>
            <a:ext cx="1463040" cy="1344168"/>
          </a:xfrm>
          <a:prstGeom prst="rect">
            <a:avLst/>
          </a:prstGeom>
        </p:spPr>
      </p:pic>
      <p:pic>
        <p:nvPicPr>
          <p:cNvPr id="14" name="Image 2" descr="/home/claude/deck/assets/chip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417320"/>
            <a:ext cx="5212080" cy="1737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2920" y="16002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34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=  </a:t>
            </a:r>
            <a:r>
              <a:rPr lang="en-US" sz="46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√−1</a:t>
            </a:r>
            <a:endParaRPr lang="en-US" sz="5400" dirty="0"/>
          </a:p>
        </p:txBody>
      </p:sp>
      <p:sp>
        <p:nvSpPr>
          <p:cNvPr id="16" name="Text 11"/>
          <p:cNvSpPr/>
          <p:nvPr/>
        </p:nvSpPr>
        <p:spPr>
          <a:xfrm>
            <a:off x="502920" y="2514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imaginary unit</a:t>
            </a:r>
            <a:endParaRPr lang="en-US" sz="1600" dirty="0"/>
          </a:p>
        </p:txBody>
      </p:sp>
      <p:pic>
        <p:nvPicPr>
          <p:cNvPr id="17" name="Image 3" descr="/home/claude/deck/assets/chip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417320"/>
            <a:ext cx="5669280" cy="17373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35040" y="16002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260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²</a:t>
            </a:r>
            <a:r>
              <a:rPr lang="en-US" sz="46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=  −1</a:t>
            </a:r>
            <a:endParaRPr lang="en-US" sz="4600" dirty="0"/>
          </a:p>
        </p:txBody>
      </p:sp>
      <p:sp>
        <p:nvSpPr>
          <p:cNvPr id="19" name="Text 13"/>
          <p:cNvSpPr/>
          <p:nvPr/>
        </p:nvSpPr>
        <p:spPr>
          <a:xfrm>
            <a:off x="6035040" y="25146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defining rule of every power of i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02920" y="3429000"/>
            <a:ext cx="7452360" cy="2651760"/>
          </a:xfrm>
          <a:prstGeom prst="roundRect">
            <a:avLst>
              <a:gd name="adj" fmla="val 4828"/>
            </a:avLst>
          </a:prstGeom>
          <a:solidFill>
            <a:srgbClr val="141F3D">
              <a:alpha val="88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32461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41F3D">
              <a:alpha val="8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77240" y="3246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22960" y="3794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Because equation 2 has no real solution, mathematicians created a new number whose square </a:t>
            </a:r>
            <a:r>
              <a:rPr lang="en-US" sz="1600" i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</a:t>
            </a:r>
            <a:r>
              <a:rPr lang="en-US" sz="16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allowed to be negative.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22960" y="4617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Formula card:  </a:t>
            </a:r>
            <a:r>
              <a:rPr lang="en-US" sz="17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= ±√−1   is written as   x = ±i</a:t>
            </a:r>
            <a:endParaRPr lang="en-US" sz="1700" dirty="0"/>
          </a:p>
        </p:txBody>
      </p:sp>
      <p:sp>
        <p:nvSpPr>
          <p:cNvPr id="25" name="Shape 19"/>
          <p:cNvSpPr/>
          <p:nvPr/>
        </p:nvSpPr>
        <p:spPr>
          <a:xfrm>
            <a:off x="822960" y="5166360"/>
            <a:ext cx="6858000" cy="0"/>
          </a:xfrm>
          <a:prstGeom prst="line">
            <a:avLst/>
          </a:prstGeom>
          <a:noFill/>
          <a:ln w="9525">
            <a:solidFill>
              <a:srgbClr val="B9C4E0"/>
            </a:solidFill>
            <a:prstDash val="dash"/>
          </a:ln>
        </p:spPr>
      </p:sp>
      <p:sp>
        <p:nvSpPr>
          <p:cNvPr id="26" name="Text 20"/>
          <p:cNvSpPr/>
          <p:nvPr/>
        </p:nvSpPr>
        <p:spPr>
          <a:xfrm>
            <a:off x="822960" y="53035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✨ Key takeaway:  </a:t>
            </a:r>
            <a:r>
              <a:rPr lang="en-US" sz="15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power of i can now be built from this one fact — i² = −1 unlocks the entire pattern.</a:t>
            </a:r>
            <a:endParaRPr lang="en-US" sz="1550" dirty="0"/>
          </a:p>
        </p:txBody>
      </p:sp>
      <p:sp>
        <p:nvSpPr>
          <p:cNvPr id="27" name="Shape 21"/>
          <p:cNvSpPr/>
          <p:nvPr/>
        </p:nvSpPr>
        <p:spPr>
          <a:xfrm>
            <a:off x="8183880" y="3429000"/>
            <a:ext cx="3520440" cy="2651760"/>
          </a:xfrm>
          <a:prstGeom prst="roundRect">
            <a:avLst>
              <a:gd name="adj" fmla="val 4828"/>
            </a:avLst>
          </a:prstGeom>
          <a:solidFill>
            <a:srgbClr val="141F3D">
              <a:alpha val="92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412480" y="3584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2D3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vs IMAGINARY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8412480" y="3977640"/>
            <a:ext cx="3063240" cy="566928"/>
          </a:xfrm>
          <a:prstGeom prst="roundRect">
            <a:avLst>
              <a:gd name="adj" fmla="val 16129"/>
            </a:avLst>
          </a:prstGeom>
          <a:solidFill>
            <a:srgbClr val="0EA5E9">
              <a:alpha val="2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549640" y="39776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D3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Real: x² ≥ 0  always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8412480" y="4645152"/>
            <a:ext cx="3063240" cy="566928"/>
          </a:xfrm>
          <a:prstGeom prst="roundRect">
            <a:avLst>
              <a:gd name="adj" fmla="val 16129"/>
            </a:avLst>
          </a:prstGeom>
          <a:solidFill>
            <a:srgbClr val="8B5CF6">
              <a:alpha val="2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549640" y="464515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Imaginary: i² = −1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8412480" y="532180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single new rule lets us find a square root for any negative number.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31175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>
              <a:alpha val="70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31175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DISCOVER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9055303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>
              <a:alpha val="70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5303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079431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79431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2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UNLOCK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1103559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>
              <a:alpha val="70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03559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23774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POWER CYCLE OF i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0292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 3: Rules + Worked Examples</a:t>
            </a:r>
            <a:endParaRPr lang="en-US" sz="1400" dirty="0"/>
          </a:p>
        </p:txBody>
      </p:sp>
      <p:pic>
        <p:nvPicPr>
          <p:cNvPr id="13" name="Image 1" descr="/home/claude/deck/assets/avatar_un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713232"/>
            <a:ext cx="1325880" cy="1216152"/>
          </a:xfrm>
          <a:prstGeom prst="rect">
            <a:avLst/>
          </a:prstGeom>
        </p:spPr>
      </p:pic>
      <p:pic>
        <p:nvPicPr>
          <p:cNvPr id="14" name="Image 2" descr="/home/claude/deck/assets/cy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234440"/>
            <a:ext cx="3703320" cy="3703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2920" y="4983480"/>
            <a:ext cx="3337560" cy="658368"/>
          </a:xfrm>
          <a:prstGeom prst="roundRect">
            <a:avLst>
              <a:gd name="adj" fmla="val 16667"/>
            </a:avLst>
          </a:prstGeom>
          <a:solidFill>
            <a:srgbClr val="141F3D">
              <a:alpha val="90000"/>
            </a:srgbClr>
          </a:solidFill>
          <a:ln w="15875">
            <a:solidFill>
              <a:srgbClr val="F5B40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02920" y="49834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Rule:  </a:t>
            </a:r>
            <a:r>
              <a:rPr lang="en-US" sz="135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iⁿ = iᵏ  where k = n mod 4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343400" y="11887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343400" y="1536192"/>
            <a:ext cx="3703320" cy="1170432"/>
          </a:xfrm>
          <a:prstGeom prst="roundRect">
            <a:avLst>
              <a:gd name="adj" fmla="val 9375"/>
            </a:avLst>
          </a:prstGeom>
          <a:solidFill>
            <a:srgbClr val="141F3D">
              <a:alpha val="88000"/>
            </a:srgbClr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507992" y="1591056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Simplify  i</a:t>
            </a:r>
            <a:r>
              <a:rPr lang="en-US" sz="1100" b="1" baseline="300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507992" y="1901952"/>
            <a:ext cx="3374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900" baseline="300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r>
              <a:rPr lang="en-US" sz="13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i</a:t>
            </a:r>
            <a:r>
              <a:rPr lang="en-US" sz="900" baseline="300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4+3</a:t>
            </a:r>
            <a:r>
              <a:rPr lang="en-US" sz="13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(i</a:t>
            </a:r>
            <a:r>
              <a:rPr lang="en-US" sz="900" baseline="300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r>
              <a:rPr lang="en-US" sz="13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)·i</a:t>
            </a:r>
            <a:r>
              <a:rPr lang="en-US" sz="900" baseline="300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r>
              <a:rPr lang="en-US" sz="13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1·i</a:t>
            </a:r>
            <a:r>
              <a:rPr lang="en-US" sz="900" baseline="300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r>
              <a:rPr lang="en-US" sz="13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1300" b="1" dirty="0">
                <a:solidFill>
                  <a:srgbClr val="34D3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−i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343400" y="2761488"/>
            <a:ext cx="3703320" cy="1170432"/>
          </a:xfrm>
          <a:prstGeom prst="roundRect">
            <a:avLst>
              <a:gd name="adj" fmla="val 9375"/>
            </a:avLst>
          </a:prstGeom>
          <a:solidFill>
            <a:srgbClr val="141F3D">
              <a:alpha val="88000"/>
            </a:srgbClr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07992" y="2816352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Simplify  i</a:t>
            </a:r>
            <a:r>
              <a:rPr lang="en-US" sz="1100" b="1" baseline="300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1729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4507992" y="3127248"/>
            <a:ext cx="3374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1729 ÷ 4 = 432 rem 1  →  i</a:t>
            </a:r>
            <a:r>
              <a:rPr lang="en-US" sz="900" baseline="300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1729</a:t>
            </a:r>
            <a:r>
              <a:rPr lang="en-US" sz="13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(i</a:t>
            </a:r>
            <a:r>
              <a:rPr lang="en-US" sz="900" baseline="300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r>
              <a:rPr lang="en-US" sz="13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r>
              <a:rPr lang="en-US" sz="900" baseline="300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432</a:t>
            </a:r>
            <a:r>
              <a:rPr lang="en-US" sz="13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·i</a:t>
            </a:r>
            <a:r>
              <a:rPr lang="en-US" sz="900" baseline="300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r>
              <a:rPr lang="en-US" sz="13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1300" b="1" dirty="0">
                <a:solidFill>
                  <a:srgbClr val="34D3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343400" y="3986784"/>
            <a:ext cx="3703320" cy="1170432"/>
          </a:xfrm>
          <a:prstGeom prst="roundRect">
            <a:avLst>
              <a:gd name="adj" fmla="val 9375"/>
            </a:avLst>
          </a:prstGeom>
          <a:solidFill>
            <a:srgbClr val="141F3D">
              <a:alpha val="88000"/>
            </a:srgbClr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07992" y="4041648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Simplify  i</a:t>
            </a:r>
            <a:r>
              <a:rPr lang="en-US" sz="1100" b="1" baseline="300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−1924</a:t>
            </a:r>
            <a:r>
              <a:rPr lang="en-US" sz="15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i</a:t>
            </a:r>
            <a:r>
              <a:rPr lang="en-US" sz="1100" b="1" baseline="300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2018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4507992" y="4352544"/>
            <a:ext cx="3374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exponents ≡ 0 (mod 4)  →  i</a:t>
            </a:r>
            <a:r>
              <a:rPr lang="en-US" sz="900" baseline="300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r>
              <a:rPr lang="en-US" sz="13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i</a:t>
            </a:r>
            <a:r>
              <a:rPr lang="en-US" sz="900" baseline="300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r>
              <a:rPr lang="en-US" sz="13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1 + 1 = </a:t>
            </a:r>
            <a:r>
              <a:rPr lang="en-US" sz="1300" b="1" dirty="0">
                <a:solidFill>
                  <a:srgbClr val="34D3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275320" y="1188720"/>
            <a:ext cx="3429000" cy="2331720"/>
          </a:xfrm>
          <a:prstGeom prst="roundRect">
            <a:avLst>
              <a:gd name="adj" fmla="val 5490"/>
            </a:avLst>
          </a:prstGeom>
          <a:solidFill>
            <a:srgbClr val="141F3D">
              <a:alpha val="90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458200" y="12984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2D3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BASIC VALUES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503920" y="1645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i⁰</a:t>
            </a:r>
            <a:endParaRPr lang="en-US" sz="1700" dirty="0"/>
          </a:p>
        </p:txBody>
      </p:sp>
      <p:sp>
        <p:nvSpPr>
          <p:cNvPr id="30" name="Text 25"/>
          <p:cNvSpPr/>
          <p:nvPr/>
        </p:nvSpPr>
        <p:spPr>
          <a:xfrm>
            <a:off x="9738360" y="1645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 1</a:t>
            </a:r>
            <a:endParaRPr lang="en-US" sz="1700" dirty="0"/>
          </a:p>
        </p:txBody>
      </p:sp>
      <p:sp>
        <p:nvSpPr>
          <p:cNvPr id="31" name="Text 26"/>
          <p:cNvSpPr/>
          <p:nvPr/>
        </p:nvSpPr>
        <p:spPr>
          <a:xfrm>
            <a:off x="8503920" y="2103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i¹</a:t>
            </a:r>
            <a:endParaRPr lang="en-US" sz="1700" dirty="0"/>
          </a:p>
        </p:txBody>
      </p:sp>
      <p:sp>
        <p:nvSpPr>
          <p:cNvPr id="32" name="Text 27"/>
          <p:cNvSpPr/>
          <p:nvPr/>
        </p:nvSpPr>
        <p:spPr>
          <a:xfrm>
            <a:off x="9738360" y="2103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 i</a:t>
            </a:r>
            <a:endParaRPr lang="en-US" sz="1700" dirty="0"/>
          </a:p>
        </p:txBody>
      </p:sp>
      <p:sp>
        <p:nvSpPr>
          <p:cNvPr id="33" name="Text 28"/>
          <p:cNvSpPr/>
          <p:nvPr/>
        </p:nvSpPr>
        <p:spPr>
          <a:xfrm>
            <a:off x="8503920" y="2560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i²</a:t>
            </a:r>
            <a:endParaRPr lang="en-US" sz="1700" dirty="0"/>
          </a:p>
        </p:txBody>
      </p:sp>
      <p:sp>
        <p:nvSpPr>
          <p:cNvPr id="34" name="Text 29"/>
          <p:cNvSpPr/>
          <p:nvPr/>
        </p:nvSpPr>
        <p:spPr>
          <a:xfrm>
            <a:off x="9738360" y="25603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 −1</a:t>
            </a:r>
            <a:endParaRPr lang="en-US" sz="1700" dirty="0"/>
          </a:p>
        </p:txBody>
      </p:sp>
      <p:sp>
        <p:nvSpPr>
          <p:cNvPr id="35" name="Text 30"/>
          <p:cNvSpPr/>
          <p:nvPr/>
        </p:nvSpPr>
        <p:spPr>
          <a:xfrm>
            <a:off x="8503920" y="30175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i³</a:t>
            </a:r>
            <a:endParaRPr lang="en-US" sz="1700" dirty="0"/>
          </a:p>
        </p:txBody>
      </p:sp>
      <p:sp>
        <p:nvSpPr>
          <p:cNvPr id="36" name="Text 31"/>
          <p:cNvSpPr/>
          <p:nvPr/>
        </p:nvSpPr>
        <p:spPr>
          <a:xfrm>
            <a:off x="9738360" y="30175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 −i</a:t>
            </a:r>
            <a:endParaRPr lang="en-US" sz="1700" dirty="0"/>
          </a:p>
        </p:txBody>
      </p:sp>
      <p:sp>
        <p:nvSpPr>
          <p:cNvPr id="37" name="Shape 32"/>
          <p:cNvSpPr/>
          <p:nvPr/>
        </p:nvSpPr>
        <p:spPr>
          <a:xfrm>
            <a:off x="8275320" y="3703320"/>
            <a:ext cx="3429000" cy="1938528"/>
          </a:xfrm>
          <a:prstGeom prst="roundRect">
            <a:avLst>
              <a:gd name="adj" fmla="val 6604"/>
            </a:avLst>
          </a:prstGeom>
          <a:solidFill>
            <a:srgbClr val="141F3D">
              <a:alpha val="9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458200" y="38130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4D3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PATTERN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8458200" y="41148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Powers of i repeat every 4 steps: 1, i, −1, −i, then back to 1. Divide the exponent by 4 — only the remainder matters.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31175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>
              <a:alpha val="70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31175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DISCOVER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9055303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>
              <a:alpha val="70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5303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079431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>
              <a:alpha val="70000"/>
            </a:srgbClr>
          </a:solidFill>
          <a:ln w="15875">
            <a:solidFill>
              <a:srgbClr val="F5B4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79431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UNLOCK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1103559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03559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2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23774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MASTERING THE RESULT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02920" y="731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 4: Key Result, Caution &amp; Practice</a:t>
            </a:r>
            <a:endParaRPr lang="en-US" sz="1400" dirty="0"/>
          </a:p>
        </p:txBody>
      </p:sp>
      <p:pic>
        <p:nvPicPr>
          <p:cNvPr id="13" name="Image 1" descr="/home/claude/deck/assets/avatar_ma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658368"/>
            <a:ext cx="1234440" cy="113385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1234440"/>
            <a:ext cx="5669280" cy="1600200"/>
          </a:xfrm>
          <a:prstGeom prst="roundRect">
            <a:avLst>
              <a:gd name="adj" fmla="val 8000"/>
            </a:avLst>
          </a:prstGeom>
          <a:solidFill>
            <a:srgbClr val="141F3D">
              <a:alpha val="92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105156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41F3D">
              <a:alpha val="80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1051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34D3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RESULT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31520" y="1600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iⁿ + iⁿ⁺¹ + iⁿ⁺² + iⁿ⁺³ = </a:t>
            </a:r>
            <a:r>
              <a:rPr lang="en-US" sz="2600" b="1" dirty="0">
                <a:solidFill>
                  <a:srgbClr val="34D3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731520" y="21488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sum of any four consecutive powers of i is always zero, for every integer n.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02920" y="2971800"/>
            <a:ext cx="5669280" cy="1874520"/>
          </a:xfrm>
          <a:prstGeom prst="roundRect">
            <a:avLst>
              <a:gd name="adj" fmla="val 6829"/>
            </a:avLst>
          </a:prstGeom>
          <a:solidFill>
            <a:srgbClr val="141F3D">
              <a:alpha val="92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27889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41F3D">
              <a:alpha val="80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1520" y="2788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CAUTION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31520" y="33375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√(ab) = √a·√b</a:t>
            </a:r>
            <a:r>
              <a:rPr lang="en-US" sz="14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only holds if at least one of a, b is non-negative.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731520" y="39319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Counter-check:  </a:t>
            </a:r>
            <a:r>
              <a:rPr lang="en-US" sz="13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= √36 = √(−4)(−9)  ≠  √−4·√−9 = (2i)(3i) = −6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446520" y="1234440"/>
            <a:ext cx="5257800" cy="3611880"/>
          </a:xfrm>
          <a:prstGeom prst="roundRect">
            <a:avLst>
              <a:gd name="adj" fmla="val 3544"/>
            </a:avLst>
          </a:prstGeom>
          <a:solidFill>
            <a:srgbClr val="141F3D">
              <a:alpha val="92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675120" y="105156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41F3D">
              <a:alpha val="8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675120" y="1051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QUICK PRACTICE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720840" y="1691640"/>
            <a:ext cx="4709160" cy="777240"/>
          </a:xfrm>
          <a:prstGeom prst="roundRect">
            <a:avLst>
              <a:gd name="adj" fmla="val 11765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858000" y="16916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Q1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7406640" y="169164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00" b="1" baseline="300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1947</a:t>
            </a:r>
            <a:r>
              <a:rPr lang="en-US" sz="17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i</a:t>
            </a:r>
            <a:r>
              <a:rPr lang="en-US" sz="1200" b="1" baseline="300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1950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6720840" y="2651760"/>
            <a:ext cx="4709160" cy="777240"/>
          </a:xfrm>
          <a:prstGeom prst="roundRect">
            <a:avLst>
              <a:gd name="adj" fmla="val 11765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858000" y="26517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Q2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7406640" y="265176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00" b="1" baseline="300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1948</a:t>
            </a:r>
            <a:r>
              <a:rPr lang="en-US" sz="17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i</a:t>
            </a:r>
            <a:r>
              <a:rPr lang="en-US" sz="1200" b="1" baseline="300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1869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6720840" y="3611880"/>
            <a:ext cx="4709160" cy="777240"/>
          </a:xfrm>
          <a:prstGeom prst="roundRect">
            <a:avLst>
              <a:gd name="adj" fmla="val 11765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858000" y="36118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Q3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7406640" y="361188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∑  i</a:t>
            </a:r>
            <a:r>
              <a:rPr lang="en-US" sz="1200" b="1" baseline="300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n-US" sz="17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for n = 1 to 12</a:t>
            </a:r>
            <a:endParaRPr lang="en-US" sz="1700" dirty="0"/>
          </a:p>
        </p:txBody>
      </p:sp>
      <p:pic>
        <p:nvPicPr>
          <p:cNvPr id="36" name="Image 2" descr="/home/claude/deck/assets/badge_unlock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5029200"/>
            <a:ext cx="1874520" cy="16916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0292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532</Words>
  <Application>Microsoft Office PowerPoint</Application>
  <PresentationFormat>Widescreen</PresentationFormat>
  <Paragraphs>86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DEVI RAM</cp:lastModifiedBy>
  <cp:revision>2</cp:revision>
  <dcterms:created xsi:type="dcterms:W3CDTF">2026-08-22T07:10:27Z</dcterms:created>
  <dcterms:modified xsi:type="dcterms:W3CDTF">2026-08-22T07:18:22Z</dcterms:modified>
</cp:coreProperties>
</file>